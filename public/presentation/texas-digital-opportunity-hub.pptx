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4.png"/><Relationship Id="rId13" Type="http://schemas.openxmlformats.org/officeDocument/2006/relationships/image" Target="../media/image-2-6.png"/><Relationship Id="rId14" Type="http://schemas.openxmlformats.org/officeDocument/2006/relationships/image" Target="../media/image-2-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1.png"/><Relationship Id="rId6" Type="http://schemas.openxmlformats.org/officeDocument/2006/relationships/image" Target="../media/image-4-3.png"/><Relationship Id="rId7" Type="http://schemas.openxmlformats.org/officeDocument/2006/relationships/image" Target="../media/image-4-2.png"/><Relationship Id="rId8" Type="http://schemas.openxmlformats.org/officeDocument/2006/relationships/image" Target="../media/image-4-4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411" y="729143"/>
            <a:ext cx="3645804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HR&amp;A   /   Tech &amp; Society Studio</a:t>
            </a:r>
            <a:endParaRPr lang="en-US" sz="1260" dirty="0"/>
          </a:p>
        </p:txBody>
      </p:sp>
      <p:sp>
        <p:nvSpPr>
          <p:cNvPr id="3" name="Text 1"/>
          <p:cNvSpPr/>
          <p:nvPr/>
        </p:nvSpPr>
        <p:spPr>
          <a:xfrm>
            <a:off x="634411" y="1414577"/>
            <a:ext cx="2187519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Case study 3</a:t>
            </a:r>
            <a:endParaRPr lang="en-US" sz="1260" dirty="0"/>
          </a:p>
        </p:txBody>
      </p:sp>
      <p:sp>
        <p:nvSpPr>
          <p:cNvPr id="4" name="Text 2"/>
          <p:cNvSpPr/>
          <p:nvPr/>
        </p:nvSpPr>
        <p:spPr>
          <a:xfrm>
            <a:off x="612465" y="1771924"/>
            <a:ext cx="4520885" cy="131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40"/>
              </a:lnSpc>
              <a:buNone/>
            </a:pPr>
            <a:r>
              <a:rPr lang="en-US" sz="4590" spc="-120" kern="0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Texas Digital</a:t>
            </a:r>
            <a:endParaRPr lang="en-US" sz="4590" dirty="0"/>
          </a:p>
          <a:p>
            <a:pPr indent="0" marL="0">
              <a:lnSpc>
                <a:spcPts val="4940"/>
              </a:lnSpc>
              <a:buNone/>
            </a:pPr>
            <a:r>
              <a:rPr lang="en-US" sz="4590" spc="-120" kern="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Opportunity Hub</a:t>
            </a:r>
            <a:endParaRPr lang="en-US" sz="4590" dirty="0"/>
          </a:p>
        </p:txBody>
      </p:sp>
      <p:sp>
        <p:nvSpPr>
          <p:cNvPr id="5" name="Text 3"/>
          <p:cNvSpPr/>
          <p:nvPr/>
        </p:nvSpPr>
        <p:spPr>
          <a:xfrm>
            <a:off x="634411" y="3171871"/>
            <a:ext cx="4375038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Stack: </a:t>
            </a:r>
            <a:pPr indent="0" marL="0">
              <a:buNone/>
            </a:pPr>
            <a:r>
              <a:rPr lang="en-US" sz="1380" b="1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Data management solutions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634411" y="3602096"/>
            <a:ext cx="4520885" cy="91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 public-facing resource hub that turns fragmented</a:t>
            </a:r>
            <a:endParaRPr lang="en-US" sz="1430" dirty="0"/>
          </a:p>
          <a:p>
            <a:pPr indent="0" marL="0">
              <a:lnSpc>
                <a:spcPts val="172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digital opportunity data into a usable, searchable</a:t>
            </a:r>
            <a:endParaRPr lang="en-US" sz="1430" dirty="0"/>
          </a:p>
          <a:p>
            <a:pPr indent="0" marL="0">
              <a:lnSpc>
                <a:spcPts val="172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experience for Texans looking for internet options,</a:t>
            </a:r>
            <a:endParaRPr lang="en-US" sz="1430" dirty="0"/>
          </a:p>
          <a:p>
            <a:pPr indent="0" marL="0">
              <a:lnSpc>
                <a:spcPts val="172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devices, digital skills training, and local support.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7096" y="4666640"/>
            <a:ext cx="554126" cy="55412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8" name="Image 0" descr="/vercel/share/v0-project/.v0/pptx/icons/database-0B57E0-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12" y="4797948"/>
            <a:ext cx="291694" cy="291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4411" y="5308366"/>
            <a:ext cx="1458377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Aggregate</a:t>
            </a:r>
            <a:endParaRPr lang="en-US" sz="126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trusted sources</a:t>
            </a:r>
            <a:endParaRPr lang="en-US" sz="1260" dirty="0"/>
          </a:p>
        </p:txBody>
      </p:sp>
      <p:sp>
        <p:nvSpPr>
          <p:cNvPr id="10" name="Shape 7"/>
          <p:cNvSpPr/>
          <p:nvPr/>
        </p:nvSpPr>
        <p:spPr>
          <a:xfrm>
            <a:off x="2260397" y="4666640"/>
            <a:ext cx="554126" cy="55412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11" name="Image 1" descr="/vercel/share/v0-project/.v0/pptx/icons/nodes-0B57E0-n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705" y="4797948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60397" y="5308366"/>
            <a:ext cx="1458377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Reduce data</a:t>
            </a:r>
            <a:endParaRPr lang="en-US" sz="126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complexity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3820820" y="4666640"/>
            <a:ext cx="554126" cy="55412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14" name="Image 2" descr="/vercel/share/v0-project/.v0/pptx/icons/map-pin-0B57E0-n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128" y="4797948"/>
            <a:ext cx="291694" cy="291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06281" y="5308366"/>
            <a:ext cx="1458377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Support action</a:t>
            </a:r>
            <a:endParaRPr lang="en-US" sz="126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statewide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634411" y="5986485"/>
            <a:ext cx="2683307" cy="371886"/>
          </a:xfrm>
          <a:prstGeom prst="roundRect">
            <a:avLst>
              <a:gd name="adj" fmla="val 11753"/>
            </a:avLst>
          </a:prstGeom>
          <a:solidFill>
            <a:srgbClr val="0B57E0"/>
          </a:solidFill>
          <a:ln w="12700">
            <a:solidFill>
              <a:srgbClr val="0B57E0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34411" y="5986485"/>
            <a:ext cx="2406244" cy="37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View the hub</a:t>
            </a:r>
            <a:endParaRPr lang="en-US" sz="1320" dirty="0"/>
          </a:p>
        </p:txBody>
      </p:sp>
      <p:pic>
        <p:nvPicPr>
          <p:cNvPr id="18" name="Image 3" descr="/vercel/share/v0-project/.v0/pptx/icons/external-link-FFFFFF-n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874" y="6088532"/>
            <a:ext cx="175016" cy="175016"/>
          </a:xfrm>
          <a:prstGeom prst="rect">
            <a:avLst/>
          </a:prstGeom>
        </p:spPr>
      </p:pic>
      <p:pic>
        <p:nvPicPr>
          <p:cNvPr id="19" name="Image 4" descr="/vercel/share/v0-project/.v0/pptx/crops/devi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795" y="1421892"/>
            <a:ext cx="7109369" cy="48489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442" y="546903"/>
            <a:ext cx="3645804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HR&amp;A   /   Tech &amp; Society Studio</a:t>
            </a:r>
            <a:endParaRPr lang="en-US" sz="1260" dirty="0"/>
          </a:p>
        </p:txBody>
      </p:sp>
      <p:sp>
        <p:nvSpPr>
          <p:cNvPr id="3" name="Text 1"/>
          <p:cNvSpPr/>
          <p:nvPr/>
        </p:nvSpPr>
        <p:spPr>
          <a:xfrm>
            <a:off x="568757" y="1276045"/>
            <a:ext cx="2916662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problem &amp; approach</a:t>
            </a:r>
            <a:endParaRPr lang="en-US" sz="1380" dirty="0"/>
          </a:p>
        </p:txBody>
      </p:sp>
      <p:sp>
        <p:nvSpPr>
          <p:cNvPr id="4" name="Text 2"/>
          <p:cNvSpPr/>
          <p:nvPr/>
        </p:nvSpPr>
        <p:spPr>
          <a:xfrm>
            <a:off x="554126" y="1749979"/>
            <a:ext cx="5104181" cy="160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80"/>
              </a:lnSpc>
              <a:buNone/>
            </a:pPr>
            <a:r>
              <a:rPr lang="en-US" sz="4130" spc="-120" kern="0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Turn fragmented data</a:t>
            </a:r>
            <a:endParaRPr lang="en-US" sz="4130" dirty="0"/>
          </a:p>
          <a:p>
            <a:pPr indent="0" marL="0">
              <a:lnSpc>
                <a:spcPts val="4080"/>
              </a:lnSpc>
              <a:buNone/>
            </a:pPr>
            <a:r>
              <a:rPr lang="en-US" sz="4130" spc="-120" kern="0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into a </a:t>
            </a:r>
            <a:pPr indent="0" marL="0">
              <a:lnSpc>
                <a:spcPts val="4080"/>
              </a:lnSpc>
              <a:buNone/>
            </a:pPr>
            <a:r>
              <a:rPr lang="en-US" sz="4130" spc="-120" kern="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trusted public</a:t>
            </a:r>
            <a:endParaRPr lang="en-US" sz="4130" dirty="0"/>
          </a:p>
          <a:p>
            <a:pPr indent="0" marL="0">
              <a:lnSpc>
                <a:spcPts val="4080"/>
              </a:lnSpc>
              <a:buNone/>
            </a:pPr>
            <a:r>
              <a:rPr lang="en-US" sz="4130" spc="-120" kern="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resource.</a:t>
            </a:r>
            <a:endParaRPr lang="en-US" sz="4130" dirty="0"/>
          </a:p>
        </p:txBody>
      </p:sp>
      <p:sp>
        <p:nvSpPr>
          <p:cNvPr id="5" name="Text 3"/>
          <p:cNvSpPr/>
          <p:nvPr/>
        </p:nvSpPr>
        <p:spPr>
          <a:xfrm>
            <a:off x="568757" y="3623950"/>
            <a:ext cx="2916662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challenge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568757" y="3901013"/>
            <a:ext cx="4812487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Digital opportunity information often lives across agency</a:t>
            </a:r>
            <a:endParaRPr lang="en-US" sz="1320" dirty="0"/>
          </a:p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lists, provider websites, training directories, and community</a:t>
            </a:r>
            <a:endParaRPr lang="en-US" sz="1320" dirty="0"/>
          </a:p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program inventories. Categories differ, geographies do not</a:t>
            </a:r>
            <a:endParaRPr lang="en-US" sz="1320" dirty="0"/>
          </a:p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align, and updates are hard to track.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568757" y="5133350"/>
            <a:ext cx="2916662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Why this approach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568757" y="5432268"/>
            <a:ext cx="4812487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Texas Digital Opportunity Hub brings those sources</a:t>
            </a:r>
            <a:endParaRPr lang="en-US" sz="1320" dirty="0"/>
          </a:p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into one shared framework, making it easier to find reliable</a:t>
            </a:r>
            <a:endParaRPr lang="en-US" sz="1320" dirty="0"/>
          </a:p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information on internet options, devices, digital skills</a:t>
            </a:r>
            <a:endParaRPr lang="en-US" sz="1320" dirty="0"/>
          </a:p>
          <a:p>
            <a:pPr indent="0" marL="0">
              <a:lnSpc>
                <a:spcPts val="1660"/>
              </a:lnSpc>
              <a:buNone/>
            </a:pPr>
            <a:r>
              <a:rPr lang="en-US" sz="13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training, and local support.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458383" y="1567739"/>
            <a:ext cx="4083345" cy="4192707"/>
          </a:xfrm>
          <a:prstGeom prst="ellipse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pic>
        <p:nvPicPr>
          <p:cNvPr id="10" name="Image 0" descr="/vercel/share/v0-project/.v0/pptx/crops/te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2515" y="1079175"/>
            <a:ext cx="1749979" cy="109371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47965" y="3201040"/>
            <a:ext cx="874989" cy="874989"/>
          </a:xfrm>
          <a:prstGeom prst="ellipse">
            <a:avLst/>
          </a:prstGeom>
          <a:solidFill>
            <a:srgbClr val="D6E5FB">
              <a:alpha val="45000"/>
            </a:srgbClr>
          </a:solidFill>
          <a:ln w="12700">
            <a:solidFill>
              <a:srgbClr val="E3ED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60392" y="1451061"/>
            <a:ext cx="1152053" cy="2187519"/>
          </a:xfrm>
          <a:custGeom>
            <a:avLst/>
            <a:gdLst/>
            <a:ahLst/>
            <a:cxnLst/>
            <a:rect l="l" t="t" r="r" b="b"/>
            <a:pathLst>
              <a:path w="1152053" h="2187519">
                <a:moveTo>
                  <a:pt x="0" y="0"/>
                </a:moveTo>
                <a:cubicBezTo>
                  <a:pt x="656265" y="0"/>
                  <a:pt x="685434" y="1859341"/>
                  <a:pt x="1152053" y="2187519"/>
                </a:cubicBezTo>
              </a:path>
            </a:pathLst>
          </a:custGeom>
          <a:ln w="13970">
            <a:solidFill>
              <a:srgbClr val="7FA6EC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7109369" y="2260397"/>
            <a:ext cx="1203168" cy="1378092"/>
          </a:xfrm>
          <a:custGeom>
            <a:avLst/>
            <a:gdLst/>
            <a:ahLst/>
            <a:cxnLst/>
            <a:rect l="l" t="t" r="r" b="b"/>
            <a:pathLst>
              <a:path w="1203168" h="1378092">
                <a:moveTo>
                  <a:pt x="0" y="0"/>
                </a:moveTo>
                <a:cubicBezTo>
                  <a:pt x="656265" y="0"/>
                  <a:pt x="736458" y="1171438"/>
                  <a:pt x="1203168" y="1378092"/>
                </a:cubicBezTo>
              </a:path>
            </a:pathLst>
          </a:custGeom>
          <a:ln w="13970">
            <a:solidFill>
              <a:srgbClr val="7FA6EC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934352" y="3186501"/>
            <a:ext cx="1378092" cy="452079"/>
          </a:xfrm>
          <a:custGeom>
            <a:avLst/>
            <a:gdLst/>
            <a:ahLst/>
            <a:cxnLst/>
            <a:rect l="l" t="t" r="r" b="b"/>
            <a:pathLst>
              <a:path w="1378092" h="452079">
                <a:moveTo>
                  <a:pt x="0" y="0"/>
                </a:moveTo>
                <a:cubicBezTo>
                  <a:pt x="656265" y="0"/>
                  <a:pt x="911474" y="384231"/>
                  <a:pt x="1378092" y="452079"/>
                </a:cubicBezTo>
              </a:path>
            </a:pathLst>
          </a:custGeom>
          <a:ln w="13970">
            <a:solidFill>
              <a:srgbClr val="7FA6EC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7240676" y="3638580"/>
            <a:ext cx="1071860" cy="430225"/>
          </a:xfrm>
          <a:custGeom>
            <a:avLst/>
            <a:gdLst/>
            <a:ahLst/>
            <a:cxnLst/>
            <a:rect l="l" t="t" r="r" b="b"/>
            <a:pathLst>
              <a:path w="1071860" h="430225">
                <a:moveTo>
                  <a:pt x="0" y="430225"/>
                </a:moveTo>
                <a:cubicBezTo>
                  <a:pt x="656265" y="430225"/>
                  <a:pt x="605241" y="64557"/>
                  <a:pt x="1071860" y="0"/>
                </a:cubicBezTo>
              </a:path>
            </a:pathLst>
          </a:custGeom>
          <a:ln w="13970">
            <a:solidFill>
              <a:srgbClr val="7FA6EC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262531" y="3638580"/>
            <a:ext cx="1050006" cy="1268730"/>
          </a:xfrm>
          <a:custGeom>
            <a:avLst/>
            <a:gdLst/>
            <a:ahLst/>
            <a:cxnLst/>
            <a:rect l="l" t="t" r="r" b="b"/>
            <a:pathLst>
              <a:path w="1050006" h="1268730">
                <a:moveTo>
                  <a:pt x="0" y="1268730"/>
                </a:moveTo>
                <a:cubicBezTo>
                  <a:pt x="656265" y="1268730"/>
                  <a:pt x="583296" y="190287"/>
                  <a:pt x="1050006" y="0"/>
                </a:cubicBezTo>
              </a:path>
            </a:pathLst>
          </a:custGeom>
          <a:ln w="13970">
            <a:solidFill>
              <a:srgbClr val="7FA6EC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7430232" y="3638580"/>
            <a:ext cx="882305" cy="2041672"/>
          </a:xfrm>
          <a:custGeom>
            <a:avLst/>
            <a:gdLst/>
            <a:ahLst/>
            <a:cxnLst/>
            <a:rect l="l" t="t" r="r" b="b"/>
            <a:pathLst>
              <a:path w="882305" h="2041672">
                <a:moveTo>
                  <a:pt x="0" y="2041672"/>
                </a:moveTo>
                <a:cubicBezTo>
                  <a:pt x="656265" y="2041672"/>
                  <a:pt x="415595" y="306233"/>
                  <a:pt x="882305" y="0"/>
                </a:cubicBezTo>
              </a:path>
            </a:pathLst>
          </a:custGeom>
          <a:ln w="13970">
            <a:solidFill>
              <a:srgbClr val="7FA6EC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672938" y="1166683"/>
            <a:ext cx="1458377" cy="62709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19" name="Image 1" descr="/vercel/share/v0-project/.v0/pptx/icons/landmark-0B57E0-n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469" y="1327069"/>
            <a:ext cx="262524" cy="2625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76040" y="1290584"/>
            <a:ext cx="991667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State programs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6176040" y="1480231"/>
            <a:ext cx="772942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76040" y="1611447"/>
            <a:ext cx="554126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20341" y="1410919"/>
            <a:ext cx="80193" cy="80193"/>
          </a:xfrm>
          <a:prstGeom prst="ellipse">
            <a:avLst/>
          </a:prstGeom>
          <a:solidFill>
            <a:srgbClr val="2F6FE8"/>
          </a:solidFill>
          <a:ln w="12700">
            <a:solidFill>
              <a:srgbClr val="2F6F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599968" y="2027133"/>
            <a:ext cx="1487546" cy="62709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25" name="Image 2" descr="/vercel/share/v0-project/.v0/pptx/icons/file-text-0B57E0-n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92" y="2187519"/>
            <a:ext cx="262524" cy="2625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03163" y="2151035"/>
            <a:ext cx="1020836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Agency lists</a:t>
            </a:r>
            <a:endParaRPr lang="en-US" sz="830" dirty="0"/>
          </a:p>
        </p:txBody>
      </p:sp>
      <p:sp>
        <p:nvSpPr>
          <p:cNvPr id="27" name="Shape 22"/>
          <p:cNvSpPr/>
          <p:nvPr/>
        </p:nvSpPr>
        <p:spPr>
          <a:xfrm>
            <a:off x="6103163" y="2340590"/>
            <a:ext cx="772942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103163" y="2471898"/>
            <a:ext cx="554126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069318" y="2220346"/>
            <a:ext cx="80193" cy="80193"/>
          </a:xfrm>
          <a:prstGeom prst="ellipse">
            <a:avLst/>
          </a:prstGeom>
          <a:solidFill>
            <a:srgbClr val="2F6FE8"/>
          </a:solidFill>
          <a:ln w="12700">
            <a:solidFill>
              <a:srgbClr val="2F6FE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315682" y="2887492"/>
            <a:ext cx="1589593" cy="62709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31" name="Image 3" descr="/vercel/share/v0-project/.v0/pptx/icons/laptop-0B57E0-n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213" y="3047878"/>
            <a:ext cx="262524" cy="26252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818784" y="3011485"/>
            <a:ext cx="1122883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Provider websites</a:t>
            </a:r>
            <a:endParaRPr lang="en-US" sz="830" dirty="0"/>
          </a:p>
        </p:txBody>
      </p:sp>
      <p:sp>
        <p:nvSpPr>
          <p:cNvPr id="33" name="Shape 27"/>
          <p:cNvSpPr/>
          <p:nvPr/>
        </p:nvSpPr>
        <p:spPr>
          <a:xfrm>
            <a:off x="5818784" y="3201040"/>
            <a:ext cx="772942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818784" y="3332256"/>
            <a:ext cx="554126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894302" y="3146359"/>
            <a:ext cx="80193" cy="80193"/>
          </a:xfrm>
          <a:prstGeom prst="ellipse">
            <a:avLst/>
          </a:prstGeom>
          <a:solidFill>
            <a:srgbClr val="2F6FE8"/>
          </a:solidFill>
          <a:ln w="12700">
            <a:solidFill>
              <a:srgbClr val="2F6FE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563575" y="3762482"/>
            <a:ext cx="1655247" cy="62709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37" name="Image 4" descr="/vercel/share/v0-project/.v0/pptx/icons/users-0B57E0-0B57E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107" y="3922959"/>
            <a:ext cx="262524" cy="26252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066678" y="3886474"/>
            <a:ext cx="1188537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Community programs</a:t>
            </a:r>
            <a:endParaRPr lang="en-US" sz="830" dirty="0"/>
          </a:p>
        </p:txBody>
      </p:sp>
      <p:sp>
        <p:nvSpPr>
          <p:cNvPr id="39" name="Shape 32"/>
          <p:cNvSpPr/>
          <p:nvPr/>
        </p:nvSpPr>
        <p:spPr>
          <a:xfrm>
            <a:off x="6066678" y="4076029"/>
            <a:ext cx="772942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066678" y="4207337"/>
            <a:ext cx="554126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200534" y="4028664"/>
            <a:ext cx="80193" cy="80193"/>
          </a:xfrm>
          <a:prstGeom prst="ellipse">
            <a:avLst/>
          </a:prstGeom>
          <a:solidFill>
            <a:srgbClr val="2F6FE8"/>
          </a:solidFill>
          <a:ln w="12700">
            <a:solidFill>
              <a:srgbClr val="2F6FE8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5629138" y="4673956"/>
            <a:ext cx="1596908" cy="62709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43" name="Image 5" descr="/vercel/share/v0-project/.v0/pptx/icons/graduation-cap-0B57E0-0B57E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761" y="4834341"/>
            <a:ext cx="262524" cy="26252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132332" y="4797948"/>
            <a:ext cx="1130198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Training directories</a:t>
            </a:r>
            <a:endParaRPr lang="en-US" sz="830" dirty="0"/>
          </a:p>
        </p:txBody>
      </p:sp>
      <p:sp>
        <p:nvSpPr>
          <p:cNvPr id="45" name="Shape 37"/>
          <p:cNvSpPr/>
          <p:nvPr/>
        </p:nvSpPr>
        <p:spPr>
          <a:xfrm>
            <a:off x="6132332" y="4987503"/>
            <a:ext cx="772942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132332" y="5118720"/>
            <a:ext cx="554126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222388" y="4867168"/>
            <a:ext cx="80193" cy="80193"/>
          </a:xfrm>
          <a:prstGeom prst="ellipse">
            <a:avLst/>
          </a:prstGeom>
          <a:solidFill>
            <a:srgbClr val="2F6FE8"/>
          </a:solidFill>
          <a:ln w="12700">
            <a:solidFill>
              <a:srgbClr val="2F6FE8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5928147" y="5505237"/>
            <a:ext cx="1480231" cy="62709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49" name="Image 6" descr="/vercel/share/v0-project/.v0/pptx/icons/map-pin-0B57E0-0B57E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6678" y="5665622"/>
            <a:ext cx="262524" cy="26252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431250" y="5629138"/>
            <a:ext cx="1013521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Local resources</a:t>
            </a:r>
            <a:endParaRPr lang="en-US" sz="830" dirty="0"/>
          </a:p>
        </p:txBody>
      </p:sp>
      <p:sp>
        <p:nvSpPr>
          <p:cNvPr id="51" name="Shape 42"/>
          <p:cNvSpPr/>
          <p:nvPr/>
        </p:nvSpPr>
        <p:spPr>
          <a:xfrm>
            <a:off x="6431250" y="5818784"/>
            <a:ext cx="772942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431250" y="5950001"/>
            <a:ext cx="554126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7390089" y="5640111"/>
            <a:ext cx="80193" cy="80193"/>
          </a:xfrm>
          <a:prstGeom prst="ellipse">
            <a:avLst/>
          </a:prstGeom>
          <a:solidFill>
            <a:srgbClr val="2F6FE8"/>
          </a:solidFill>
          <a:ln w="12700">
            <a:solidFill>
              <a:srgbClr val="2F6FE8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8327075" y="3463564"/>
            <a:ext cx="350032" cy="350032"/>
          </a:xfrm>
          <a:prstGeom prst="ellipse">
            <a:avLst/>
          </a:prstGeom>
          <a:solidFill>
            <a:srgbClr val="0B57E0"/>
          </a:solidFill>
          <a:ln w="12700">
            <a:solidFill>
              <a:srgbClr val="0B57E0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55" name="Image 7" descr="/vercel/share/v0-project/.v0/pptx/icons/arrow-right-FFFFFF-no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268" y="3543757"/>
            <a:ext cx="189555" cy="189555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8830269" y="2158350"/>
            <a:ext cx="3055193" cy="3332256"/>
          </a:xfrm>
          <a:prstGeom prst="roundRect">
            <a:avLst>
              <a:gd name="adj" fmla="val 3340"/>
            </a:avLst>
          </a:prstGeom>
          <a:solidFill>
            <a:srgbClr val="FFFFFF"/>
          </a:solidFill>
          <a:ln w="9525">
            <a:solidFill>
              <a:srgbClr val="E3EA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57" name="Image 8" descr="/vercel/share/v0-project/.v0/pptx/crops/hub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1679" y="2304197"/>
            <a:ext cx="422910" cy="408371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9508388" y="2347905"/>
            <a:ext cx="2187519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Texas</a:t>
            </a:r>
            <a:endParaRPr lang="en-US" sz="103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Digital Opportunity Hub</a:t>
            </a:r>
            <a:endParaRPr lang="en-US" sz="1030" dirty="0"/>
          </a:p>
        </p:txBody>
      </p:sp>
      <p:sp>
        <p:nvSpPr>
          <p:cNvPr id="59" name="Shape 48"/>
          <p:cNvSpPr/>
          <p:nvPr/>
        </p:nvSpPr>
        <p:spPr>
          <a:xfrm>
            <a:off x="8837493" y="2814615"/>
            <a:ext cx="3040654" cy="0"/>
          </a:xfrm>
          <a:prstGeom prst="line">
            <a:avLst/>
          </a:prstGeom>
          <a:noFill/>
          <a:ln w="9525">
            <a:solidFill>
              <a:srgbClr val="EDF1F7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9019824" y="2902123"/>
            <a:ext cx="2187519" cy="335402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pic>
        <p:nvPicPr>
          <p:cNvPr id="61" name="Image 9" descr="/vercel/share/v0-project/.v0/pptx/icons/search-1F2937-non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4648" y="2996855"/>
            <a:ext cx="145847" cy="145847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9340687" y="2902123"/>
            <a:ext cx="1604132" cy="33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Enter your zip code or city</a:t>
            </a:r>
            <a:endParaRPr lang="en-US" sz="770" dirty="0"/>
          </a:p>
        </p:txBody>
      </p:sp>
      <p:sp>
        <p:nvSpPr>
          <p:cNvPr id="63" name="Shape 51"/>
          <p:cNvSpPr/>
          <p:nvPr/>
        </p:nvSpPr>
        <p:spPr>
          <a:xfrm>
            <a:off x="10973989" y="2902123"/>
            <a:ext cx="736458" cy="335402"/>
          </a:xfrm>
          <a:prstGeom prst="roundRect">
            <a:avLst>
              <a:gd name="adj" fmla="val 13032"/>
            </a:avLst>
          </a:prstGeom>
          <a:solidFill>
            <a:srgbClr val="0B57E0"/>
          </a:solidFill>
          <a:ln w="12700">
            <a:solidFill>
              <a:srgbClr val="0B57E0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10973989" y="2902123"/>
            <a:ext cx="736458" cy="33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Search</a:t>
            </a:r>
            <a:endParaRPr lang="en-US" sz="920" dirty="0"/>
          </a:p>
        </p:txBody>
      </p:sp>
      <p:sp>
        <p:nvSpPr>
          <p:cNvPr id="65" name="Shape 53"/>
          <p:cNvSpPr/>
          <p:nvPr/>
        </p:nvSpPr>
        <p:spPr>
          <a:xfrm>
            <a:off x="9019824" y="3405226"/>
            <a:ext cx="1312530" cy="889620"/>
          </a:xfrm>
          <a:prstGeom prst="roundRect">
            <a:avLst>
              <a:gd name="adj" fmla="val 6558"/>
            </a:avLst>
          </a:prstGeom>
          <a:solidFill>
            <a:srgbClr val="F5F8FD"/>
          </a:solidFill>
          <a:ln w="9525">
            <a:solidFill>
              <a:srgbClr val="E6ECF5"/>
            </a:solidFill>
            <a:prstDash val="solid"/>
          </a:ln>
        </p:spPr>
      </p:sp>
      <p:pic>
        <p:nvPicPr>
          <p:cNvPr id="66" name="Image 10" descr="/vercel/share/v0-project/.v0/pptx/icons/wifi-0B57E0-non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7558" y="3565611"/>
            <a:ext cx="277063" cy="277063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9019824" y="3893790"/>
            <a:ext cx="1312530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Internet</a:t>
            </a:r>
            <a:endParaRPr lang="en-US" sz="950" dirty="0"/>
          </a:p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Options</a:t>
            </a:r>
            <a:endParaRPr lang="en-US" sz="950" dirty="0"/>
          </a:p>
        </p:txBody>
      </p:sp>
      <p:sp>
        <p:nvSpPr>
          <p:cNvPr id="68" name="Shape 55"/>
          <p:cNvSpPr/>
          <p:nvPr/>
        </p:nvSpPr>
        <p:spPr>
          <a:xfrm>
            <a:off x="10405232" y="3405226"/>
            <a:ext cx="1312530" cy="889620"/>
          </a:xfrm>
          <a:prstGeom prst="roundRect">
            <a:avLst>
              <a:gd name="adj" fmla="val 6558"/>
            </a:avLst>
          </a:prstGeom>
          <a:solidFill>
            <a:srgbClr val="F5F8FD"/>
          </a:solidFill>
          <a:ln w="9525">
            <a:solidFill>
              <a:srgbClr val="E6ECF5"/>
            </a:solidFill>
            <a:prstDash val="solid"/>
          </a:ln>
        </p:spPr>
      </p:sp>
      <p:pic>
        <p:nvPicPr>
          <p:cNvPr id="69" name="Image 11" descr="/vercel/share/v0-project/.v0/pptx/icons/laptop-0B57E0-non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2965" y="3558296"/>
            <a:ext cx="277063" cy="277063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10405232" y="3886474"/>
            <a:ext cx="1312530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Devices</a:t>
            </a:r>
            <a:endParaRPr lang="en-US" sz="950" dirty="0"/>
          </a:p>
        </p:txBody>
      </p:sp>
      <p:sp>
        <p:nvSpPr>
          <p:cNvPr id="71" name="Shape 57"/>
          <p:cNvSpPr/>
          <p:nvPr/>
        </p:nvSpPr>
        <p:spPr>
          <a:xfrm>
            <a:off x="9019824" y="4375038"/>
            <a:ext cx="1312530" cy="933328"/>
          </a:xfrm>
          <a:prstGeom prst="roundRect">
            <a:avLst>
              <a:gd name="adj" fmla="val 6251"/>
            </a:avLst>
          </a:prstGeom>
          <a:solidFill>
            <a:srgbClr val="F5F8FD"/>
          </a:solidFill>
          <a:ln w="9525">
            <a:solidFill>
              <a:srgbClr val="E6ECF5"/>
            </a:solidFill>
            <a:prstDash val="solid"/>
          </a:ln>
        </p:spPr>
      </p:sp>
      <p:pic>
        <p:nvPicPr>
          <p:cNvPr id="72" name="Image 12" descr="/vercel/share/v0-project/.v0/pptx/icons/graduation-cap-0B57E0-0B57E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7558" y="4498939"/>
            <a:ext cx="277063" cy="277063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9019824" y="4827118"/>
            <a:ext cx="1312530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Digital Skills</a:t>
            </a:r>
            <a:endParaRPr lang="en-US" sz="950" dirty="0"/>
          </a:p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Training</a:t>
            </a:r>
            <a:endParaRPr lang="en-US" sz="950" dirty="0"/>
          </a:p>
        </p:txBody>
      </p:sp>
      <p:sp>
        <p:nvSpPr>
          <p:cNvPr id="74" name="Shape 59"/>
          <p:cNvSpPr/>
          <p:nvPr/>
        </p:nvSpPr>
        <p:spPr>
          <a:xfrm>
            <a:off x="10405232" y="4375038"/>
            <a:ext cx="1312530" cy="933328"/>
          </a:xfrm>
          <a:prstGeom prst="roundRect">
            <a:avLst>
              <a:gd name="adj" fmla="val 6251"/>
            </a:avLst>
          </a:prstGeom>
          <a:solidFill>
            <a:srgbClr val="F5F8FD"/>
          </a:solidFill>
          <a:ln w="9525">
            <a:solidFill>
              <a:srgbClr val="E6ECF5"/>
            </a:solidFill>
            <a:prstDash val="solid"/>
          </a:ln>
        </p:spPr>
      </p:sp>
      <p:pic>
        <p:nvPicPr>
          <p:cNvPr id="75" name="Image 13" descr="/vercel/share/v0-project/.v0/pptx/icons/users-0B57E0-0B57E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2965" y="4506255"/>
            <a:ext cx="277063" cy="277063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10405232" y="4834341"/>
            <a:ext cx="1312530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Community</a:t>
            </a:r>
            <a:endParaRPr lang="en-US" sz="950" dirty="0"/>
          </a:p>
          <a:p>
            <a:pPr algn="ctr" indent="0" marL="0">
              <a:lnSpc>
                <a:spcPts val="109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Programs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79" y="539587"/>
            <a:ext cx="3645804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HR&amp;A   /   Tech &amp; Society Studio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95879" y="1122883"/>
            <a:ext cx="2916662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data framework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481249" y="1429207"/>
            <a:ext cx="11375045" cy="72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80" spc="-150" kern="0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 clear structure </a:t>
            </a:r>
            <a:pPr indent="0" marL="0">
              <a:buNone/>
            </a:pPr>
            <a:r>
              <a:rPr lang="en-US" sz="4480" spc="-150" kern="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reduces data complexity.</a:t>
            </a:r>
            <a:endParaRPr lang="en-US" sz="4480" dirty="0"/>
          </a:p>
        </p:txBody>
      </p:sp>
      <p:sp>
        <p:nvSpPr>
          <p:cNvPr id="5" name="Text 3"/>
          <p:cNvSpPr/>
          <p:nvPr/>
        </p:nvSpPr>
        <p:spPr>
          <a:xfrm>
            <a:off x="510418" y="2172889"/>
            <a:ext cx="10937504" cy="58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58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framework organizes the information people actually need: what the resource is, where it applies,</a:t>
            </a:r>
            <a:endParaRPr lang="en-US" sz="1580" dirty="0"/>
          </a:p>
          <a:p>
            <a:pPr indent="0" marL="0">
              <a:lnSpc>
                <a:spcPts val="2070"/>
              </a:lnSpc>
              <a:buNone/>
            </a:pPr>
            <a:r>
              <a:rPr lang="en-US" sz="158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who it serves, how to access it, and when it was last updated.</a:t>
            </a:r>
            <a:endParaRPr lang="en-US" sz="1580" dirty="0"/>
          </a:p>
        </p:txBody>
      </p:sp>
      <p:sp>
        <p:nvSpPr>
          <p:cNvPr id="6" name="Shape 4"/>
          <p:cNvSpPr/>
          <p:nvPr/>
        </p:nvSpPr>
        <p:spPr>
          <a:xfrm>
            <a:off x="6095848" y="4294845"/>
            <a:ext cx="0" cy="218724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356238" y="4513570"/>
            <a:ext cx="9501073" cy="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1363553" y="4513570"/>
            <a:ext cx="0" cy="22604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3252064" y="4513570"/>
            <a:ext cx="0" cy="22604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5140665" y="4513570"/>
            <a:ext cx="0" cy="22604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7029176" y="4513570"/>
            <a:ext cx="0" cy="22604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8925001" y="4513570"/>
            <a:ext cx="0" cy="22604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10820827" y="4513570"/>
            <a:ext cx="0" cy="226040"/>
          </a:xfrm>
          <a:prstGeom prst="line">
            <a:avLst/>
          </a:prstGeom>
          <a:noFill/>
          <a:ln w="15875">
            <a:solidFill>
              <a:srgbClr val="6D9BEA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4914626" y="3011485"/>
            <a:ext cx="2384389" cy="1283360"/>
          </a:xfrm>
          <a:prstGeom prst="roundRect">
            <a:avLst>
              <a:gd name="adj" fmla="val 7952"/>
            </a:avLst>
          </a:prstGeom>
          <a:solidFill>
            <a:srgbClr val="0B57E0"/>
          </a:solidFill>
          <a:ln w="12700">
            <a:solidFill>
              <a:srgbClr val="0B57E0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pic>
        <p:nvPicPr>
          <p:cNvPr id="15" name="Image 0" descr="/vercel/share/v0-project/.v0/pptx/icons/file-text-FFFFFF-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516" y="3179186"/>
            <a:ext cx="379202" cy="3792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14626" y="3631265"/>
            <a:ext cx="2384389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Resource</a:t>
            </a:r>
            <a:endParaRPr lang="en-US" sz="1580" dirty="0"/>
          </a:p>
        </p:txBody>
      </p:sp>
      <p:sp>
        <p:nvSpPr>
          <p:cNvPr id="17" name="Text 14"/>
          <p:cNvSpPr/>
          <p:nvPr/>
        </p:nvSpPr>
        <p:spPr>
          <a:xfrm>
            <a:off x="4914626" y="3952128"/>
            <a:ext cx="2384389" cy="20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record at the center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495879" y="4739610"/>
            <a:ext cx="1742755" cy="1574963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690" y="4863511"/>
            <a:ext cx="641634" cy="641634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20" name="Image 1" descr="/vercel/share/v0-project/.v0/pptx/icons/database-0B57E0-n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68" y="5023988"/>
            <a:ext cx="320863" cy="3208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5879" y="5592745"/>
            <a:ext cx="174275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Source</a:t>
            </a:r>
            <a:endParaRPr lang="en-US" sz="1320" dirty="0"/>
          </a:p>
        </p:txBody>
      </p:sp>
      <p:sp>
        <p:nvSpPr>
          <p:cNvPr id="22" name="Text 18"/>
          <p:cNvSpPr/>
          <p:nvPr/>
        </p:nvSpPr>
        <p:spPr>
          <a:xfrm>
            <a:off x="495879" y="5906292"/>
            <a:ext cx="1742755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Where it comes from</a:t>
            </a:r>
            <a:endParaRPr lang="en-US" sz="1120" dirty="0"/>
          </a:p>
        </p:txBody>
      </p:sp>
      <p:sp>
        <p:nvSpPr>
          <p:cNvPr id="23" name="Shape 19"/>
          <p:cNvSpPr/>
          <p:nvPr/>
        </p:nvSpPr>
        <p:spPr>
          <a:xfrm>
            <a:off x="2384389" y="4739610"/>
            <a:ext cx="1742755" cy="1574963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931292" y="4863511"/>
            <a:ext cx="641634" cy="641634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25" name="Image 2" descr="/vercel/share/v0-project/.v0/pptx/icons/map-pin-0B57E0-n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678" y="5023988"/>
            <a:ext cx="320863" cy="32086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384389" y="5592745"/>
            <a:ext cx="174275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Location</a:t>
            </a:r>
            <a:endParaRPr lang="en-US" sz="1320" dirty="0"/>
          </a:p>
        </p:txBody>
      </p:sp>
      <p:sp>
        <p:nvSpPr>
          <p:cNvPr id="27" name="Text 22"/>
          <p:cNvSpPr/>
          <p:nvPr/>
        </p:nvSpPr>
        <p:spPr>
          <a:xfrm>
            <a:off x="2384389" y="5906292"/>
            <a:ext cx="1742755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Where it applies</a:t>
            </a:r>
            <a:endParaRPr lang="en-US" sz="1120" dirty="0"/>
          </a:p>
        </p:txBody>
      </p:sp>
      <p:sp>
        <p:nvSpPr>
          <p:cNvPr id="28" name="Shape 23"/>
          <p:cNvSpPr/>
          <p:nvPr/>
        </p:nvSpPr>
        <p:spPr>
          <a:xfrm>
            <a:off x="4272900" y="4739610"/>
            <a:ext cx="1742755" cy="1574963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19802" y="4863511"/>
            <a:ext cx="641634" cy="641634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30" name="Image 3" descr="/vercel/share/v0-project/.v0/pptx/icons/layers-0B57E0-n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188" y="5023988"/>
            <a:ext cx="320863" cy="32086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272900" y="5592745"/>
            <a:ext cx="174275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Category</a:t>
            </a:r>
            <a:endParaRPr lang="en-US" sz="1320" dirty="0"/>
          </a:p>
        </p:txBody>
      </p:sp>
      <p:sp>
        <p:nvSpPr>
          <p:cNvPr id="32" name="Text 26"/>
          <p:cNvSpPr/>
          <p:nvPr/>
        </p:nvSpPr>
        <p:spPr>
          <a:xfrm>
            <a:off x="4272900" y="5906292"/>
            <a:ext cx="1742755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 it helps with</a:t>
            </a:r>
            <a:endParaRPr lang="en-US" sz="1120" dirty="0"/>
          </a:p>
        </p:txBody>
      </p:sp>
      <p:sp>
        <p:nvSpPr>
          <p:cNvPr id="33" name="Shape 27"/>
          <p:cNvSpPr/>
          <p:nvPr/>
        </p:nvSpPr>
        <p:spPr>
          <a:xfrm>
            <a:off x="6161502" y="4739610"/>
            <a:ext cx="1742755" cy="1574963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708313" y="4863511"/>
            <a:ext cx="641634" cy="641634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35" name="Image 4" descr="/vercel/share/v0-project/.v0/pptx/icons/users-0B57E0-n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790" y="5023988"/>
            <a:ext cx="320863" cy="32086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161502" y="5592745"/>
            <a:ext cx="174275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Eligibility</a:t>
            </a:r>
            <a:endParaRPr lang="en-US" sz="1320" dirty="0"/>
          </a:p>
        </p:txBody>
      </p:sp>
      <p:sp>
        <p:nvSpPr>
          <p:cNvPr id="37" name="Text 30"/>
          <p:cNvSpPr/>
          <p:nvPr/>
        </p:nvSpPr>
        <p:spPr>
          <a:xfrm>
            <a:off x="6161502" y="5906292"/>
            <a:ext cx="1742755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Who it is for</a:t>
            </a:r>
            <a:endParaRPr lang="en-US" sz="1120" dirty="0"/>
          </a:p>
        </p:txBody>
      </p:sp>
      <p:sp>
        <p:nvSpPr>
          <p:cNvPr id="38" name="Shape 31"/>
          <p:cNvSpPr/>
          <p:nvPr/>
        </p:nvSpPr>
        <p:spPr>
          <a:xfrm>
            <a:off x="8057327" y="4739610"/>
            <a:ext cx="1742755" cy="1574963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604230" y="4863511"/>
            <a:ext cx="641634" cy="641634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40" name="Image 5" descr="/vercel/share/v0-project/.v0/pptx/icons/square-arrow-out-up-right-0B57E0-n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615" y="5023988"/>
            <a:ext cx="320863" cy="32086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057327" y="5592745"/>
            <a:ext cx="174275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Access details</a:t>
            </a:r>
            <a:endParaRPr lang="en-US" sz="1320" dirty="0"/>
          </a:p>
        </p:txBody>
      </p:sp>
      <p:sp>
        <p:nvSpPr>
          <p:cNvPr id="42" name="Text 34"/>
          <p:cNvSpPr/>
          <p:nvPr/>
        </p:nvSpPr>
        <p:spPr>
          <a:xfrm>
            <a:off x="8057327" y="5906292"/>
            <a:ext cx="1742755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people use it</a:t>
            </a:r>
            <a:endParaRPr lang="en-US" sz="1120" dirty="0"/>
          </a:p>
        </p:txBody>
      </p:sp>
      <p:sp>
        <p:nvSpPr>
          <p:cNvPr id="43" name="Shape 35"/>
          <p:cNvSpPr/>
          <p:nvPr/>
        </p:nvSpPr>
        <p:spPr>
          <a:xfrm>
            <a:off x="9953153" y="4739610"/>
            <a:ext cx="1742755" cy="1574963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10500055" y="4863511"/>
            <a:ext cx="641634" cy="641634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45" name="Image 6" descr="/vercel/share/v0-project/.v0/pptx/icons/clock-0B57E0-non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0441" y="5023988"/>
            <a:ext cx="320863" cy="320863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9953153" y="5592745"/>
            <a:ext cx="174275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Update status</a:t>
            </a:r>
            <a:endParaRPr lang="en-US" sz="1320" dirty="0"/>
          </a:p>
        </p:txBody>
      </p:sp>
      <p:sp>
        <p:nvSpPr>
          <p:cNvPr id="47" name="Text 38"/>
          <p:cNvSpPr/>
          <p:nvPr/>
        </p:nvSpPr>
        <p:spPr>
          <a:xfrm>
            <a:off x="9953153" y="5906292"/>
            <a:ext cx="1742755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it stays current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418" y="481249"/>
            <a:ext cx="3645804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HR&amp;A   /   Tech &amp; Society Studio</a:t>
            </a:r>
            <a:endParaRPr lang="en-US" sz="1260" dirty="0"/>
          </a:p>
        </p:txBody>
      </p:sp>
      <p:sp>
        <p:nvSpPr>
          <p:cNvPr id="3" name="Text 1"/>
          <p:cNvSpPr/>
          <p:nvPr/>
        </p:nvSpPr>
        <p:spPr>
          <a:xfrm>
            <a:off x="510418" y="1050006"/>
            <a:ext cx="2916662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Built for stewardship</a:t>
            </a:r>
            <a:endParaRPr lang="en-US" sz="1260" dirty="0"/>
          </a:p>
        </p:txBody>
      </p:sp>
      <p:sp>
        <p:nvSpPr>
          <p:cNvPr id="4" name="Text 2"/>
          <p:cNvSpPr/>
          <p:nvPr/>
        </p:nvSpPr>
        <p:spPr>
          <a:xfrm>
            <a:off x="495879" y="1414577"/>
            <a:ext cx="5250028" cy="131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10"/>
              </a:lnSpc>
              <a:buNone/>
            </a:pPr>
            <a:r>
              <a:rPr lang="en-US" sz="4480" spc="-150" kern="0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Trusted data, </a:t>
            </a:r>
            <a:pPr indent="0" marL="0">
              <a:lnSpc>
                <a:spcPts val="4710"/>
              </a:lnSpc>
              <a:buNone/>
            </a:pPr>
            <a:r>
              <a:rPr lang="en-US" sz="4480" spc="-150" kern="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built</a:t>
            </a:r>
            <a:endParaRPr lang="en-US" sz="4480" dirty="0"/>
          </a:p>
          <a:p>
            <a:pPr indent="0" marL="0">
              <a:lnSpc>
                <a:spcPts val="4710"/>
              </a:lnSpc>
              <a:buNone/>
            </a:pPr>
            <a:r>
              <a:rPr lang="en-US" sz="4480" spc="-150" kern="0" dirty="0">
                <a:solidFill>
                  <a:srgbClr val="0B57E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 last.</a:t>
            </a:r>
            <a:endParaRPr lang="en-US" sz="4480" dirty="0"/>
          </a:p>
        </p:txBody>
      </p:sp>
      <p:sp>
        <p:nvSpPr>
          <p:cNvPr id="5" name="Text 3"/>
          <p:cNvSpPr/>
          <p:nvPr/>
        </p:nvSpPr>
        <p:spPr>
          <a:xfrm>
            <a:off x="524957" y="2785445"/>
            <a:ext cx="5250028" cy="94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Hub is not just a front-end experience. It is supported</a:t>
            </a:r>
            <a:endParaRPr lang="en-US" sz="1430" dirty="0"/>
          </a:p>
          <a:p>
            <a:pPr indent="0" marL="0">
              <a:lnSpc>
                <a:spcPts val="181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by a practical data management approach that helps teams</a:t>
            </a:r>
            <a:endParaRPr lang="en-US" sz="1430" dirty="0"/>
          </a:p>
          <a:p>
            <a:pPr indent="0" marL="0">
              <a:lnSpc>
                <a:spcPts val="181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identify the right sources, improve quality, and maintain</a:t>
            </a:r>
            <a:endParaRPr lang="en-US" sz="1430" dirty="0"/>
          </a:p>
          <a:p>
            <a:pPr indent="0" marL="0">
              <a:lnSpc>
                <a:spcPts val="1810"/>
              </a:lnSpc>
              <a:buNone/>
            </a:pPr>
            <a:r>
              <a:rPr lang="en-US" sz="143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information over time.</a:t>
            </a:r>
            <a:endParaRPr lang="en-US" sz="1430" dirty="0"/>
          </a:p>
        </p:txBody>
      </p:sp>
      <p:sp>
        <p:nvSpPr>
          <p:cNvPr id="6" name="Shape 4"/>
          <p:cNvSpPr/>
          <p:nvPr/>
        </p:nvSpPr>
        <p:spPr>
          <a:xfrm>
            <a:off x="524957" y="3988521"/>
            <a:ext cx="583296" cy="58329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7" name="Image 0" descr="/vercel/share/v0-project/.v0/pptx/icons/database-0B57E0-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134368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6903" y="4593763"/>
            <a:ext cx="2333366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Identify sources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546903" y="4827118"/>
            <a:ext cx="2406244" cy="58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Map the datasets, directories,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and partner inputs that matter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most.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3135386" y="3988521"/>
            <a:ext cx="583296" cy="58329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11" name="Image 1" descr="/vercel/share/v0-project/.v0/pptx/icons/nodes-0B57E0-n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233" y="4134368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7332" y="4593763"/>
            <a:ext cx="2333366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Aggregate clearly</a:t>
            </a:r>
            <a:endParaRPr lang="en-US" sz="1320" dirty="0"/>
          </a:p>
        </p:txBody>
      </p:sp>
      <p:sp>
        <p:nvSpPr>
          <p:cNvPr id="13" name="Text 9"/>
          <p:cNvSpPr/>
          <p:nvPr/>
        </p:nvSpPr>
        <p:spPr>
          <a:xfrm>
            <a:off x="3157332" y="4827118"/>
            <a:ext cx="2406244" cy="58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Bring information from many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places into one understandable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structure.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524957" y="5585430"/>
            <a:ext cx="583296" cy="58329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15" name="Image 2" descr="/vercel/share/v0-project/.v0/pptx/icons/search-0B57E0-n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04" y="5731276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0584" y="5694792"/>
            <a:ext cx="2333366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Review quality</a:t>
            </a:r>
            <a:endParaRPr lang="en-US" sz="1320" dirty="0"/>
          </a:p>
        </p:txBody>
      </p:sp>
      <p:sp>
        <p:nvSpPr>
          <p:cNvPr id="17" name="Text 12"/>
          <p:cNvSpPr/>
          <p:nvPr/>
        </p:nvSpPr>
        <p:spPr>
          <a:xfrm>
            <a:off x="1290584" y="5913516"/>
            <a:ext cx="1822948" cy="58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Check for consistency,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duplicates, gaps, and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outdated records.</a:t>
            </a:r>
            <a:endParaRPr lang="en-US" sz="1120" dirty="0"/>
          </a:p>
        </p:txBody>
      </p:sp>
      <p:sp>
        <p:nvSpPr>
          <p:cNvPr id="18" name="Shape 13"/>
          <p:cNvSpPr/>
          <p:nvPr/>
        </p:nvSpPr>
        <p:spPr>
          <a:xfrm>
            <a:off x="3135386" y="5585430"/>
            <a:ext cx="583296" cy="583296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19" name="Image 3" descr="/vercel/share/v0-project/.v0/pptx/icons/refresh-cw-0B57E0-n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233" y="5731276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08328" y="5694792"/>
            <a:ext cx="2333366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1141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Maintain over time</a:t>
            </a:r>
            <a:endParaRPr lang="en-US" sz="1320" dirty="0"/>
          </a:p>
        </p:txBody>
      </p:sp>
      <p:sp>
        <p:nvSpPr>
          <p:cNvPr id="21" name="Text 15"/>
          <p:cNvSpPr/>
          <p:nvPr/>
        </p:nvSpPr>
        <p:spPr>
          <a:xfrm>
            <a:off x="3908328" y="5913516"/>
            <a:ext cx="2041672" cy="58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Support updates with clear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workflows for stewardship</a:t>
            </a:r>
            <a:endParaRPr lang="en-US" sz="1120" dirty="0"/>
          </a:p>
          <a:p>
            <a:pPr indent="0" marL="0">
              <a:lnSpc>
                <a:spcPts val="1410"/>
              </a:lnSpc>
              <a:buNone/>
            </a:pPr>
            <a:r>
              <a:rPr lang="en-US" sz="1120" dirty="0">
                <a:solidFill>
                  <a:srgbClr val="3C445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and refresh.</a:t>
            </a:r>
            <a:endParaRPr lang="en-US" sz="1120" dirty="0"/>
          </a:p>
        </p:txBody>
      </p:sp>
      <p:sp>
        <p:nvSpPr>
          <p:cNvPr id="22" name="Shape 16"/>
          <p:cNvSpPr/>
          <p:nvPr/>
        </p:nvSpPr>
        <p:spPr>
          <a:xfrm>
            <a:off x="6817766" y="984352"/>
            <a:ext cx="4739610" cy="3791651"/>
          </a:xfrm>
          <a:prstGeom prst="ellipse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52139" y="3062508"/>
            <a:ext cx="3791651" cy="3135386"/>
          </a:xfrm>
          <a:prstGeom prst="ellipse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2686" y="1983334"/>
            <a:ext cx="269748" cy="699973"/>
          </a:xfrm>
          <a:custGeom>
            <a:avLst/>
            <a:gdLst/>
            <a:ahLst/>
            <a:cxnLst/>
            <a:rect l="l" t="t" r="r" b="b"/>
            <a:pathLst>
              <a:path w="269748" h="699973">
                <a:moveTo>
                  <a:pt x="94823" y="699973"/>
                </a:moveTo>
                <a:cubicBezTo>
                  <a:pt x="0" y="422910"/>
                  <a:pt x="72878" y="167701"/>
                  <a:pt x="269748" y="0"/>
                </a:cubicBezTo>
              </a:path>
            </a:pathLst>
          </a:custGeom>
          <a:ln w="17780">
            <a:solidFill>
              <a:srgbClr val="5B8DEB"/>
            </a:solidFill>
            <a:prstDash val="dash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947965" y="1370868"/>
            <a:ext cx="962497" cy="189555"/>
          </a:xfrm>
          <a:custGeom>
            <a:avLst/>
            <a:gdLst/>
            <a:ahLst/>
            <a:cxnLst/>
            <a:rect l="l" t="t" r="r" b="b"/>
            <a:pathLst>
              <a:path w="962497" h="189555">
                <a:moveTo>
                  <a:pt x="0" y="189555"/>
                </a:moveTo>
                <a:cubicBezTo>
                  <a:pt x="291694" y="14539"/>
                  <a:pt x="656265" y="0"/>
                  <a:pt x="962497" y="116677"/>
                </a:cubicBezTo>
              </a:path>
            </a:pathLst>
          </a:custGeom>
          <a:ln w="17780">
            <a:solidFill>
              <a:srgbClr val="5B8DEB"/>
            </a:solidFill>
            <a:prstDash val="dash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11097981" y="2136496"/>
            <a:ext cx="204186" cy="590611"/>
          </a:xfrm>
          <a:custGeom>
            <a:avLst/>
            <a:gdLst/>
            <a:ahLst/>
            <a:cxnLst/>
            <a:rect l="l" t="t" r="r" b="b"/>
            <a:pathLst>
              <a:path w="204186" h="590611">
                <a:moveTo>
                  <a:pt x="0" y="0"/>
                </a:moveTo>
                <a:cubicBezTo>
                  <a:pt x="131216" y="160386"/>
                  <a:pt x="204186" y="342717"/>
                  <a:pt x="204186" y="590611"/>
                </a:cubicBezTo>
              </a:path>
            </a:pathLst>
          </a:custGeom>
          <a:ln w="17780">
            <a:solidFill>
              <a:srgbClr val="5B8DEB"/>
            </a:solidFill>
            <a:prstDash val="dash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041679" y="3062508"/>
            <a:ext cx="1057321" cy="743773"/>
          </a:xfrm>
          <a:custGeom>
            <a:avLst/>
            <a:gdLst/>
            <a:ahLst/>
            <a:cxnLst/>
            <a:rect l="l" t="t" r="r" b="b"/>
            <a:pathLst>
              <a:path w="1057321" h="743773">
                <a:moveTo>
                  <a:pt x="1057321" y="36485"/>
                </a:moveTo>
                <a:cubicBezTo>
                  <a:pt x="437540" y="0"/>
                  <a:pt x="72878" y="291694"/>
                  <a:pt x="0" y="743773"/>
                </a:cubicBezTo>
              </a:path>
            </a:pathLst>
          </a:custGeom>
          <a:ln w="17780">
            <a:solidFill>
              <a:srgbClr val="5B8DEB"/>
            </a:solidFill>
            <a:prstDash val="dash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6263549" y="1254191"/>
            <a:ext cx="1611447" cy="969813"/>
          </a:xfrm>
          <a:prstGeom prst="roundRect">
            <a:avLst>
              <a:gd name="adj" fmla="val 7515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02080" y="1407262"/>
            <a:ext cx="495879" cy="495879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30" name="Image 4" descr="/vercel/share/v0-project/.v0/pptx/icons/database-0B57E0-n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758" y="1523939"/>
            <a:ext cx="262524" cy="2625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58345" y="1429207"/>
            <a:ext cx="1093714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Source</a:t>
            </a:r>
            <a:endParaRPr lang="en-US" sz="109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data</a:t>
            </a:r>
            <a:endParaRPr lang="en-US" sz="1090" dirty="0"/>
          </a:p>
        </p:txBody>
      </p:sp>
      <p:sp>
        <p:nvSpPr>
          <p:cNvPr id="32" name="Shape 25"/>
          <p:cNvSpPr/>
          <p:nvPr/>
        </p:nvSpPr>
        <p:spPr>
          <a:xfrm>
            <a:off x="7058345" y="1844802"/>
            <a:ext cx="619780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058345" y="1983334"/>
            <a:ext cx="452079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012509" y="1166683"/>
            <a:ext cx="2172889" cy="933328"/>
          </a:xfrm>
          <a:prstGeom prst="roundRect">
            <a:avLst>
              <a:gd name="adj" fmla="val 7808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158356" y="1290584"/>
            <a:ext cx="495879" cy="495879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36" name="Image 5" descr="/vercel/share/v0-project/.v0/pptx/icons/search-0B57E0-n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034" y="1407262"/>
            <a:ext cx="262524" cy="2625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821936" y="1327069"/>
            <a:ext cx="1093714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Review</a:t>
            </a:r>
            <a:endParaRPr lang="en-US" sz="109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clean</a:t>
            </a:r>
            <a:endParaRPr lang="en-US" sz="1090" dirty="0"/>
          </a:p>
        </p:txBody>
      </p:sp>
      <p:sp>
        <p:nvSpPr>
          <p:cNvPr id="38" name="Shape 30"/>
          <p:cNvSpPr/>
          <p:nvPr/>
        </p:nvSpPr>
        <p:spPr>
          <a:xfrm>
            <a:off x="9821936" y="1764609"/>
            <a:ext cx="452079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9821936" y="1910456"/>
            <a:ext cx="452079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767761" y="2712476"/>
            <a:ext cx="1713586" cy="947958"/>
          </a:xfrm>
          <a:prstGeom prst="roundRect">
            <a:avLst>
              <a:gd name="adj" fmla="val 7688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5928147" y="2851008"/>
            <a:ext cx="495879" cy="495879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42" name="Image 6" descr="/vercel/share/v0-project/.v0/pptx/icons/nodes-0B57E0-non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824" y="2967685"/>
            <a:ext cx="262524" cy="26252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613581" y="2887492"/>
            <a:ext cx="1093714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Aggregate</a:t>
            </a:r>
            <a:endParaRPr lang="en-US" sz="109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organize</a:t>
            </a:r>
            <a:endParaRPr lang="en-US" sz="1090" dirty="0"/>
          </a:p>
        </p:txBody>
      </p:sp>
      <p:sp>
        <p:nvSpPr>
          <p:cNvPr id="44" name="Shape 35"/>
          <p:cNvSpPr/>
          <p:nvPr/>
        </p:nvSpPr>
        <p:spPr>
          <a:xfrm>
            <a:off x="6613581" y="3339572"/>
            <a:ext cx="656265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613581" y="3485418"/>
            <a:ext cx="473934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0135484" y="2770815"/>
            <a:ext cx="1691640" cy="933328"/>
          </a:xfrm>
          <a:prstGeom prst="roundRect">
            <a:avLst>
              <a:gd name="adj" fmla="val 7808"/>
            </a:avLst>
          </a:prstGeom>
          <a:solidFill>
            <a:srgbClr val="FFFFFF"/>
          </a:solidFill>
          <a:ln w="9525">
            <a:solidFill>
              <a:srgbClr val="EE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10281239" y="2902123"/>
            <a:ext cx="495879" cy="495879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48" name="Image 7" descr="/vercel/share/v0-project/.v0/pptx/icons/refresh-cw-0B57E0-no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7917" y="3018800"/>
            <a:ext cx="262524" cy="26252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952135" y="2945831"/>
            <a:ext cx="1093714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Update</a:t>
            </a:r>
            <a:endParaRPr lang="en-US" sz="109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90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maintain</a:t>
            </a:r>
            <a:endParaRPr lang="en-US" sz="1090" dirty="0"/>
          </a:p>
        </p:txBody>
      </p:sp>
      <p:sp>
        <p:nvSpPr>
          <p:cNvPr id="50" name="Shape 40"/>
          <p:cNvSpPr/>
          <p:nvPr/>
        </p:nvSpPr>
        <p:spPr>
          <a:xfrm>
            <a:off x="10952135" y="3397910"/>
            <a:ext cx="641634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10952135" y="3543757"/>
            <a:ext cx="473934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10569275" y="1556766"/>
            <a:ext cx="138532" cy="138532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53" name="Image 8" descr="/vercel/share/v0-project/.v0/pptx/icons/check-FFFFFF-non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4787" y="1582278"/>
            <a:ext cx="87508" cy="87508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10777118" y="1596908"/>
            <a:ext cx="255209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10569275" y="1760952"/>
            <a:ext cx="138532" cy="138532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56" name="Image 9" descr="/vercel/share/v0-project/.v0/pptx/icons/check-FFFFFF-non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4787" y="1786463"/>
            <a:ext cx="87508" cy="87508"/>
          </a:xfrm>
          <a:prstGeom prst="rect">
            <a:avLst/>
          </a:prstGeom>
        </p:spPr>
      </p:pic>
      <p:sp>
        <p:nvSpPr>
          <p:cNvPr id="57" name="Shape 45"/>
          <p:cNvSpPr/>
          <p:nvPr/>
        </p:nvSpPr>
        <p:spPr>
          <a:xfrm>
            <a:off x="10777118" y="1801002"/>
            <a:ext cx="255209" cy="58339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744797" y="3842675"/>
            <a:ext cx="4433377" cy="2486436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9525">
            <a:solidFill>
              <a:srgbClr val="E3EA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8A">
                <a:alpha val="8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6744797" y="3842675"/>
            <a:ext cx="4433377" cy="218724"/>
          </a:xfrm>
          <a:prstGeom prst="roundRect">
            <a:avLst>
              <a:gd name="adj" fmla="val 46656"/>
            </a:avLst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6744797" y="3973982"/>
            <a:ext cx="4433377" cy="87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6744797" y="3944813"/>
            <a:ext cx="4433377" cy="43708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6941668" y="3901013"/>
            <a:ext cx="72878" cy="72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7072975" y="3901013"/>
            <a:ext cx="72878" cy="72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7204192" y="3901013"/>
            <a:ext cx="72878" cy="72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5" name="Image 10" descr="/vercel/share/v0-project/.v0/pptx/crops/cit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0017" y="4418747"/>
            <a:ext cx="1983334" cy="1808317"/>
          </a:xfrm>
          <a:prstGeom prst="rect">
            <a:avLst/>
          </a:prstGeom>
        </p:spPr>
      </p:pic>
      <p:pic>
        <p:nvPicPr>
          <p:cNvPr id="66" name="Image 11" descr="/vercel/share/v0-project/.v0/pptx/crops/logo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7129" y="4097884"/>
            <a:ext cx="379202" cy="379202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357354" y="4178168"/>
            <a:ext cx="1604132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8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Texas</a:t>
            </a:r>
            <a:endParaRPr lang="en-US" sz="830" dirty="0"/>
          </a:p>
          <a:p>
            <a:pPr indent="0" marL="0">
              <a:lnSpc>
                <a:spcPts val="98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Digital Opportunity Hub</a:t>
            </a:r>
            <a:endParaRPr lang="en-US" sz="830" dirty="0"/>
          </a:p>
        </p:txBody>
      </p:sp>
      <p:sp>
        <p:nvSpPr>
          <p:cNvPr id="68" name="Text 54"/>
          <p:cNvSpPr/>
          <p:nvPr/>
        </p:nvSpPr>
        <p:spPr>
          <a:xfrm>
            <a:off x="9041679" y="4192707"/>
            <a:ext cx="656265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B5BA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Get Connected</a:t>
            </a:r>
            <a:endParaRPr lang="en-US" sz="550" dirty="0"/>
          </a:p>
        </p:txBody>
      </p:sp>
      <p:sp>
        <p:nvSpPr>
          <p:cNvPr id="69" name="Text 55"/>
          <p:cNvSpPr/>
          <p:nvPr/>
        </p:nvSpPr>
        <p:spPr>
          <a:xfrm>
            <a:off x="9712482" y="4192707"/>
            <a:ext cx="656265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B5BA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Find Resources</a:t>
            </a:r>
            <a:endParaRPr lang="en-US" sz="550" dirty="0"/>
          </a:p>
        </p:txBody>
      </p:sp>
      <p:sp>
        <p:nvSpPr>
          <p:cNvPr id="70" name="Text 56"/>
          <p:cNvSpPr/>
          <p:nvPr/>
        </p:nvSpPr>
        <p:spPr>
          <a:xfrm>
            <a:off x="10383378" y="4192707"/>
            <a:ext cx="656265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B5BA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About</a:t>
            </a:r>
            <a:endParaRPr lang="en-US" sz="550" dirty="0"/>
          </a:p>
        </p:txBody>
      </p:sp>
      <p:pic>
        <p:nvPicPr>
          <p:cNvPr id="71" name="Image 12" descr="/vercel/share/v0-project/.v0/pptx/icons/search-1F2937-non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4626" y="4185392"/>
            <a:ext cx="116677" cy="116677"/>
          </a:xfrm>
          <a:prstGeom prst="rect">
            <a:avLst/>
          </a:prstGeom>
        </p:spPr>
      </p:pic>
      <p:sp>
        <p:nvSpPr>
          <p:cNvPr id="72" name="Shape 57"/>
          <p:cNvSpPr/>
          <p:nvPr/>
        </p:nvSpPr>
        <p:spPr>
          <a:xfrm>
            <a:off x="6963522" y="4652101"/>
            <a:ext cx="1618762" cy="160386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6963522" y="4936480"/>
            <a:ext cx="1239561" cy="72878"/>
          </a:xfrm>
          <a:prstGeom prst="roundRect">
            <a:avLst>
              <a:gd name="adj" fmla="val 50063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6963522" y="5089550"/>
            <a:ext cx="1494770" cy="72878"/>
          </a:xfrm>
          <a:prstGeom prst="roundRect">
            <a:avLst>
              <a:gd name="adj" fmla="val 50063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6963522" y="5242712"/>
            <a:ext cx="962497" cy="72878"/>
          </a:xfrm>
          <a:prstGeom prst="roundRect">
            <a:avLst>
              <a:gd name="adj" fmla="val 50063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6956298" y="5548945"/>
            <a:ext cx="393741" cy="393741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77" name="Image 13" descr="/vercel/share/v0-project/.v0/pptx/icons/wifi-0B57E0-non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1030" y="5643768"/>
            <a:ext cx="204186" cy="204186"/>
          </a:xfrm>
          <a:prstGeom prst="rect">
            <a:avLst/>
          </a:prstGeom>
        </p:spPr>
      </p:pic>
      <p:sp>
        <p:nvSpPr>
          <p:cNvPr id="78" name="Shape 62"/>
          <p:cNvSpPr/>
          <p:nvPr/>
        </p:nvSpPr>
        <p:spPr>
          <a:xfrm>
            <a:off x="6956298" y="6001024"/>
            <a:ext cx="393741" cy="65654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9" name="Shape 63"/>
          <p:cNvSpPr/>
          <p:nvPr/>
        </p:nvSpPr>
        <p:spPr>
          <a:xfrm>
            <a:off x="7561448" y="5548945"/>
            <a:ext cx="393741" cy="393741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80" name="Image 14" descr="/vercel/share/v0-project/.v0/pptx/icons/laptop-0B57E0-non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6271" y="5643768"/>
            <a:ext cx="204186" cy="204186"/>
          </a:xfrm>
          <a:prstGeom prst="rect">
            <a:avLst/>
          </a:prstGeom>
        </p:spPr>
      </p:pic>
      <p:sp>
        <p:nvSpPr>
          <p:cNvPr id="81" name="Shape 64"/>
          <p:cNvSpPr/>
          <p:nvPr/>
        </p:nvSpPr>
        <p:spPr>
          <a:xfrm>
            <a:off x="7561448" y="6001024"/>
            <a:ext cx="393741" cy="65654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82" name="Shape 65"/>
          <p:cNvSpPr/>
          <p:nvPr/>
        </p:nvSpPr>
        <p:spPr>
          <a:xfrm>
            <a:off x="8174004" y="5548945"/>
            <a:ext cx="393741" cy="393741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83" name="Image 15" descr="/vercel/share/v0-project/.v0/pptx/icons/graduation-cap-0B57E0-0B57E0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8736" y="5643768"/>
            <a:ext cx="204186" cy="204186"/>
          </a:xfrm>
          <a:prstGeom prst="rect">
            <a:avLst/>
          </a:prstGeom>
        </p:spPr>
      </p:pic>
      <p:sp>
        <p:nvSpPr>
          <p:cNvPr id="84" name="Shape 66"/>
          <p:cNvSpPr/>
          <p:nvPr/>
        </p:nvSpPr>
        <p:spPr>
          <a:xfrm>
            <a:off x="8174004" y="6001024"/>
            <a:ext cx="393741" cy="65654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85" name="Shape 67"/>
          <p:cNvSpPr/>
          <p:nvPr/>
        </p:nvSpPr>
        <p:spPr>
          <a:xfrm>
            <a:off x="8786470" y="5548945"/>
            <a:ext cx="393741" cy="393741"/>
          </a:xfrm>
          <a:prstGeom prst="ellipse">
            <a:avLst/>
          </a:prstGeom>
          <a:solidFill>
            <a:srgbClr val="EAF2FE"/>
          </a:solidFill>
          <a:ln w="12700">
            <a:solidFill>
              <a:srgbClr val="EAF2FE"/>
            </a:solidFill>
            <a:prstDash val="solid"/>
          </a:ln>
        </p:spPr>
      </p:sp>
      <p:pic>
        <p:nvPicPr>
          <p:cNvPr id="86" name="Image 16" descr="/vercel/share/v0-project/.v0/pptx/icons/users-0B57E0-0B57E0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81293" y="5643768"/>
            <a:ext cx="204186" cy="204186"/>
          </a:xfrm>
          <a:prstGeom prst="rect">
            <a:avLst/>
          </a:prstGeom>
        </p:spPr>
      </p:pic>
      <p:sp>
        <p:nvSpPr>
          <p:cNvPr id="87" name="Shape 68"/>
          <p:cNvSpPr/>
          <p:nvPr/>
        </p:nvSpPr>
        <p:spPr>
          <a:xfrm>
            <a:off x="8786470" y="6001024"/>
            <a:ext cx="393741" cy="65654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 w="12700">
            <a:solidFill>
              <a:srgbClr val="E1E6E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Digital Opportunity Hub</dc:title>
  <dc:subject>PptxGenJS Presentation</dc:subject>
  <dc:creator>HR&amp;A Tech &amp; Society Studio</dc:creator>
  <cp:lastModifiedBy>HR&amp;A Tech &amp; Society Studio</cp:lastModifiedBy>
  <cp:revision>1</cp:revision>
  <dcterms:created xsi:type="dcterms:W3CDTF">2026-09-30T04:56:57Z</dcterms:created>
  <dcterms:modified xsi:type="dcterms:W3CDTF">2026-09-30T04:56:57Z</dcterms:modified>
</cp:coreProperties>
</file>