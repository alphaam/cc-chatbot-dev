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0" autoCompressPictures="0">
  <p:sldMasterIdLst>
    <p:sldMasterId id="2147483648" r:id="rId1"/>
  </p:sldMasterIdLst>
  <p:sldIdLst>
    <p:sldId id="256" r:id="rId2"/>
    <p:sldId id="257" r:id="rId3"/>
    <p:sldId id="258" r:id="rId4"/>
  </p:sldIdLst>
  <p:notesMasterIdLst>
    <p:notesMasterId r:id="rId5"/>
  </p:notesMasterIdLst>
  <p:sldSz cx="14630400" cy="8229600"/>
  <p:notesSz cx="8229600" cy="14630400"/>
  <p:embeddedFontLst>
    <p:embeddedFont>
      <p:font typeface="Albert Sans" pitchFamily="34" charset="0"/>
      <p:regular r:id="rIdEditableFont1"/>
    </p:embeddedFont>
    <p:embeddedFont>
      <p:font typeface="Albert Sans Medium" pitchFamily="34" charset="0"/>
      <p:regular r:id="rIdEditable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EditableFont1" Type="http://schemas.openxmlformats.org/officeDocument/2006/relationships/font" Target="fonts/font1.fntdata"/><Relationship Id="rIdEditable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text edition. Headings, body copy, labels, and footers are native PowerPoint text boxes. Original line breaks are retained in separate boxes to preserve the layout. Albert Sans fonts are embedded with the complete character sets for editing. Illustrations, icons, and decorative layout remain in the background artwork; text inside device screenshots is part of those images.
HR&amp;A 
 Tech &amp; Society Studio
Case study 03 · Grantee management
Case study 03 · Grantee management
Grantee
Management
Tech Stack.
A digital operating system for grantmaking teams that
brings application intake, review, awards, compliance,
and reporting into one coordinated workflow.
Centralize grant records
Coordinate review and approvals
Track awards, reporting, and follow-up
See the workflow
Case study 03 · Grantee Management Tech Stack
01 / 3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text edition. Headings, body copy, labels, and footers are native PowerPoint text boxes. Original line breaks are retained in separate boxes to preserve the layout. Albert Sans fonts are embedded with the complete character sets for editing. Illustrations, icons, and decorative layout remain in the background artwork; text inside device screenshots is part of those images.
HR&amp;A 
 Tech &amp; Society Studio
Grantee management · Why this solution
The problem &amp; approach
Manage the grant lifecycle,
not just the handoffs.
The problem
Grantmaking teams often work across disconnected
applications, spreadsheets, email threads, and reporting files.
That makes reviews slower, ownership less clear, and follow-up
harder to manage.
Why this solution
A shared tech stack connects intake, review, awards,
compliance, and reporting in one place, so staff can coordinate
decisions and keep grantee information current.
Proposed operating model. Illustrative interface with sample data, not a deployed grantee-management system.
Case study 03 · Grantee Management Tech Stack
02 / 3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text edition. Headings, body copy, labels, and footers are native PowerPoint text boxes. Original line breaks are retained in separate boxes to preserve the layout. Albert Sans fonts are embedded with the complete character sets for editing. Illustrations, icons, and decorative layout remain in the background artwork; text inside device screenshots is part of those images.
HR&amp;A 
 Tech &amp; Society Studio
Grantee management · Operating model
The operating model
The tech stack connects
applications to decisions and follow-through.
The system links the applicant record, the grant record, reviewer activity, award requirements, and reporting so teams can
move from intake to closeout with context.
Grant
One relational record ties the workflow together, from intake through award, compliance, and closeout.
Case study 03 · Grantee Management Tech Stack
03 / 3
/
The record at the center
Applicant
Who is applying
Review
Scores + comments
Award
Amount + terms
Requirements
Deadlines + compliance
Reporting
Progress +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Non-text design artwork" descr="Original illustrations, icons, and decorative layout. All presentation text is in separate editable text boxes.">    </p:cNvPr>
          <p:cNvPicPr>
            <a:picLocks noChangeAspect="1"/>
          </p:cNvPicPr>
          <p:nvPr/>
        </p:nvPicPr>
        <p:blipFill>
          <a:blip r:embed="rId1"/>
          <a:stretch>
            <a:fillRect/>
          </a:stretch>
        </p:blipFill>
        <p:spPr>
          <a:xfrm>
            <a:off x="0" y="0"/>
            <a:ext cx="14630400" cy="8229600"/>
          </a:xfrm>
          <a:prstGeom prst="rect">
            <a:avLst/>
          </a:prstGeom>
        </p:spPr>
      </p:pic>
      <p:sp>
        <p:nvSpPr>
          <p:cNvPr id="3" name="Editable text 1: HR&amp;amp;A "/>
          <p:cNvSpPr/>
          <p:nvPr/>
        </p:nvSpPr>
        <p:spPr>
          <a:xfrm>
            <a:off x="594271" y="421405"/>
            <a:ext cx="593738"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HR&amp;A </a:t>
            </a:r>
            <a:endParaRPr lang="en-US" sz="1323" dirty="0"/>
          </a:p>
        </p:txBody>
      </p:sp>
      <p:sp>
        <p:nvSpPr>
          <p:cNvPr id="4" name="Editable text 2:  Tech &amp;amp; Society Studio"/>
          <p:cNvSpPr/>
          <p:nvPr/>
        </p:nvSpPr>
        <p:spPr>
          <a:xfrm>
            <a:off x="1350764" y="421405"/>
            <a:ext cx="1830866"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 Tech &amp; Society Studio</a:t>
            </a:r>
            <a:endParaRPr lang="en-US" sz="1323" dirty="0"/>
          </a:p>
        </p:txBody>
      </p:sp>
      <p:sp>
        <p:nvSpPr>
          <p:cNvPr id="5" name="Editable text 3: Case study 03 · Grantee management"/>
          <p:cNvSpPr/>
          <p:nvPr/>
        </p:nvSpPr>
        <p:spPr>
          <a:xfrm>
            <a:off x="11106596" y="421405"/>
            <a:ext cx="3021952"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Case study 03 · Grantee management</a:t>
            </a:r>
            <a:endParaRPr lang="en-US" sz="1323" dirty="0"/>
          </a:p>
        </p:txBody>
      </p:sp>
      <p:sp>
        <p:nvSpPr>
          <p:cNvPr id="6" name="Editable text 4: Case study 03 · Grantee management"/>
          <p:cNvSpPr/>
          <p:nvPr/>
        </p:nvSpPr>
        <p:spPr>
          <a:xfrm>
            <a:off x="594271" y="970621"/>
            <a:ext cx="3270497" cy="254032"/>
          </a:xfrm>
          <a:prstGeom prst="rect">
            <a:avLst/>
          </a:prstGeom>
          <a:noFill/>
          <a:ln/>
        </p:spPr>
        <p:txBody>
          <a:bodyPr wrap="none" lIns="0" tIns="0" rIns="0" bIns="0" rtlCol="0" anchor="t"/>
          <a:lstStyle/>
          <a:p>
            <a:pPr algn="l" indent="0" marL="0">
              <a:buNone/>
            </a:pPr>
            <a:r>
              <a:rPr lang="en-US" sz="1429" dirty="0">
                <a:solidFill>
                  <a:srgbClr val="3C4ED6"/>
                </a:solidFill>
                <a:latin typeface="Albert Sans Medium" pitchFamily="34" charset="0"/>
                <a:ea typeface="Albert Sans Medium" pitchFamily="34" charset="-122"/>
                <a:cs typeface="Albert Sans Medium" pitchFamily="34" charset="-120"/>
              </a:rPr>
              <a:t>Case study 03 · Grantee management</a:t>
            </a:r>
            <a:endParaRPr lang="en-US" sz="1429" dirty="0"/>
          </a:p>
        </p:txBody>
      </p:sp>
      <p:sp>
        <p:nvSpPr>
          <p:cNvPr id="7" name="Editable text 5: Grantee"/>
          <p:cNvSpPr/>
          <p:nvPr/>
        </p:nvSpPr>
        <p:spPr>
          <a:xfrm>
            <a:off x="594271" y="1323670"/>
            <a:ext cx="2635518" cy="940918"/>
          </a:xfrm>
          <a:prstGeom prst="rect">
            <a:avLst/>
          </a:prstGeom>
          <a:noFill/>
          <a:ln/>
        </p:spPr>
        <p:txBody>
          <a:bodyPr wrap="none" lIns="0" tIns="0" rIns="0" bIns="0" rtlCol="0" anchor="t"/>
          <a:lstStyle/>
          <a:p>
            <a:pPr algn="l" indent="0" marL="0">
              <a:buNone/>
            </a:pPr>
            <a:r>
              <a:rPr lang="en-US" sz="5292" spc="-291" kern="0" dirty="0">
                <a:solidFill>
                  <a:srgbClr val="17191E"/>
                </a:solidFill>
                <a:latin typeface="Albert Sans Medium" pitchFamily="34" charset="0"/>
                <a:ea typeface="Albert Sans Medium" pitchFamily="34" charset="-122"/>
                <a:cs typeface="Albert Sans Medium" pitchFamily="34" charset="-120"/>
              </a:rPr>
              <a:t>Grantee</a:t>
            </a:r>
            <a:endParaRPr lang="en-US" sz="5292" dirty="0"/>
          </a:p>
        </p:txBody>
      </p:sp>
      <p:sp>
        <p:nvSpPr>
          <p:cNvPr id="8" name="Editable text 6: Management"/>
          <p:cNvSpPr/>
          <p:nvPr/>
        </p:nvSpPr>
        <p:spPr>
          <a:xfrm>
            <a:off x="594271" y="2009470"/>
            <a:ext cx="4086902" cy="940918"/>
          </a:xfrm>
          <a:prstGeom prst="rect">
            <a:avLst/>
          </a:prstGeom>
          <a:noFill/>
          <a:ln/>
        </p:spPr>
        <p:txBody>
          <a:bodyPr wrap="none" lIns="0" tIns="0" rIns="0" bIns="0" rtlCol="0" anchor="t"/>
          <a:lstStyle/>
          <a:p>
            <a:pPr algn="l" indent="0" marL="0">
              <a:buNone/>
            </a:pPr>
            <a:r>
              <a:rPr lang="en-US" sz="5292" spc="-291" kern="0" dirty="0">
                <a:solidFill>
                  <a:srgbClr val="17191E"/>
                </a:solidFill>
                <a:latin typeface="Albert Sans Medium" pitchFamily="34" charset="0"/>
                <a:ea typeface="Albert Sans Medium" pitchFamily="34" charset="-122"/>
                <a:cs typeface="Albert Sans Medium" pitchFamily="34" charset="-120"/>
              </a:rPr>
              <a:t>Management</a:t>
            </a:r>
            <a:endParaRPr lang="en-US" sz="5292" dirty="0"/>
          </a:p>
        </p:txBody>
      </p:sp>
      <p:sp>
        <p:nvSpPr>
          <p:cNvPr id="9" name="Editable text 7: Tech Stack."/>
          <p:cNvSpPr/>
          <p:nvPr/>
        </p:nvSpPr>
        <p:spPr>
          <a:xfrm>
            <a:off x="594271" y="2695270"/>
            <a:ext cx="3548032" cy="940918"/>
          </a:xfrm>
          <a:prstGeom prst="rect">
            <a:avLst/>
          </a:prstGeom>
          <a:noFill/>
          <a:ln/>
        </p:spPr>
        <p:txBody>
          <a:bodyPr wrap="none" lIns="0" tIns="0" rIns="0" bIns="0" rtlCol="0" anchor="t"/>
          <a:lstStyle/>
          <a:p>
            <a:pPr algn="l" indent="0" marL="0">
              <a:buNone/>
            </a:pPr>
            <a:r>
              <a:rPr lang="en-US" sz="5292" spc="-291" kern="0" dirty="0">
                <a:solidFill>
                  <a:srgbClr val="3C4ED6"/>
                </a:solidFill>
                <a:latin typeface="Albert Sans Medium" pitchFamily="34" charset="0"/>
                <a:ea typeface="Albert Sans Medium" pitchFamily="34" charset="-122"/>
                <a:cs typeface="Albert Sans Medium" pitchFamily="34" charset="-120"/>
              </a:rPr>
              <a:t>Tech Stack.</a:t>
            </a:r>
            <a:endParaRPr lang="en-US" sz="5292" dirty="0"/>
          </a:p>
        </p:txBody>
      </p:sp>
      <p:sp>
        <p:nvSpPr>
          <p:cNvPr id="10" name="Editable text 8: A digital operating system for grantmaking teams that"/>
          <p:cNvSpPr/>
          <p:nvPr/>
        </p:nvSpPr>
        <p:spPr>
          <a:xfrm>
            <a:off x="594271" y="3688170"/>
            <a:ext cx="5797239" cy="319907"/>
          </a:xfrm>
          <a:prstGeom prst="rect">
            <a:avLst/>
          </a:prstGeom>
          <a:noFill/>
          <a:ln/>
        </p:spPr>
        <p:txBody>
          <a:bodyPr wrap="none" lIns="0" tIns="0" rIns="0" bIns="0" rtlCol="0" anchor="t"/>
          <a:lstStyle/>
          <a:p>
            <a:pPr algn="l" indent="0" marL="0">
              <a:buNone/>
            </a:pPr>
            <a:r>
              <a:rPr lang="en-US" sz="1799" dirty="0">
                <a:solidFill>
                  <a:srgbClr val="646973"/>
                </a:solidFill>
                <a:latin typeface="Albert Sans" pitchFamily="34" charset="0"/>
                <a:ea typeface="Albert Sans" pitchFamily="34" charset="-122"/>
                <a:cs typeface="Albert Sans" pitchFamily="34" charset="-120"/>
              </a:rPr>
              <a:t>A digital operating system for grantmaking teams that</a:t>
            </a:r>
            <a:endParaRPr lang="en-US" sz="1799" dirty="0"/>
          </a:p>
        </p:txBody>
      </p:sp>
      <p:sp>
        <p:nvSpPr>
          <p:cNvPr id="11" name="Editable text 9: brings application intake, review, awards, compliance,"/>
          <p:cNvSpPr/>
          <p:nvPr/>
        </p:nvSpPr>
        <p:spPr>
          <a:xfrm>
            <a:off x="594271" y="4031070"/>
            <a:ext cx="5750163" cy="319907"/>
          </a:xfrm>
          <a:prstGeom prst="rect">
            <a:avLst/>
          </a:prstGeom>
          <a:noFill/>
          <a:ln/>
        </p:spPr>
        <p:txBody>
          <a:bodyPr wrap="none" lIns="0" tIns="0" rIns="0" bIns="0" rtlCol="0" anchor="t"/>
          <a:lstStyle/>
          <a:p>
            <a:pPr algn="l" indent="0" marL="0">
              <a:buNone/>
            </a:pPr>
            <a:r>
              <a:rPr lang="en-US" sz="1799" dirty="0">
                <a:solidFill>
                  <a:srgbClr val="646973"/>
                </a:solidFill>
                <a:latin typeface="Albert Sans" pitchFamily="34" charset="0"/>
                <a:ea typeface="Albert Sans" pitchFamily="34" charset="-122"/>
                <a:cs typeface="Albert Sans" pitchFamily="34" charset="-120"/>
              </a:rPr>
              <a:t>brings application intake, review, awards, compliance,</a:t>
            </a:r>
            <a:endParaRPr lang="en-US" sz="1799" dirty="0"/>
          </a:p>
        </p:txBody>
      </p:sp>
      <p:sp>
        <p:nvSpPr>
          <p:cNvPr id="12" name="Editable text 10: and reporting into one coordinated workflow."/>
          <p:cNvSpPr/>
          <p:nvPr/>
        </p:nvSpPr>
        <p:spPr>
          <a:xfrm>
            <a:off x="594271" y="4364445"/>
            <a:ext cx="4848239" cy="319907"/>
          </a:xfrm>
          <a:prstGeom prst="rect">
            <a:avLst/>
          </a:prstGeom>
          <a:noFill/>
          <a:ln/>
        </p:spPr>
        <p:txBody>
          <a:bodyPr wrap="none" lIns="0" tIns="0" rIns="0" bIns="0" rtlCol="0" anchor="t"/>
          <a:lstStyle/>
          <a:p>
            <a:pPr algn="l" indent="0" marL="0">
              <a:buNone/>
            </a:pPr>
            <a:r>
              <a:rPr lang="en-US" sz="1799" dirty="0">
                <a:solidFill>
                  <a:srgbClr val="646973"/>
                </a:solidFill>
                <a:latin typeface="Albert Sans" pitchFamily="34" charset="0"/>
                <a:ea typeface="Albert Sans" pitchFamily="34" charset="-122"/>
                <a:cs typeface="Albert Sans" pitchFamily="34" charset="-120"/>
              </a:rPr>
              <a:t>and reporting into one coordinated workflow.</a:t>
            </a:r>
            <a:endParaRPr lang="en-US" sz="1799" dirty="0"/>
          </a:p>
        </p:txBody>
      </p:sp>
      <p:sp>
        <p:nvSpPr>
          <p:cNvPr id="13" name="Editable text 11: Centralize grant records"/>
          <p:cNvSpPr/>
          <p:nvPr/>
        </p:nvSpPr>
        <p:spPr>
          <a:xfrm>
            <a:off x="1266230" y="5056803"/>
            <a:ext cx="2351904" cy="282169"/>
          </a:xfrm>
          <a:prstGeom prst="rect">
            <a:avLst/>
          </a:prstGeom>
          <a:noFill/>
          <a:ln/>
        </p:spPr>
        <p:txBody>
          <a:bodyPr wrap="none" lIns="0" tIns="0" rIns="0" bIns="0" rtlCol="0" anchor="t"/>
          <a:lstStyle/>
          <a:p>
            <a:pPr algn="l" indent="0" marL="0">
              <a:buNone/>
            </a:pPr>
            <a:r>
              <a:rPr lang="en-US" sz="1587" dirty="0">
                <a:solidFill>
                  <a:srgbClr val="17191E"/>
                </a:solidFill>
                <a:latin typeface="Albert Sans" pitchFamily="34" charset="0"/>
                <a:ea typeface="Albert Sans" pitchFamily="34" charset="-122"/>
                <a:cs typeface="Albert Sans" pitchFamily="34" charset="-120"/>
              </a:rPr>
              <a:t>Centralize grant records</a:t>
            </a:r>
            <a:endParaRPr lang="en-US" sz="1587" dirty="0"/>
          </a:p>
        </p:txBody>
      </p:sp>
      <p:sp>
        <p:nvSpPr>
          <p:cNvPr id="14" name="Editable text 12: Coordinate review and approvals"/>
          <p:cNvSpPr/>
          <p:nvPr/>
        </p:nvSpPr>
        <p:spPr>
          <a:xfrm>
            <a:off x="1266230" y="5656878"/>
            <a:ext cx="3157354" cy="282169"/>
          </a:xfrm>
          <a:prstGeom prst="rect">
            <a:avLst/>
          </a:prstGeom>
          <a:noFill/>
          <a:ln/>
        </p:spPr>
        <p:txBody>
          <a:bodyPr wrap="none" lIns="0" tIns="0" rIns="0" bIns="0" rtlCol="0" anchor="t"/>
          <a:lstStyle/>
          <a:p>
            <a:pPr algn="l" indent="0" marL="0">
              <a:buNone/>
            </a:pPr>
            <a:r>
              <a:rPr lang="en-US" sz="1587" dirty="0">
                <a:solidFill>
                  <a:srgbClr val="17191E"/>
                </a:solidFill>
                <a:latin typeface="Albert Sans" pitchFamily="34" charset="0"/>
                <a:ea typeface="Albert Sans" pitchFamily="34" charset="-122"/>
                <a:cs typeface="Albert Sans" pitchFamily="34" charset="-120"/>
              </a:rPr>
              <a:t>Coordinate review and approvals</a:t>
            </a:r>
            <a:endParaRPr lang="en-US" sz="1587" dirty="0"/>
          </a:p>
        </p:txBody>
      </p:sp>
      <p:sp>
        <p:nvSpPr>
          <p:cNvPr id="15" name="Editable text 13: Track awards, reporting, and follow-up"/>
          <p:cNvSpPr/>
          <p:nvPr/>
        </p:nvSpPr>
        <p:spPr>
          <a:xfrm>
            <a:off x="1266230" y="6247428"/>
            <a:ext cx="3674238" cy="282169"/>
          </a:xfrm>
          <a:prstGeom prst="rect">
            <a:avLst/>
          </a:prstGeom>
          <a:noFill/>
          <a:ln/>
        </p:spPr>
        <p:txBody>
          <a:bodyPr wrap="none" lIns="0" tIns="0" rIns="0" bIns="0" rtlCol="0" anchor="t"/>
          <a:lstStyle/>
          <a:p>
            <a:pPr algn="l" indent="0" marL="0">
              <a:buNone/>
            </a:pPr>
            <a:r>
              <a:rPr lang="en-US" sz="1587" dirty="0">
                <a:solidFill>
                  <a:srgbClr val="17191E"/>
                </a:solidFill>
                <a:latin typeface="Albert Sans" pitchFamily="34" charset="0"/>
                <a:ea typeface="Albert Sans" pitchFamily="34" charset="-122"/>
                <a:cs typeface="Albert Sans" pitchFamily="34" charset="-120"/>
              </a:rPr>
              <a:t>Track awards, reporting, and follow-up</a:t>
            </a:r>
            <a:endParaRPr lang="en-US" sz="1587" dirty="0"/>
          </a:p>
        </p:txBody>
      </p:sp>
      <p:sp>
        <p:nvSpPr>
          <p:cNvPr id="16" name="Editable text 14: See the workflow"/>
          <p:cNvSpPr/>
          <p:nvPr/>
        </p:nvSpPr>
        <p:spPr>
          <a:xfrm>
            <a:off x="863054" y="7072870"/>
            <a:ext cx="1809615" cy="300971"/>
          </a:xfrm>
          <a:prstGeom prst="rect">
            <a:avLst/>
          </a:prstGeom>
          <a:noFill/>
          <a:ln/>
        </p:spPr>
        <p:txBody>
          <a:bodyPr wrap="none" lIns="0" tIns="0" rIns="0" bIns="0" rtlCol="0" anchor="t"/>
          <a:lstStyle/>
          <a:p>
            <a:pPr algn="l" indent="0" marL="0">
              <a:buNone/>
            </a:pPr>
            <a:r>
              <a:rPr lang="en-US" sz="1693" dirty="0">
                <a:solidFill>
                  <a:srgbClr val="FFFFFF"/>
                </a:solidFill>
                <a:latin typeface="Albert Sans Medium" pitchFamily="34" charset="0"/>
                <a:ea typeface="Albert Sans Medium" pitchFamily="34" charset="-122"/>
                <a:cs typeface="Albert Sans Medium" pitchFamily="34" charset="-120"/>
              </a:rPr>
              <a:t>See the workflow</a:t>
            </a:r>
            <a:endParaRPr lang="en-US" sz="1693" dirty="0"/>
          </a:p>
        </p:txBody>
      </p:sp>
      <p:sp>
        <p:nvSpPr>
          <p:cNvPr id="17" name="Editable text 15: Case study 03 · Grantee Management Tech Stack"/>
          <p:cNvSpPr/>
          <p:nvPr/>
        </p:nvSpPr>
        <p:spPr>
          <a:xfrm>
            <a:off x="594271" y="7688980"/>
            <a:ext cx="3904668"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Case study 03 · Grantee Management Tech Stack</a:t>
            </a:r>
            <a:endParaRPr lang="en-US" sz="1323" dirty="0"/>
          </a:p>
        </p:txBody>
      </p:sp>
      <p:sp>
        <p:nvSpPr>
          <p:cNvPr id="18" name="Editable text 16: 01 / 3"/>
          <p:cNvSpPr/>
          <p:nvPr/>
        </p:nvSpPr>
        <p:spPr>
          <a:xfrm>
            <a:off x="13630870" y="7688980"/>
            <a:ext cx="497636"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01 / 3</a:t>
            </a:r>
            <a:endParaRPr lang="en-US" sz="1323" dirty="0"/>
          </a:p>
        </p:txBody>
      </p:sp>
      <p:sp>
        <p:nvSpPr>
          <p:cNvPr id="19" name="Editable text 17: /"/>
          <p:cNvSpPr/>
          <p:nvPr/>
        </p:nvSpPr>
        <p:spPr>
          <a:xfrm>
            <a:off x="1196429" y="421405"/>
            <a:ext cx="146010"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a:t>
            </a:r>
            <a:endParaRPr lang="en-US" sz="1323"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Non-text design artwork" descr="Original illustrations, icons, and decorative layout. All presentation text is in separate editable text boxes.">    </p:cNvPr>
          <p:cNvPicPr>
            <a:picLocks noChangeAspect="1"/>
          </p:cNvPicPr>
          <p:nvPr/>
        </p:nvPicPr>
        <p:blipFill>
          <a:blip r:embed="rId1"/>
          <a:stretch>
            <a:fillRect/>
          </a:stretch>
        </p:blipFill>
        <p:spPr>
          <a:xfrm>
            <a:off x="0" y="0"/>
            <a:ext cx="14630400" cy="8229600"/>
          </a:xfrm>
          <a:prstGeom prst="rect">
            <a:avLst/>
          </a:prstGeom>
        </p:spPr>
      </p:pic>
      <p:sp>
        <p:nvSpPr>
          <p:cNvPr id="3" name="Editable text 1: HR&amp;amp;A "/>
          <p:cNvSpPr/>
          <p:nvPr/>
        </p:nvSpPr>
        <p:spPr>
          <a:xfrm>
            <a:off x="594271" y="421405"/>
            <a:ext cx="593738"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HR&amp;A </a:t>
            </a:r>
            <a:endParaRPr lang="en-US" sz="1323" dirty="0"/>
          </a:p>
        </p:txBody>
      </p:sp>
      <p:sp>
        <p:nvSpPr>
          <p:cNvPr id="4" name="Editable text 2:  Tech &amp;amp; Society Studio"/>
          <p:cNvSpPr/>
          <p:nvPr/>
        </p:nvSpPr>
        <p:spPr>
          <a:xfrm>
            <a:off x="1350764" y="421405"/>
            <a:ext cx="1830866"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 Tech &amp; Society Studio</a:t>
            </a:r>
            <a:endParaRPr lang="en-US" sz="1323" dirty="0"/>
          </a:p>
        </p:txBody>
      </p:sp>
      <p:sp>
        <p:nvSpPr>
          <p:cNvPr id="5" name="Editable text 3: Grantee management · Why this solution"/>
          <p:cNvSpPr/>
          <p:nvPr/>
        </p:nvSpPr>
        <p:spPr>
          <a:xfrm>
            <a:off x="10896154" y="421405"/>
            <a:ext cx="3232335"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Grantee management · Why this solution</a:t>
            </a:r>
            <a:endParaRPr lang="en-US" sz="1323" dirty="0"/>
          </a:p>
        </p:txBody>
      </p:sp>
      <p:sp>
        <p:nvSpPr>
          <p:cNvPr id="6" name="Editable text 4: The problem &amp;amp; approach"/>
          <p:cNvSpPr/>
          <p:nvPr/>
        </p:nvSpPr>
        <p:spPr>
          <a:xfrm>
            <a:off x="594271" y="970621"/>
            <a:ext cx="2175085" cy="254032"/>
          </a:xfrm>
          <a:prstGeom prst="rect">
            <a:avLst/>
          </a:prstGeom>
          <a:noFill/>
          <a:ln/>
        </p:spPr>
        <p:txBody>
          <a:bodyPr wrap="none" lIns="0" tIns="0" rIns="0" bIns="0" rtlCol="0" anchor="t"/>
          <a:lstStyle/>
          <a:p>
            <a:pPr algn="l" indent="0" marL="0">
              <a:buNone/>
            </a:pPr>
            <a:r>
              <a:rPr lang="en-US" sz="1429" dirty="0">
                <a:solidFill>
                  <a:srgbClr val="3C4ED6"/>
                </a:solidFill>
                <a:latin typeface="Albert Sans Medium" pitchFamily="34" charset="0"/>
                <a:ea typeface="Albert Sans Medium" pitchFamily="34" charset="-122"/>
                <a:cs typeface="Albert Sans Medium" pitchFamily="34" charset="-120"/>
              </a:rPr>
              <a:t>The problem &amp; approach</a:t>
            </a:r>
            <a:endParaRPr lang="en-US" sz="1429" dirty="0"/>
          </a:p>
        </p:txBody>
      </p:sp>
      <p:sp>
        <p:nvSpPr>
          <p:cNvPr id="7" name="Editable text 5: Manage the grant lifecycle,"/>
          <p:cNvSpPr/>
          <p:nvPr/>
        </p:nvSpPr>
        <p:spPr>
          <a:xfrm>
            <a:off x="594271" y="1343430"/>
            <a:ext cx="6369365" cy="771430"/>
          </a:xfrm>
          <a:prstGeom prst="rect">
            <a:avLst/>
          </a:prstGeom>
          <a:noFill/>
          <a:ln/>
        </p:spPr>
        <p:txBody>
          <a:bodyPr wrap="none" lIns="0" tIns="0" rIns="0" bIns="0" rtlCol="0" anchor="t"/>
          <a:lstStyle/>
          <a:p>
            <a:pPr algn="l" indent="0" marL="0">
              <a:buNone/>
            </a:pPr>
            <a:r>
              <a:rPr lang="en-US" sz="4339" spc="-239" kern="0" dirty="0">
                <a:solidFill>
                  <a:srgbClr val="17191E"/>
                </a:solidFill>
                <a:latin typeface="Albert Sans Medium" pitchFamily="34" charset="0"/>
                <a:ea typeface="Albert Sans Medium" pitchFamily="34" charset="-122"/>
                <a:cs typeface="Albert Sans Medium" pitchFamily="34" charset="-120"/>
              </a:rPr>
              <a:t>Manage the grant lifecycle,</a:t>
            </a:r>
            <a:endParaRPr lang="en-US" sz="4339" dirty="0"/>
          </a:p>
        </p:txBody>
      </p:sp>
      <p:sp>
        <p:nvSpPr>
          <p:cNvPr id="8" name="Editable text 6: not just the handoffs."/>
          <p:cNvSpPr/>
          <p:nvPr/>
        </p:nvSpPr>
        <p:spPr>
          <a:xfrm>
            <a:off x="594271" y="1905405"/>
            <a:ext cx="5008043" cy="771430"/>
          </a:xfrm>
          <a:prstGeom prst="rect">
            <a:avLst/>
          </a:prstGeom>
          <a:noFill/>
          <a:ln/>
        </p:spPr>
        <p:txBody>
          <a:bodyPr wrap="none" lIns="0" tIns="0" rIns="0" bIns="0" rtlCol="0" anchor="t"/>
          <a:lstStyle/>
          <a:p>
            <a:pPr algn="l" indent="0" marL="0">
              <a:buNone/>
            </a:pPr>
            <a:r>
              <a:rPr lang="en-US" sz="4339" spc="-239" kern="0" dirty="0">
                <a:solidFill>
                  <a:srgbClr val="3C4ED6"/>
                </a:solidFill>
                <a:latin typeface="Albert Sans Medium" pitchFamily="34" charset="0"/>
                <a:ea typeface="Albert Sans Medium" pitchFamily="34" charset="-122"/>
                <a:cs typeface="Albert Sans Medium" pitchFamily="34" charset="-120"/>
              </a:rPr>
              <a:t>not just the handoffs.</a:t>
            </a:r>
            <a:endParaRPr lang="en-US" sz="4339" dirty="0"/>
          </a:p>
        </p:txBody>
      </p:sp>
      <p:sp>
        <p:nvSpPr>
          <p:cNvPr id="9" name="Editable text 7: The problem"/>
          <p:cNvSpPr/>
          <p:nvPr/>
        </p:nvSpPr>
        <p:spPr>
          <a:xfrm>
            <a:off x="832247" y="3389662"/>
            <a:ext cx="1465676" cy="338709"/>
          </a:xfrm>
          <a:prstGeom prst="rect">
            <a:avLst/>
          </a:prstGeom>
          <a:noFill/>
          <a:ln/>
        </p:spPr>
        <p:txBody>
          <a:bodyPr wrap="none" lIns="0" tIns="0" rIns="0" bIns="0" rtlCol="0" anchor="t"/>
          <a:lstStyle/>
          <a:p>
            <a:pPr algn="l" indent="0" marL="0">
              <a:buNone/>
            </a:pPr>
            <a:r>
              <a:rPr lang="en-US" sz="1905" spc="-67" kern="0" dirty="0">
                <a:solidFill>
                  <a:srgbClr val="3C4ED6"/>
                </a:solidFill>
                <a:latin typeface="Albert Sans Medium" pitchFamily="34" charset="0"/>
                <a:ea typeface="Albert Sans Medium" pitchFamily="34" charset="-122"/>
                <a:cs typeface="Albert Sans Medium" pitchFamily="34" charset="-120"/>
              </a:rPr>
              <a:t>The problem</a:t>
            </a:r>
            <a:endParaRPr lang="en-US" sz="1905" dirty="0"/>
          </a:p>
        </p:txBody>
      </p:sp>
      <p:sp>
        <p:nvSpPr>
          <p:cNvPr id="10" name="Editable text 8: Grantmaking teams often work across disconnected"/>
          <p:cNvSpPr/>
          <p:nvPr/>
        </p:nvSpPr>
        <p:spPr>
          <a:xfrm>
            <a:off x="832247" y="3767871"/>
            <a:ext cx="4280555" cy="244564"/>
          </a:xfrm>
          <a:prstGeom prst="rect">
            <a:avLst/>
          </a:prstGeom>
          <a:noFill/>
          <a:ln/>
        </p:spPr>
        <p:txBody>
          <a:bodyPr wrap="none" lIns="0" tIns="0" rIns="0" bIns="0" rtlCol="0" anchor="t"/>
          <a:lstStyle/>
          <a:p>
            <a:pPr algn="l" indent="0" marL="0">
              <a:buNone/>
            </a:pPr>
            <a:r>
              <a:rPr lang="en-US" sz="1376" dirty="0">
                <a:solidFill>
                  <a:srgbClr val="646973"/>
                </a:solidFill>
                <a:latin typeface="Albert Sans" pitchFamily="34" charset="0"/>
                <a:ea typeface="Albert Sans" pitchFamily="34" charset="-122"/>
                <a:cs typeface="Albert Sans" pitchFamily="34" charset="-120"/>
              </a:rPr>
              <a:t>Grantmaking teams often work across disconnected</a:t>
            </a:r>
            <a:endParaRPr lang="en-US" sz="1376" dirty="0"/>
          </a:p>
        </p:txBody>
      </p:sp>
      <p:sp>
        <p:nvSpPr>
          <p:cNvPr id="11" name="Editable text 9: applications, spreadsheets, email threads, and reportin"/>
          <p:cNvSpPr/>
          <p:nvPr/>
        </p:nvSpPr>
        <p:spPr>
          <a:xfrm>
            <a:off x="832247" y="4005996"/>
            <a:ext cx="4989989" cy="244564"/>
          </a:xfrm>
          <a:prstGeom prst="rect">
            <a:avLst/>
          </a:prstGeom>
          <a:noFill/>
          <a:ln/>
        </p:spPr>
        <p:txBody>
          <a:bodyPr wrap="none" lIns="0" tIns="0" rIns="0" bIns="0" rtlCol="0" anchor="t"/>
          <a:lstStyle/>
          <a:p>
            <a:pPr algn="l" indent="0" marL="0">
              <a:buNone/>
            </a:pPr>
            <a:r>
              <a:rPr lang="en-US" sz="1376" dirty="0">
                <a:solidFill>
                  <a:srgbClr val="646973"/>
                </a:solidFill>
                <a:latin typeface="Albert Sans" pitchFamily="34" charset="0"/>
                <a:ea typeface="Albert Sans" pitchFamily="34" charset="-122"/>
                <a:cs typeface="Albert Sans" pitchFamily="34" charset="-120"/>
              </a:rPr>
              <a:t>applications, spreadsheets, email threads, and reporting files.</a:t>
            </a:r>
            <a:endParaRPr lang="en-US" sz="1376" dirty="0"/>
          </a:p>
        </p:txBody>
      </p:sp>
      <p:sp>
        <p:nvSpPr>
          <p:cNvPr id="12" name="Editable text 10: That makes reviews slower, ownership less clear, and fo"/>
          <p:cNvSpPr/>
          <p:nvPr/>
        </p:nvSpPr>
        <p:spPr>
          <a:xfrm>
            <a:off x="832247" y="4253646"/>
            <a:ext cx="5157618" cy="244564"/>
          </a:xfrm>
          <a:prstGeom prst="rect">
            <a:avLst/>
          </a:prstGeom>
          <a:noFill/>
          <a:ln/>
        </p:spPr>
        <p:txBody>
          <a:bodyPr wrap="none" lIns="0" tIns="0" rIns="0" bIns="0" rtlCol="0" anchor="t"/>
          <a:lstStyle/>
          <a:p>
            <a:pPr algn="l" indent="0" marL="0">
              <a:buNone/>
            </a:pPr>
            <a:r>
              <a:rPr lang="en-US" sz="1376" dirty="0">
                <a:solidFill>
                  <a:srgbClr val="646973"/>
                </a:solidFill>
                <a:latin typeface="Albert Sans" pitchFamily="34" charset="0"/>
                <a:ea typeface="Albert Sans" pitchFamily="34" charset="-122"/>
                <a:cs typeface="Albert Sans" pitchFamily="34" charset="-120"/>
              </a:rPr>
              <a:t>That makes reviews slower, ownership less clear, and follow-up</a:t>
            </a:r>
            <a:endParaRPr lang="en-US" sz="1376" dirty="0"/>
          </a:p>
        </p:txBody>
      </p:sp>
      <p:sp>
        <p:nvSpPr>
          <p:cNvPr id="13" name="Editable text 11: harder to manage."/>
          <p:cNvSpPr/>
          <p:nvPr/>
        </p:nvSpPr>
        <p:spPr>
          <a:xfrm>
            <a:off x="832247" y="4501296"/>
            <a:ext cx="1556778" cy="244564"/>
          </a:xfrm>
          <a:prstGeom prst="rect">
            <a:avLst/>
          </a:prstGeom>
          <a:noFill/>
          <a:ln/>
        </p:spPr>
        <p:txBody>
          <a:bodyPr wrap="none" lIns="0" tIns="0" rIns="0" bIns="0" rtlCol="0" anchor="t"/>
          <a:lstStyle/>
          <a:p>
            <a:pPr algn="l" indent="0" marL="0">
              <a:buNone/>
            </a:pPr>
            <a:r>
              <a:rPr lang="en-US" sz="1376" dirty="0">
                <a:solidFill>
                  <a:srgbClr val="646973"/>
                </a:solidFill>
                <a:latin typeface="Albert Sans" pitchFamily="34" charset="0"/>
                <a:ea typeface="Albert Sans" pitchFamily="34" charset="-122"/>
                <a:cs typeface="Albert Sans" pitchFamily="34" charset="-120"/>
              </a:rPr>
              <a:t>harder to manage.</a:t>
            </a:r>
            <a:endParaRPr lang="en-US" sz="1376" dirty="0"/>
          </a:p>
        </p:txBody>
      </p:sp>
      <p:sp>
        <p:nvSpPr>
          <p:cNvPr id="14" name="Editable text 12: Why this solution"/>
          <p:cNvSpPr/>
          <p:nvPr/>
        </p:nvSpPr>
        <p:spPr>
          <a:xfrm>
            <a:off x="832247" y="5456587"/>
            <a:ext cx="1922715" cy="338709"/>
          </a:xfrm>
          <a:prstGeom prst="rect">
            <a:avLst/>
          </a:prstGeom>
          <a:noFill/>
          <a:ln/>
        </p:spPr>
        <p:txBody>
          <a:bodyPr wrap="none" lIns="0" tIns="0" rIns="0" bIns="0" rtlCol="0" anchor="t"/>
          <a:lstStyle/>
          <a:p>
            <a:pPr algn="l" indent="0" marL="0">
              <a:buNone/>
            </a:pPr>
            <a:r>
              <a:rPr lang="en-US" sz="1905" spc="-67" kern="0" dirty="0">
                <a:solidFill>
                  <a:srgbClr val="3C4ED6"/>
                </a:solidFill>
                <a:latin typeface="Albert Sans Medium" pitchFamily="34" charset="0"/>
                <a:ea typeface="Albert Sans Medium" pitchFamily="34" charset="-122"/>
                <a:cs typeface="Albert Sans Medium" pitchFamily="34" charset="-120"/>
              </a:rPr>
              <a:t>Why this solution</a:t>
            </a:r>
            <a:endParaRPr lang="en-US" sz="1905" dirty="0"/>
          </a:p>
        </p:txBody>
      </p:sp>
      <p:sp>
        <p:nvSpPr>
          <p:cNvPr id="15" name="Editable text 13: A shared tech stack connects intake, review, awards,"/>
          <p:cNvSpPr/>
          <p:nvPr/>
        </p:nvSpPr>
        <p:spPr>
          <a:xfrm>
            <a:off x="832247" y="5834796"/>
            <a:ext cx="4301450" cy="244564"/>
          </a:xfrm>
          <a:prstGeom prst="rect">
            <a:avLst/>
          </a:prstGeom>
          <a:noFill/>
          <a:ln/>
        </p:spPr>
        <p:txBody>
          <a:bodyPr wrap="none" lIns="0" tIns="0" rIns="0" bIns="0" rtlCol="0" anchor="t"/>
          <a:lstStyle/>
          <a:p>
            <a:pPr algn="l" indent="0" marL="0">
              <a:buNone/>
            </a:pPr>
            <a:r>
              <a:rPr lang="en-US" sz="1376" dirty="0">
                <a:solidFill>
                  <a:srgbClr val="646973"/>
                </a:solidFill>
                <a:latin typeface="Albert Sans" pitchFamily="34" charset="0"/>
                <a:ea typeface="Albert Sans" pitchFamily="34" charset="-122"/>
                <a:cs typeface="Albert Sans" pitchFamily="34" charset="-120"/>
              </a:rPr>
              <a:t>A shared tech stack connects intake, review, awards,</a:t>
            </a:r>
            <a:endParaRPr lang="en-US" sz="1376" dirty="0"/>
          </a:p>
        </p:txBody>
      </p:sp>
      <p:sp>
        <p:nvSpPr>
          <p:cNvPr id="16" name="Editable text 14: compliance, and reporting in one place, so staff can co"/>
          <p:cNvSpPr/>
          <p:nvPr/>
        </p:nvSpPr>
        <p:spPr>
          <a:xfrm>
            <a:off x="832247" y="6072921"/>
            <a:ext cx="5153773" cy="244564"/>
          </a:xfrm>
          <a:prstGeom prst="rect">
            <a:avLst/>
          </a:prstGeom>
          <a:noFill/>
          <a:ln/>
        </p:spPr>
        <p:txBody>
          <a:bodyPr wrap="none" lIns="0" tIns="0" rIns="0" bIns="0" rtlCol="0" anchor="t"/>
          <a:lstStyle/>
          <a:p>
            <a:pPr algn="l" indent="0" marL="0">
              <a:buNone/>
            </a:pPr>
            <a:r>
              <a:rPr lang="en-US" sz="1376" dirty="0">
                <a:solidFill>
                  <a:srgbClr val="646973"/>
                </a:solidFill>
                <a:latin typeface="Albert Sans" pitchFamily="34" charset="0"/>
                <a:ea typeface="Albert Sans" pitchFamily="34" charset="-122"/>
                <a:cs typeface="Albert Sans" pitchFamily="34" charset="-120"/>
              </a:rPr>
              <a:t>compliance, and reporting in one place, so staff can coordinate</a:t>
            </a:r>
            <a:endParaRPr lang="en-US" sz="1376" dirty="0"/>
          </a:p>
        </p:txBody>
      </p:sp>
      <p:sp>
        <p:nvSpPr>
          <p:cNvPr id="17" name="Editable text 15: decisions and keep grantee information current."/>
          <p:cNvSpPr/>
          <p:nvPr/>
        </p:nvSpPr>
        <p:spPr>
          <a:xfrm>
            <a:off x="832247" y="6320571"/>
            <a:ext cx="3940963" cy="244564"/>
          </a:xfrm>
          <a:prstGeom prst="rect">
            <a:avLst/>
          </a:prstGeom>
          <a:noFill/>
          <a:ln/>
        </p:spPr>
        <p:txBody>
          <a:bodyPr wrap="none" lIns="0" tIns="0" rIns="0" bIns="0" rtlCol="0" anchor="t"/>
          <a:lstStyle/>
          <a:p>
            <a:pPr algn="l" indent="0" marL="0">
              <a:buNone/>
            </a:pPr>
            <a:r>
              <a:rPr lang="en-US" sz="1376" dirty="0">
                <a:solidFill>
                  <a:srgbClr val="646973"/>
                </a:solidFill>
                <a:latin typeface="Albert Sans" pitchFamily="34" charset="0"/>
                <a:ea typeface="Albert Sans" pitchFamily="34" charset="-122"/>
                <a:cs typeface="Albert Sans" pitchFamily="34" charset="-120"/>
              </a:rPr>
              <a:t>decisions and keep grantee information current.</a:t>
            </a:r>
            <a:endParaRPr lang="en-US" sz="1376" dirty="0"/>
          </a:p>
        </p:txBody>
      </p:sp>
      <p:sp>
        <p:nvSpPr>
          <p:cNvPr id="18" name="Editable text 16: Proposed operating model. Illustrative interface with s"/>
          <p:cNvSpPr/>
          <p:nvPr/>
        </p:nvSpPr>
        <p:spPr>
          <a:xfrm>
            <a:off x="594271" y="7133563"/>
            <a:ext cx="7328467" cy="197491"/>
          </a:xfrm>
          <a:prstGeom prst="rect">
            <a:avLst/>
          </a:prstGeom>
          <a:noFill/>
          <a:ln/>
        </p:spPr>
        <p:txBody>
          <a:bodyPr wrap="none" lIns="0" tIns="0" rIns="0" bIns="0" rtlCol="0" anchor="t"/>
          <a:lstStyle/>
          <a:p>
            <a:pPr algn="l" indent="0" marL="0">
              <a:buNone/>
            </a:pPr>
            <a:r>
              <a:rPr lang="en-US" sz="1111" dirty="0">
                <a:solidFill>
                  <a:srgbClr val="646973"/>
                </a:solidFill>
                <a:latin typeface="Albert Sans" pitchFamily="34" charset="0"/>
                <a:ea typeface="Albert Sans" pitchFamily="34" charset="-122"/>
                <a:cs typeface="Albert Sans" pitchFamily="34" charset="-120"/>
              </a:rPr>
              <a:t>Proposed operating model. Illustrative interface with sample data, not a deployed grantee-management system.</a:t>
            </a:r>
            <a:endParaRPr lang="en-US" sz="1111" dirty="0"/>
          </a:p>
        </p:txBody>
      </p:sp>
      <p:sp>
        <p:nvSpPr>
          <p:cNvPr id="19" name="Editable text 17: Case study 03 · Grantee Management Tech Stack"/>
          <p:cNvSpPr/>
          <p:nvPr/>
        </p:nvSpPr>
        <p:spPr>
          <a:xfrm>
            <a:off x="594271" y="7688980"/>
            <a:ext cx="3904668"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Case study 03 · Grantee Management Tech Stack</a:t>
            </a:r>
            <a:endParaRPr lang="en-US" sz="1323" dirty="0"/>
          </a:p>
        </p:txBody>
      </p:sp>
      <p:sp>
        <p:nvSpPr>
          <p:cNvPr id="20" name="Editable text 18: 02 / 3"/>
          <p:cNvSpPr/>
          <p:nvPr/>
        </p:nvSpPr>
        <p:spPr>
          <a:xfrm>
            <a:off x="13581311" y="7688980"/>
            <a:ext cx="547196"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02 / 3</a:t>
            </a:r>
            <a:endParaRPr lang="en-US" sz="1323" dirty="0"/>
          </a:p>
        </p:txBody>
      </p:sp>
      <p:sp>
        <p:nvSpPr>
          <p:cNvPr id="21" name="Editable text 19: /"/>
          <p:cNvSpPr/>
          <p:nvPr/>
        </p:nvSpPr>
        <p:spPr>
          <a:xfrm>
            <a:off x="1196429" y="421405"/>
            <a:ext cx="146010"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a:t>
            </a:r>
            <a:endParaRPr lang="en-US" sz="132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Non-text design artwork" descr="Original illustrations, icons, and decorative layout. All presentation text is in separate editable text boxes.">    </p:cNvPr>
          <p:cNvPicPr>
            <a:picLocks noChangeAspect="1"/>
          </p:cNvPicPr>
          <p:nvPr/>
        </p:nvPicPr>
        <p:blipFill>
          <a:blip r:embed="rId1"/>
          <a:stretch>
            <a:fillRect/>
          </a:stretch>
        </p:blipFill>
        <p:spPr>
          <a:xfrm>
            <a:off x="0" y="0"/>
            <a:ext cx="14630400" cy="8229600"/>
          </a:xfrm>
          <a:prstGeom prst="rect">
            <a:avLst/>
          </a:prstGeom>
        </p:spPr>
      </p:pic>
      <p:sp>
        <p:nvSpPr>
          <p:cNvPr id="3" name="Editable text 1: HR&amp;amp;A "/>
          <p:cNvSpPr/>
          <p:nvPr/>
        </p:nvSpPr>
        <p:spPr>
          <a:xfrm>
            <a:off x="594271" y="421405"/>
            <a:ext cx="593738"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HR&amp;A </a:t>
            </a:r>
            <a:endParaRPr lang="en-US" sz="1323" dirty="0"/>
          </a:p>
        </p:txBody>
      </p:sp>
      <p:sp>
        <p:nvSpPr>
          <p:cNvPr id="4" name="Editable text 2:  Tech &amp;amp; Society Studio"/>
          <p:cNvSpPr/>
          <p:nvPr/>
        </p:nvSpPr>
        <p:spPr>
          <a:xfrm>
            <a:off x="1350764" y="421405"/>
            <a:ext cx="1830866"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 Tech &amp; Society Studio</a:t>
            </a:r>
            <a:endParaRPr lang="en-US" sz="1323" dirty="0"/>
          </a:p>
        </p:txBody>
      </p:sp>
      <p:sp>
        <p:nvSpPr>
          <p:cNvPr id="5" name="Editable text 3: Grantee management · Operating model"/>
          <p:cNvSpPr/>
          <p:nvPr/>
        </p:nvSpPr>
        <p:spPr>
          <a:xfrm>
            <a:off x="10912822" y="421405"/>
            <a:ext cx="3215666"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Grantee management · Operating model</a:t>
            </a:r>
            <a:endParaRPr lang="en-US" sz="1323" dirty="0"/>
          </a:p>
        </p:txBody>
      </p:sp>
      <p:sp>
        <p:nvSpPr>
          <p:cNvPr id="6" name="Editable text 4: The operating model"/>
          <p:cNvSpPr/>
          <p:nvPr/>
        </p:nvSpPr>
        <p:spPr>
          <a:xfrm>
            <a:off x="594271" y="970621"/>
            <a:ext cx="1845616" cy="254032"/>
          </a:xfrm>
          <a:prstGeom prst="rect">
            <a:avLst/>
          </a:prstGeom>
          <a:noFill/>
          <a:ln/>
        </p:spPr>
        <p:txBody>
          <a:bodyPr wrap="none" lIns="0" tIns="0" rIns="0" bIns="0" rtlCol="0" anchor="t"/>
          <a:lstStyle/>
          <a:p>
            <a:pPr algn="l" indent="0" marL="0">
              <a:buNone/>
            </a:pPr>
            <a:r>
              <a:rPr lang="en-US" sz="1429" dirty="0">
                <a:solidFill>
                  <a:srgbClr val="3C4ED6"/>
                </a:solidFill>
                <a:latin typeface="Albert Sans Medium" pitchFamily="34" charset="0"/>
                <a:ea typeface="Albert Sans Medium" pitchFamily="34" charset="-122"/>
                <a:cs typeface="Albert Sans Medium" pitchFamily="34" charset="-120"/>
              </a:rPr>
              <a:t>The operating model</a:t>
            </a:r>
            <a:endParaRPr lang="en-US" sz="1429" dirty="0"/>
          </a:p>
        </p:txBody>
      </p:sp>
      <p:sp>
        <p:nvSpPr>
          <p:cNvPr id="7" name="Editable text 5: The tech stack connects"/>
          <p:cNvSpPr/>
          <p:nvPr/>
        </p:nvSpPr>
        <p:spPr>
          <a:xfrm>
            <a:off x="594271" y="1333638"/>
            <a:ext cx="6277653" cy="827970"/>
          </a:xfrm>
          <a:prstGeom prst="rect">
            <a:avLst/>
          </a:prstGeom>
          <a:noFill/>
          <a:ln/>
        </p:spPr>
        <p:txBody>
          <a:bodyPr wrap="none" lIns="0" tIns="0" rIns="0" bIns="0" rtlCol="0" anchor="t"/>
          <a:lstStyle/>
          <a:p>
            <a:pPr algn="l" indent="0" marL="0">
              <a:buNone/>
            </a:pPr>
            <a:r>
              <a:rPr lang="en-US" sz="4657" spc="-256" kern="0" dirty="0">
                <a:solidFill>
                  <a:srgbClr val="17191E"/>
                </a:solidFill>
                <a:latin typeface="Albert Sans Medium" pitchFamily="34" charset="0"/>
                <a:ea typeface="Albert Sans Medium" pitchFamily="34" charset="-122"/>
                <a:cs typeface="Albert Sans Medium" pitchFamily="34" charset="-120"/>
              </a:rPr>
              <a:t>The tech stack connects</a:t>
            </a:r>
            <a:endParaRPr lang="en-US" sz="4657" dirty="0"/>
          </a:p>
        </p:txBody>
      </p:sp>
      <p:sp>
        <p:nvSpPr>
          <p:cNvPr id="8" name="Editable text 6: applications to decisions and follow-through."/>
          <p:cNvSpPr/>
          <p:nvPr/>
        </p:nvSpPr>
        <p:spPr>
          <a:xfrm>
            <a:off x="594271" y="1943238"/>
            <a:ext cx="11178170" cy="827970"/>
          </a:xfrm>
          <a:prstGeom prst="rect">
            <a:avLst/>
          </a:prstGeom>
          <a:noFill/>
          <a:ln/>
        </p:spPr>
        <p:txBody>
          <a:bodyPr wrap="none" lIns="0" tIns="0" rIns="0" bIns="0" rtlCol="0" anchor="t"/>
          <a:lstStyle/>
          <a:p>
            <a:pPr algn="l" indent="0" marL="0">
              <a:buNone/>
            </a:pPr>
            <a:r>
              <a:rPr lang="en-US" sz="4657" spc="-256" kern="0" dirty="0">
                <a:solidFill>
                  <a:srgbClr val="3C4ED6"/>
                </a:solidFill>
                <a:latin typeface="Albert Sans Medium" pitchFamily="34" charset="0"/>
                <a:ea typeface="Albert Sans Medium" pitchFamily="34" charset="-122"/>
                <a:cs typeface="Albert Sans Medium" pitchFamily="34" charset="-120"/>
              </a:rPr>
              <a:t>applications to decisions and follow-through.</a:t>
            </a:r>
            <a:endParaRPr lang="en-US" sz="4657" dirty="0"/>
          </a:p>
        </p:txBody>
      </p:sp>
      <p:sp>
        <p:nvSpPr>
          <p:cNvPr id="9" name="Editable text 7: The system links the applicant record, the grant record"/>
          <p:cNvSpPr/>
          <p:nvPr/>
        </p:nvSpPr>
        <p:spPr>
          <a:xfrm>
            <a:off x="594271" y="2802345"/>
            <a:ext cx="12924020" cy="319907"/>
          </a:xfrm>
          <a:prstGeom prst="rect">
            <a:avLst/>
          </a:prstGeom>
          <a:noFill/>
          <a:ln/>
        </p:spPr>
        <p:txBody>
          <a:bodyPr wrap="none" lIns="0" tIns="0" rIns="0" bIns="0" rtlCol="0" anchor="t"/>
          <a:lstStyle/>
          <a:p>
            <a:pPr algn="l" indent="0" marL="0">
              <a:buNone/>
            </a:pPr>
            <a:r>
              <a:rPr lang="en-US" sz="1799" dirty="0">
                <a:solidFill>
                  <a:srgbClr val="646973"/>
                </a:solidFill>
                <a:latin typeface="Albert Sans" pitchFamily="34" charset="0"/>
                <a:ea typeface="Albert Sans" pitchFamily="34" charset="-122"/>
                <a:cs typeface="Albert Sans" pitchFamily="34" charset="-120"/>
              </a:rPr>
              <a:t>The system links the applicant record, the grant record, reviewer activity, award requirements, and reporting so teams can</a:t>
            </a:r>
            <a:endParaRPr lang="en-US" sz="1799" dirty="0"/>
          </a:p>
        </p:txBody>
      </p:sp>
      <p:sp>
        <p:nvSpPr>
          <p:cNvPr id="10" name="Editable text 8: move from intake to closeout with context."/>
          <p:cNvSpPr/>
          <p:nvPr/>
        </p:nvSpPr>
        <p:spPr>
          <a:xfrm>
            <a:off x="594271" y="3145245"/>
            <a:ext cx="4610651" cy="319907"/>
          </a:xfrm>
          <a:prstGeom prst="rect">
            <a:avLst/>
          </a:prstGeom>
          <a:noFill/>
          <a:ln/>
        </p:spPr>
        <p:txBody>
          <a:bodyPr wrap="none" lIns="0" tIns="0" rIns="0" bIns="0" rtlCol="0" anchor="t"/>
          <a:lstStyle/>
          <a:p>
            <a:pPr algn="l" indent="0" marL="0">
              <a:buNone/>
            </a:pPr>
            <a:r>
              <a:rPr lang="en-US" sz="1799" dirty="0">
                <a:solidFill>
                  <a:srgbClr val="646973"/>
                </a:solidFill>
                <a:latin typeface="Albert Sans" pitchFamily="34" charset="0"/>
                <a:ea typeface="Albert Sans" pitchFamily="34" charset="-122"/>
                <a:cs typeface="Albert Sans" pitchFamily="34" charset="-120"/>
              </a:rPr>
              <a:t>move from intake to closeout with context.</a:t>
            </a:r>
            <a:endParaRPr lang="en-US" sz="1799" dirty="0"/>
          </a:p>
        </p:txBody>
      </p:sp>
      <p:sp>
        <p:nvSpPr>
          <p:cNvPr id="11" name="Editable text 9: Grant"/>
          <p:cNvSpPr/>
          <p:nvPr/>
        </p:nvSpPr>
        <p:spPr>
          <a:xfrm>
            <a:off x="6951613" y="4294361"/>
            <a:ext cx="882131" cy="395116"/>
          </a:xfrm>
          <a:prstGeom prst="rect">
            <a:avLst/>
          </a:prstGeom>
          <a:noFill/>
          <a:ln/>
        </p:spPr>
        <p:txBody>
          <a:bodyPr wrap="none" lIns="0" tIns="0" rIns="0" bIns="0" rtlCol="0" anchor="t"/>
          <a:lstStyle/>
          <a:p>
            <a:pPr algn="l" indent="0" marL="0">
              <a:buNone/>
            </a:pPr>
            <a:r>
              <a:rPr lang="en-US" sz="2222" dirty="0">
                <a:solidFill>
                  <a:srgbClr val="FFFFFF"/>
                </a:solidFill>
                <a:latin typeface="Albert Sans Medium" pitchFamily="34" charset="0"/>
                <a:ea typeface="Albert Sans Medium" pitchFamily="34" charset="-122"/>
                <a:cs typeface="Albert Sans Medium" pitchFamily="34" charset="-120"/>
              </a:rPr>
              <a:t>Grant</a:t>
            </a:r>
            <a:endParaRPr lang="en-US" sz="2222" dirty="0"/>
          </a:p>
        </p:txBody>
      </p:sp>
      <p:sp>
        <p:nvSpPr>
          <p:cNvPr id="12" name="Editable text 10: One relational record ties the workflow together, from "/>
          <p:cNvSpPr/>
          <p:nvPr/>
        </p:nvSpPr>
        <p:spPr>
          <a:xfrm>
            <a:off x="594271" y="7543138"/>
            <a:ext cx="6719302" cy="197491"/>
          </a:xfrm>
          <a:prstGeom prst="rect">
            <a:avLst/>
          </a:prstGeom>
          <a:noFill/>
          <a:ln/>
        </p:spPr>
        <p:txBody>
          <a:bodyPr wrap="none" lIns="0" tIns="0" rIns="0" bIns="0" rtlCol="0" anchor="t"/>
          <a:lstStyle/>
          <a:p>
            <a:pPr algn="l" indent="0" marL="0">
              <a:buNone/>
            </a:pPr>
            <a:r>
              <a:rPr lang="en-US" sz="1111" dirty="0">
                <a:solidFill>
                  <a:srgbClr val="646973"/>
                </a:solidFill>
                <a:latin typeface="Albert Sans" pitchFamily="34" charset="0"/>
                <a:ea typeface="Albert Sans" pitchFamily="34" charset="-122"/>
                <a:cs typeface="Albert Sans" pitchFamily="34" charset="-120"/>
              </a:rPr>
              <a:t>One relational record ties the workflow together, from intake through award, compliance, and closeout.</a:t>
            </a:r>
            <a:endParaRPr lang="en-US" sz="1111" dirty="0"/>
          </a:p>
        </p:txBody>
      </p:sp>
      <p:sp>
        <p:nvSpPr>
          <p:cNvPr id="13" name="Editable text 11: Case study 03 · Grantee Management Tech Stack"/>
          <p:cNvSpPr/>
          <p:nvPr/>
        </p:nvSpPr>
        <p:spPr>
          <a:xfrm>
            <a:off x="594271" y="7688980"/>
            <a:ext cx="3904668"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Case study 03 · Grantee Management Tech Stack</a:t>
            </a:r>
            <a:endParaRPr lang="en-US" sz="1323" dirty="0"/>
          </a:p>
        </p:txBody>
      </p:sp>
      <p:sp>
        <p:nvSpPr>
          <p:cNvPr id="14" name="Editable text 12: 03 / 3"/>
          <p:cNvSpPr/>
          <p:nvPr/>
        </p:nvSpPr>
        <p:spPr>
          <a:xfrm>
            <a:off x="13581608" y="7688980"/>
            <a:ext cx="546899" cy="235229"/>
          </a:xfrm>
          <a:prstGeom prst="rect">
            <a:avLst/>
          </a:prstGeom>
          <a:noFill/>
          <a:ln/>
        </p:spPr>
        <p:txBody>
          <a:bodyPr wrap="none" lIns="0" tIns="0" rIns="0" bIns="0" rtlCol="0" anchor="t"/>
          <a:lstStyle/>
          <a:p>
            <a:pPr algn="l" indent="0" marL="0">
              <a:buNone/>
            </a:pPr>
            <a:r>
              <a:rPr lang="en-US" sz="1323" dirty="0">
                <a:solidFill>
                  <a:srgbClr val="646973"/>
                </a:solidFill>
                <a:latin typeface="Albert Sans" pitchFamily="34" charset="0"/>
                <a:ea typeface="Albert Sans" pitchFamily="34" charset="-122"/>
                <a:cs typeface="Albert Sans" pitchFamily="34" charset="-120"/>
              </a:rPr>
              <a:t>03 / 3</a:t>
            </a:r>
            <a:endParaRPr lang="en-US" sz="1323" dirty="0"/>
          </a:p>
        </p:txBody>
      </p:sp>
      <p:sp>
        <p:nvSpPr>
          <p:cNvPr id="15" name="Editable text 13: /"/>
          <p:cNvSpPr/>
          <p:nvPr/>
        </p:nvSpPr>
        <p:spPr>
          <a:xfrm>
            <a:off x="1196429" y="421405"/>
            <a:ext cx="146010" cy="235229"/>
          </a:xfrm>
          <a:prstGeom prst="rect">
            <a:avLst/>
          </a:prstGeom>
          <a:noFill/>
          <a:ln/>
        </p:spPr>
        <p:txBody>
          <a:bodyPr wrap="none" lIns="0" tIns="0" rIns="0" bIns="0" rtlCol="0" anchor="t"/>
          <a:lstStyle/>
          <a:p>
            <a:pPr algn="l" indent="0" marL="0">
              <a:buNone/>
            </a:pPr>
            <a:r>
              <a:rPr lang="en-US" sz="1323" dirty="0">
                <a:solidFill>
                  <a:srgbClr val="17191E"/>
                </a:solidFill>
                <a:latin typeface="Albert Sans" pitchFamily="34" charset="0"/>
                <a:ea typeface="Albert Sans" pitchFamily="34" charset="-122"/>
                <a:cs typeface="Albert Sans" pitchFamily="34" charset="-120"/>
              </a:rPr>
              <a:t>/</a:t>
            </a:r>
            <a:endParaRPr lang="en-US" sz="1323" dirty="0"/>
          </a:p>
        </p:txBody>
      </p:sp>
      <p:sp>
        <p:nvSpPr>
          <p:cNvPr id="16" name="Editable text 14: The record at the center"/>
          <p:cNvSpPr/>
          <p:nvPr/>
        </p:nvSpPr>
        <p:spPr>
          <a:xfrm>
            <a:off x="6450062" y="4730029"/>
            <a:ext cx="1815030" cy="216294"/>
          </a:xfrm>
          <a:prstGeom prst="rect">
            <a:avLst/>
          </a:prstGeom>
          <a:noFill/>
          <a:ln/>
        </p:spPr>
        <p:txBody>
          <a:bodyPr wrap="none" lIns="0" tIns="0" rIns="0" bIns="0" rtlCol="0" anchor="t"/>
          <a:lstStyle/>
          <a:p>
            <a:pPr algn="l" indent="0" marL="0">
              <a:buNone/>
            </a:pPr>
            <a:r>
              <a:rPr lang="en-US" sz="1216" dirty="0">
                <a:solidFill>
                  <a:srgbClr val="FFFFFF"/>
                </a:solidFill>
                <a:latin typeface="Albert Sans" pitchFamily="34" charset="0"/>
                <a:ea typeface="Albert Sans" pitchFamily="34" charset="-122"/>
                <a:cs typeface="Albert Sans" pitchFamily="34" charset="-120"/>
              </a:rPr>
              <a:t>The record at the center</a:t>
            </a:r>
            <a:endParaRPr lang="en-US" sz="1216" dirty="0"/>
          </a:p>
        </p:txBody>
      </p:sp>
      <p:sp>
        <p:nvSpPr>
          <p:cNvPr id="17" name="Editable text 15: Applicant"/>
          <p:cNvSpPr/>
          <p:nvPr/>
        </p:nvSpPr>
        <p:spPr>
          <a:xfrm>
            <a:off x="1437531" y="6479129"/>
            <a:ext cx="973023" cy="291636"/>
          </a:xfrm>
          <a:prstGeom prst="rect">
            <a:avLst/>
          </a:prstGeom>
          <a:noFill/>
          <a:ln/>
        </p:spPr>
        <p:txBody>
          <a:bodyPr wrap="none" lIns="0" tIns="0" rIns="0" bIns="0" rtlCol="0" anchor="t"/>
          <a:lstStyle/>
          <a:p>
            <a:pPr algn="l" indent="0" marL="0">
              <a:buNone/>
            </a:pPr>
            <a:r>
              <a:rPr lang="en-US" sz="1640" spc="-57" kern="0" dirty="0">
                <a:solidFill>
                  <a:srgbClr val="17191E"/>
                </a:solidFill>
                <a:latin typeface="Albert Sans Medium" pitchFamily="34" charset="0"/>
                <a:ea typeface="Albert Sans Medium" pitchFamily="34" charset="-122"/>
                <a:cs typeface="Albert Sans Medium" pitchFamily="34" charset="-120"/>
              </a:rPr>
              <a:t>Applicant</a:t>
            </a:r>
            <a:endParaRPr lang="en-US" sz="1640" dirty="0"/>
          </a:p>
        </p:txBody>
      </p:sp>
      <p:sp>
        <p:nvSpPr>
          <p:cNvPr id="18" name="Editable text 16: Who is applying"/>
          <p:cNvSpPr/>
          <p:nvPr/>
        </p:nvSpPr>
        <p:spPr>
          <a:xfrm>
            <a:off x="1297037" y="6920779"/>
            <a:ext cx="1217185" cy="216294"/>
          </a:xfrm>
          <a:prstGeom prst="rect">
            <a:avLst/>
          </a:prstGeom>
          <a:noFill/>
          <a:ln/>
        </p:spPr>
        <p:txBody>
          <a:bodyPr wrap="none" lIns="0" tIns="0" rIns="0" bIns="0" rtlCol="0" anchor="t"/>
          <a:lstStyle/>
          <a:p>
            <a:pPr algn="l" indent="0" marL="0">
              <a:buNone/>
            </a:pPr>
            <a:r>
              <a:rPr lang="en-US" sz="1216" dirty="0">
                <a:solidFill>
                  <a:srgbClr val="646973"/>
                </a:solidFill>
                <a:latin typeface="Albert Sans" pitchFamily="34" charset="0"/>
                <a:ea typeface="Albert Sans" pitchFamily="34" charset="-122"/>
                <a:cs typeface="Albert Sans" pitchFamily="34" charset="-120"/>
              </a:rPr>
              <a:t>Who is applying</a:t>
            </a:r>
            <a:endParaRPr lang="en-US" sz="1216" dirty="0"/>
          </a:p>
        </p:txBody>
      </p:sp>
      <p:sp>
        <p:nvSpPr>
          <p:cNvPr id="19" name="Editable text 17: Review"/>
          <p:cNvSpPr/>
          <p:nvPr/>
        </p:nvSpPr>
        <p:spPr>
          <a:xfrm>
            <a:off x="4266902" y="6479129"/>
            <a:ext cx="766114" cy="291636"/>
          </a:xfrm>
          <a:prstGeom prst="rect">
            <a:avLst/>
          </a:prstGeom>
          <a:noFill/>
          <a:ln/>
        </p:spPr>
        <p:txBody>
          <a:bodyPr wrap="none" lIns="0" tIns="0" rIns="0" bIns="0" rtlCol="0" anchor="t"/>
          <a:lstStyle/>
          <a:p>
            <a:pPr algn="l" indent="0" marL="0">
              <a:buNone/>
            </a:pPr>
            <a:r>
              <a:rPr lang="en-US" sz="1640" spc="-57" kern="0" dirty="0">
                <a:solidFill>
                  <a:srgbClr val="17191E"/>
                </a:solidFill>
                <a:latin typeface="Albert Sans Medium" pitchFamily="34" charset="0"/>
                <a:ea typeface="Albert Sans Medium" pitchFamily="34" charset="-122"/>
                <a:cs typeface="Albert Sans Medium" pitchFamily="34" charset="-120"/>
              </a:rPr>
              <a:t>Review</a:t>
            </a:r>
            <a:endParaRPr lang="en-US" sz="1640" dirty="0"/>
          </a:p>
        </p:txBody>
      </p:sp>
      <p:sp>
        <p:nvSpPr>
          <p:cNvPr id="20" name="Editable text 18: Scores + comments"/>
          <p:cNvSpPr/>
          <p:nvPr/>
        </p:nvSpPr>
        <p:spPr>
          <a:xfrm>
            <a:off x="3878610" y="6920779"/>
            <a:ext cx="1505757" cy="216294"/>
          </a:xfrm>
          <a:prstGeom prst="rect">
            <a:avLst/>
          </a:prstGeom>
          <a:noFill/>
          <a:ln/>
        </p:spPr>
        <p:txBody>
          <a:bodyPr wrap="none" lIns="0" tIns="0" rIns="0" bIns="0" rtlCol="0" anchor="t"/>
          <a:lstStyle/>
          <a:p>
            <a:pPr algn="l" indent="0" marL="0">
              <a:buNone/>
            </a:pPr>
            <a:r>
              <a:rPr lang="en-US" sz="1216" dirty="0">
                <a:solidFill>
                  <a:srgbClr val="646973"/>
                </a:solidFill>
                <a:latin typeface="Albert Sans" pitchFamily="34" charset="0"/>
                <a:ea typeface="Albert Sans" pitchFamily="34" charset="-122"/>
                <a:cs typeface="Albert Sans" pitchFamily="34" charset="-120"/>
              </a:rPr>
              <a:t>Scores + comments</a:t>
            </a:r>
            <a:endParaRPr lang="en-US" sz="1216" dirty="0"/>
          </a:p>
        </p:txBody>
      </p:sp>
      <p:sp>
        <p:nvSpPr>
          <p:cNvPr id="21" name="Editable text 19: Award"/>
          <p:cNvSpPr/>
          <p:nvPr/>
        </p:nvSpPr>
        <p:spPr>
          <a:xfrm>
            <a:off x="7032575" y="6479129"/>
            <a:ext cx="686840" cy="291636"/>
          </a:xfrm>
          <a:prstGeom prst="rect">
            <a:avLst/>
          </a:prstGeom>
          <a:noFill/>
          <a:ln/>
        </p:spPr>
        <p:txBody>
          <a:bodyPr wrap="none" lIns="0" tIns="0" rIns="0" bIns="0" rtlCol="0" anchor="t"/>
          <a:lstStyle/>
          <a:p>
            <a:pPr algn="l" indent="0" marL="0">
              <a:buNone/>
            </a:pPr>
            <a:r>
              <a:rPr lang="en-US" sz="1640" spc="-57" kern="0" dirty="0">
                <a:solidFill>
                  <a:srgbClr val="17191E"/>
                </a:solidFill>
                <a:latin typeface="Albert Sans Medium" pitchFamily="34" charset="0"/>
                <a:ea typeface="Albert Sans Medium" pitchFamily="34" charset="-122"/>
                <a:cs typeface="Albert Sans Medium" pitchFamily="34" charset="-120"/>
              </a:rPr>
              <a:t>Award</a:t>
            </a:r>
            <a:endParaRPr lang="en-US" sz="1640" dirty="0"/>
          </a:p>
        </p:txBody>
      </p:sp>
      <p:sp>
        <p:nvSpPr>
          <p:cNvPr id="22" name="Editable text 20: Amount + terms"/>
          <p:cNvSpPr/>
          <p:nvPr/>
        </p:nvSpPr>
        <p:spPr>
          <a:xfrm>
            <a:off x="6737449" y="6920779"/>
            <a:ext cx="1240202" cy="216294"/>
          </a:xfrm>
          <a:prstGeom prst="rect">
            <a:avLst/>
          </a:prstGeom>
          <a:noFill/>
          <a:ln/>
        </p:spPr>
        <p:txBody>
          <a:bodyPr wrap="none" lIns="0" tIns="0" rIns="0" bIns="0" rtlCol="0" anchor="t"/>
          <a:lstStyle/>
          <a:p>
            <a:pPr algn="l" indent="0" marL="0">
              <a:buNone/>
            </a:pPr>
            <a:r>
              <a:rPr lang="en-US" sz="1216" dirty="0">
                <a:solidFill>
                  <a:srgbClr val="646973"/>
                </a:solidFill>
                <a:latin typeface="Albert Sans" pitchFamily="34" charset="0"/>
                <a:ea typeface="Albert Sans" pitchFamily="34" charset="-122"/>
                <a:cs typeface="Albert Sans" pitchFamily="34" charset="-120"/>
              </a:rPr>
              <a:t>Amount + terms</a:t>
            </a:r>
            <a:endParaRPr lang="en-US" sz="1216" dirty="0"/>
          </a:p>
        </p:txBody>
      </p:sp>
      <p:sp>
        <p:nvSpPr>
          <p:cNvPr id="23" name="Editable text 21: Requirements"/>
          <p:cNvSpPr/>
          <p:nvPr/>
        </p:nvSpPr>
        <p:spPr>
          <a:xfrm>
            <a:off x="9418588" y="6479129"/>
            <a:ext cx="1366747" cy="291636"/>
          </a:xfrm>
          <a:prstGeom prst="rect">
            <a:avLst/>
          </a:prstGeom>
          <a:noFill/>
          <a:ln/>
        </p:spPr>
        <p:txBody>
          <a:bodyPr wrap="none" lIns="0" tIns="0" rIns="0" bIns="0" rtlCol="0" anchor="t"/>
          <a:lstStyle/>
          <a:p>
            <a:pPr algn="l" indent="0" marL="0">
              <a:buNone/>
            </a:pPr>
            <a:r>
              <a:rPr lang="en-US" sz="1640" spc="-57" kern="0" dirty="0">
                <a:solidFill>
                  <a:srgbClr val="17191E"/>
                </a:solidFill>
                <a:latin typeface="Albert Sans Medium" pitchFamily="34" charset="0"/>
                <a:ea typeface="Albert Sans Medium" pitchFamily="34" charset="-122"/>
                <a:cs typeface="Albert Sans Medium" pitchFamily="34" charset="-120"/>
              </a:rPr>
              <a:t>Requirements</a:t>
            </a:r>
            <a:endParaRPr lang="en-US" sz="1640" dirty="0"/>
          </a:p>
        </p:txBody>
      </p:sp>
      <p:sp>
        <p:nvSpPr>
          <p:cNvPr id="24" name="Editable text 22: Deadlines + compliance"/>
          <p:cNvSpPr/>
          <p:nvPr/>
        </p:nvSpPr>
        <p:spPr>
          <a:xfrm>
            <a:off x="9187011" y="6920779"/>
            <a:ext cx="1792943" cy="216294"/>
          </a:xfrm>
          <a:prstGeom prst="rect">
            <a:avLst/>
          </a:prstGeom>
          <a:noFill/>
          <a:ln/>
        </p:spPr>
        <p:txBody>
          <a:bodyPr wrap="none" lIns="0" tIns="0" rIns="0" bIns="0" rtlCol="0" anchor="t"/>
          <a:lstStyle/>
          <a:p>
            <a:pPr algn="l" indent="0" marL="0">
              <a:buNone/>
            </a:pPr>
            <a:r>
              <a:rPr lang="en-US" sz="1216" dirty="0">
                <a:solidFill>
                  <a:srgbClr val="646973"/>
                </a:solidFill>
                <a:latin typeface="Albert Sans" pitchFamily="34" charset="0"/>
                <a:ea typeface="Albert Sans" pitchFamily="34" charset="-122"/>
                <a:cs typeface="Albert Sans" pitchFamily="34" charset="-120"/>
              </a:rPr>
              <a:t>Deadlines + compliance</a:t>
            </a:r>
            <a:endParaRPr lang="en-US" sz="1216" dirty="0"/>
          </a:p>
        </p:txBody>
      </p:sp>
      <p:sp>
        <p:nvSpPr>
          <p:cNvPr id="25" name="Editable text 23: Reporting"/>
          <p:cNvSpPr/>
          <p:nvPr/>
        </p:nvSpPr>
        <p:spPr>
          <a:xfrm>
            <a:off x="12326689" y="6479129"/>
            <a:ext cx="1002613" cy="291636"/>
          </a:xfrm>
          <a:prstGeom prst="rect">
            <a:avLst/>
          </a:prstGeom>
          <a:noFill/>
          <a:ln/>
        </p:spPr>
        <p:txBody>
          <a:bodyPr wrap="none" lIns="0" tIns="0" rIns="0" bIns="0" rtlCol="0" anchor="t"/>
          <a:lstStyle/>
          <a:p>
            <a:pPr algn="l" indent="0" marL="0">
              <a:buNone/>
            </a:pPr>
            <a:r>
              <a:rPr lang="en-US" sz="1640" spc="-57" kern="0" dirty="0">
                <a:solidFill>
                  <a:srgbClr val="17191E"/>
                </a:solidFill>
                <a:latin typeface="Albert Sans Medium" pitchFamily="34" charset="0"/>
                <a:ea typeface="Albert Sans Medium" pitchFamily="34" charset="-122"/>
                <a:cs typeface="Albert Sans Medium" pitchFamily="34" charset="-120"/>
              </a:rPr>
              <a:t>Reporting</a:t>
            </a:r>
            <a:endParaRPr lang="en-US" sz="1640" dirty="0"/>
          </a:p>
        </p:txBody>
      </p:sp>
      <p:sp>
        <p:nvSpPr>
          <p:cNvPr id="26" name="Editable text 24: Progress + outcomes"/>
          <p:cNvSpPr/>
          <p:nvPr/>
        </p:nvSpPr>
        <p:spPr>
          <a:xfrm>
            <a:off x="12009834" y="6920779"/>
            <a:ext cx="1599370" cy="216294"/>
          </a:xfrm>
          <a:prstGeom prst="rect">
            <a:avLst/>
          </a:prstGeom>
          <a:noFill/>
          <a:ln/>
        </p:spPr>
        <p:txBody>
          <a:bodyPr wrap="none" lIns="0" tIns="0" rIns="0" bIns="0" rtlCol="0" anchor="t"/>
          <a:lstStyle/>
          <a:p>
            <a:pPr algn="l" indent="0" marL="0">
              <a:buNone/>
            </a:pPr>
            <a:r>
              <a:rPr lang="en-US" sz="1216" dirty="0">
                <a:solidFill>
                  <a:srgbClr val="646973"/>
                </a:solidFill>
                <a:latin typeface="Albert Sans" pitchFamily="34" charset="0"/>
                <a:ea typeface="Albert Sans" pitchFamily="34" charset="-122"/>
                <a:cs typeface="Albert Sans" pitchFamily="34" charset="-120"/>
              </a:rPr>
              <a:t>Progress + outcomes</a:t>
            </a:r>
            <a:endParaRPr lang="en-US" sz="1216"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lbert Sans Medium"/>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bert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HR&amp;A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HR&amp;A Tech &amp; Society Studio</dc:title>
  <dc:subject>Editable text edition with original layout and embedded fonts</dc:subject>
  <dc:creator>HR&amp;A Tech &amp; Society Studio</dc:creator>
  <cp:lastModifiedBy>HR&amp;A Tech &amp; Society Studio</cp:lastModifiedBy>
  <cp:revision>2</cp:revision>
  <dcterms:created xsi:type="dcterms:W3CDTF">2026-09-23T17:40:40Z</dcterms:created>
  <dcterms:modified xsi:type="dcterms:W3CDTF">2026-09-23T17:40:40Z</dcterms:modified>
</cp:coreProperties>
</file>