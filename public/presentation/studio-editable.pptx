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fntdata" ContentType="application/x-fontdata"/>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0"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4630400" cy="8229600"/>
  <p:notesSz cx="8229600" cy="14630400"/>
  <p:embeddedFontLst>
    <p:embeddedFont>
      <p:font typeface="Albert Sans" pitchFamily="34" charset="0"/>
      <p:regular r:id="rIdEditableFont1"/>
    </p:embeddedFont>
    <p:embeddedFont>
      <p:font typeface="Albert Sans Medium" pitchFamily="34" charset="0"/>
      <p:regular r:id="rIdEditableFont2"/>
    </p:embeddedFont>
    <p:embeddedFont>
      <p:font typeface="Albert Sans SemiBold" pitchFamily="34" charset="0"/>
      <p:regular r:id="rIdEditableFont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EditableFont1" Type="http://schemas.openxmlformats.org/officeDocument/2006/relationships/font" Target="fonts/font1.fntdata"/><Relationship Id="rIdEditableFont2" Type="http://schemas.openxmlformats.org/officeDocument/2006/relationships/font" Target="fonts/font2.fntdata"/><Relationship Id="rIdEditableFont3" Type="http://schemas.openxmlformats.org/officeDocument/2006/relationships/font" Target="fonts/font3.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The studio
The studio
Tech &amp;
Society
Studio.
Custom digital products. Expertly built.
We turn public-interest expertise into custom
digital tools for the people who put it to work.
Built around people.
Studio + Product Systems
01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mission
Our mission
Make
expertise
useful.
We pair policy and program expertise with
data, design, and development to build tools
around your decisions, users, and operating
realities.
Custom fit.
Not off the shelf.
Expert-led.
From discovery onward.
Quality.
Tested against agreed
criteria.
$1.5B+
New York ConnectALL
Investment supported by
HR&amp;A as lead strategic
advisor and program manager.
39
Rhode Island
municipalities
Land-use datasets
standardized with state
planners and Go Consulting
Services.
&gt;35%
U.S. population
Served by HR&amp;A’s broadband
and digital-opportunity
clients.
Program scale, not product impact.
Expertise × Customization × Quality
02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advantage
Our advantage
Expertise before code.
We design digital tools from the realities of policy, service delivery, and public-interest operations.
Public-interest fluency
Broadband, digital equity,
policy, and service systems.
Product thinking
Decisions, workflows, and
user tasks.
Data design
Definitions, stewardship,
validation, and updates.
Technical delivery
Modern frontend,
accessibility, QA, and secure
implementation.
Working digital products for real-world use.
Expertise × Customization × Quality
03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methodology
Our methodology
Understand. Build. Prove.
An expert-led delivery approach: agree the problem, build with domain experts, and validate before handoff.
Understand
People + purpose
Build
Data + design
Prove
Experts + users
Frontend
Data model
QA
Accessibility
Privacy
Usability
Expertise × Customization × Quality
04 / 18
/
01
Map user tasks, source data, and
constraints.
02
Prototype a workflow around your
program.
03
Test priority tasks; assign update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How we build
How we build
Quality is a
design decision.
Useful tools depend on strong data design,
careful QA, and accessible, responsible
implementation.
The data foundation
Records
source the right evidence
Definitions
structure a usable model
Checks
validate with expert judgment
Updates
assign named ownership
The build standard
Accurate
source checks and expert review
Accessible
keyboard, screen reader, contrast
Responsible
privacy, security, clear limits
Useful
real tasks and user testing
Responsive
works across desktop, tablet, and phone
Maintainable
clear ownership and update paths
Accessibility is tested, not assumed.
Expertise × Customization × Quality
05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solutions
Our solutions
Proven product patterns.
Adapted to your context.
Guided service navigation
Connect residents or staff to the right
local resource.
Ecosystem intelligence
Understand organizations, relationships,
and service networks.
Decision-support dashboards
Organize evidence for planning,
coordination, and action.
Not a template. A starting pattern customized to your people, evidence, and operating model.
Expertise × Customization × Quality
06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Case study 01 · Clark County
Case study 01 · Clark County
A clearer
way to
connect.
Guided service navigation | Clark County Digital Equity
Assistant
The assistant helps county staff and partners find internet,
training, and device resources for residents.
Internet
Skills
Devices
Responsive web product
English / Español interface
Case study 01 · Clark County Digital Equity Assistant
07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Clark County · Why this solution
The product logic
From a resident’s need
to relevant support.
The assistant turns a broad service problem into a short, legible path staff can use in real time.
Why it works
It reduces the search
burden.
Staff start with the person’s need and
place, then move toward a practical
referral.
Guardrail The tool supports referrals. Providers confirm availability and eligibility; staff retain judgment.
Case study 01 · Clark County Digital Equity Assistant
08 / 18
/
1
Need
Internet, skills, or
devices
2
Place
Confirm the
resident’s location
3
Match
Surface relevant
local options
4
Referral
Review providers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Clark County · Product experience
The frontend experience
A task. A place. A next step.
The interface is organized around the work staff need to do, rather than the structure of the underlying data.
1
Start simply
Three clear entry points: internet, skills, or devices.
2
Make it local
An address guides the search toward relevant local resources.
3
Move forward
Show options and provider contacts that support a referral.
4
Design for access
English / Español plus one responsive web experience.
Case study 01 · Clark County Digital Equity Assistant
09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Clark County · In context
In context
Support the
conversation.
Staff can guide a resident through focused questions, discuss relevant
options, and make the next step clearer. The product supports human
judgment rather than replacing it.
Local programs
Surface relevant resources.
Guided questions
Turn a need into a usable pathway.
Human judgment
Keep staff in control of the referral.
Case study 01 · Clark County Digital Equity Assistant
10 / 18
/
Illustrative stock photo · actual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Clark County · Responsive by design
One responsive web product
Where the work happens.
The same web product works across desktop, tablet, and phone so staff can use it at a desk, side by side with a resident, or in the field.
At the desk
Detailed search and referral work.
Side by side
Shared conversation with a resident.
In the community
Portable access during outreach.
Build standard: responsive layout · keyboard usability · readable contrast · English / Español interface.
Case study 01 · Clark County Digital Equity Assistant
11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Clark County · Data foundation
Data foundation
A living service directory
needs governance.
The product is only as useful as the information behind it. The operating model defines what gets stored, who validates it, and
how it stays current.
Source
Program records, service
categories, provider details, and
geography.
Structure
Common fields and definitions so
resources can be compared.
Validate
Providers confirm availability and
eligibility; staff can flag issues.
Steward
Named ownership and update paths
keep the directory usable.
The principle The tool supports referrals. It does not assert that a resident is eligible or that a provider has current availability.
Case study 01 · Clark County Digital Equity Assistant
12 / 18
/
01
02
03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Case study 02 · MHM ecosystem
Case study 02 · MHM ecosystem
See the network.
See the opportunity.
Ecosystem intelligence | Regional grantee &amp; organization network
MHM’s ecosystem tool turns a regional set of
organizations, grants, services, and relationships into an
interactive view program teams can explore.
Organizations
Connections
Services
Funding
Case study 02 · MHM ecosystem intelligence
13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MHM · Why this solution
The problem &amp; approach
See the relationships,
not just the records.
The problem
Understanding a regional ecosystem means seeing who
provides which services, where they work, how funding
flows, and how organizations connect.
Why this solution
An interactive network makes those relationships visible.
Filters and organization details connect the wider picture
to funding, reported reach, and service focus.
Supports exploration. Available data is a partial operating picture, not audited impact.
Case study 02 · MHM ecosystem intelligence
14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MHM · Data model
The interface sits on a relational model
A data model built for
ecosystem questions.
The tool connects different kinds of evidence so users can move from a regional pattern to the organizations and records
behind it.
Organization
This structure supports regional filters, organization detail views, and relationship analysis.
Case study 02 · MHM ecosystem intelligence
15 / 18
/
The record at the center
Region
Where it operates
Service type
What it provides
Grant
Funding + period
Relationship
Who it connects to
Reported reach
What is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MHM · Product experience
From ecosystem to organization
Explore. Focus. Understand.
Users can filter the network, select an organization, and review grant context, reported reach, and connections without leaving
the workflow.
1
Explore
Compare regional relationships across the network.
2
Focus
Filter by service type and grantee status.
3
Understand
Open an organization to see the records behind the
node.
Case study 02 · MHM ecosystem intelligence
16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MHM · In context
A shared picture for better discussion
Designed for exploration,
not automated decisions.
The network helps teams ask better questions. It should inform
discussion, coordination, and follow-up rather than automate funding
or performance judgments.
Find partners
Identify organizations
connected to the same
service area or network.
See concentration
Spot where services, grantees,
or relationships cluster.
Investigate gaps
Frame questions about
missing or weakly connected
capacity.
Ground discussion
Move from an abstract picture
to specific organizations.
Case study 02 · MHM ecosystem intelligence
17 / 18
/
Illustrative stock photo · shared exploration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offering
Our offering
Two tools.
A broader
capability.
Clark County and MHM show different product patterns built
from one studio capability: domain expertise, data design,
frontend delivery, QA, and responsible implementation.
Custom products. Expertly built.
Guided service navigation
When people need to move from a
need and place to a practical next
step across fragmented programs.
Public agencies · service networks · digital
opportunity programs
Ecosystem intelligence
When teams need a shared view of
organizations, relationships,
funding, services, or regional
capacity.
Intermediaries · foundations · regional
collaboratives · networks
Bring us the user, the decision, and the operating context. We will
scope the product around your need.
Explore the chatbot
18 / 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The studio"/>
          <p:cNvSpPr/>
          <p:nvPr/>
        </p:nvSpPr>
        <p:spPr>
          <a:xfrm>
            <a:off x="13219509" y="421405"/>
            <a:ext cx="90905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The studio</a:t>
            </a:r>
            <a:endParaRPr lang="en-US" sz="1323" dirty="0"/>
          </a:p>
        </p:txBody>
      </p:sp>
      <p:sp>
        <p:nvSpPr>
          <p:cNvPr id="6" name="Editable text 4: The studio"/>
          <p:cNvSpPr/>
          <p:nvPr/>
        </p:nvSpPr>
        <p:spPr>
          <a:xfrm>
            <a:off x="594271" y="1046821"/>
            <a:ext cx="985693"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The studio</a:t>
            </a:r>
            <a:endParaRPr lang="en-US" sz="1429" dirty="0"/>
          </a:p>
        </p:txBody>
      </p:sp>
      <p:sp>
        <p:nvSpPr>
          <p:cNvPr id="7" name="Editable text 5: Tech &amp;amp;"/>
          <p:cNvSpPr/>
          <p:nvPr/>
        </p:nvSpPr>
        <p:spPr>
          <a:xfrm>
            <a:off x="594271" y="1368200"/>
            <a:ext cx="4406459" cy="1787690"/>
          </a:xfrm>
          <a:prstGeom prst="rect">
            <a:avLst/>
          </a:prstGeom>
          <a:noFill/>
          <a:ln/>
        </p:spPr>
        <p:txBody>
          <a:bodyPr wrap="none" lIns="0" tIns="0" rIns="0" bIns="0" rtlCol="0" anchor="t"/>
          <a:lstStyle/>
          <a:p>
            <a:pPr algn="l" indent="0" marL="0">
              <a:buNone/>
            </a:pPr>
            <a:r>
              <a:rPr lang="en-US" sz="10054" spc="-553" kern="0" dirty="0">
                <a:solidFill>
                  <a:srgbClr val="17191E"/>
                </a:solidFill>
                <a:latin typeface="Albert Sans Medium" pitchFamily="34" charset="0"/>
                <a:ea typeface="Albert Sans Medium" pitchFamily="34" charset="-122"/>
                <a:cs typeface="Albert Sans Medium" pitchFamily="34" charset="-120"/>
              </a:rPr>
              <a:t>Tech &amp;</a:t>
            </a:r>
            <a:endParaRPr lang="en-US" sz="10054" dirty="0"/>
          </a:p>
        </p:txBody>
      </p:sp>
      <p:sp>
        <p:nvSpPr>
          <p:cNvPr id="8" name="Editable text 6: Society"/>
          <p:cNvSpPr/>
          <p:nvPr/>
        </p:nvSpPr>
        <p:spPr>
          <a:xfrm>
            <a:off x="594271" y="2673125"/>
            <a:ext cx="4647469" cy="1787690"/>
          </a:xfrm>
          <a:prstGeom prst="rect">
            <a:avLst/>
          </a:prstGeom>
          <a:noFill/>
          <a:ln/>
        </p:spPr>
        <p:txBody>
          <a:bodyPr wrap="none" lIns="0" tIns="0" rIns="0" bIns="0" rtlCol="0" anchor="t"/>
          <a:lstStyle/>
          <a:p>
            <a:pPr algn="l" indent="0" marL="0">
              <a:buNone/>
            </a:pPr>
            <a:r>
              <a:rPr lang="en-US" sz="10054" spc="-553" kern="0" dirty="0">
                <a:solidFill>
                  <a:srgbClr val="17191E"/>
                </a:solidFill>
                <a:latin typeface="Albert Sans Medium" pitchFamily="34" charset="0"/>
                <a:ea typeface="Albert Sans Medium" pitchFamily="34" charset="-122"/>
                <a:cs typeface="Albert Sans Medium" pitchFamily="34" charset="-120"/>
              </a:rPr>
              <a:t>Society</a:t>
            </a:r>
            <a:endParaRPr lang="en-US" sz="10054" dirty="0"/>
          </a:p>
        </p:txBody>
      </p:sp>
      <p:sp>
        <p:nvSpPr>
          <p:cNvPr id="9" name="Editable text 7: Studio."/>
          <p:cNvSpPr/>
          <p:nvPr/>
        </p:nvSpPr>
        <p:spPr>
          <a:xfrm>
            <a:off x="594271" y="3978050"/>
            <a:ext cx="4342137" cy="1787690"/>
          </a:xfrm>
          <a:prstGeom prst="rect">
            <a:avLst/>
          </a:prstGeom>
          <a:noFill/>
          <a:ln/>
        </p:spPr>
        <p:txBody>
          <a:bodyPr wrap="none" lIns="0" tIns="0" rIns="0" bIns="0" rtlCol="0" anchor="t"/>
          <a:lstStyle/>
          <a:p>
            <a:pPr algn="l" indent="0" marL="0">
              <a:buNone/>
            </a:pPr>
            <a:r>
              <a:rPr lang="en-US" sz="10054" spc="-553" kern="0" dirty="0">
                <a:solidFill>
                  <a:srgbClr val="3C4ED6"/>
                </a:solidFill>
                <a:latin typeface="Albert Sans Medium" pitchFamily="34" charset="0"/>
                <a:ea typeface="Albert Sans Medium" pitchFamily="34" charset="-122"/>
                <a:cs typeface="Albert Sans Medium" pitchFamily="34" charset="-120"/>
              </a:rPr>
              <a:t>Studio.</a:t>
            </a:r>
            <a:endParaRPr lang="en-US" sz="10054" dirty="0"/>
          </a:p>
        </p:txBody>
      </p:sp>
      <p:sp>
        <p:nvSpPr>
          <p:cNvPr id="10" name="Editable text 8: Custom digital products. Expertly built."/>
          <p:cNvSpPr/>
          <p:nvPr/>
        </p:nvSpPr>
        <p:spPr>
          <a:xfrm>
            <a:off x="594271" y="5621703"/>
            <a:ext cx="4578699" cy="348044"/>
          </a:xfrm>
          <a:prstGeom prst="rect">
            <a:avLst/>
          </a:prstGeom>
          <a:noFill/>
          <a:ln/>
        </p:spPr>
        <p:txBody>
          <a:bodyPr wrap="none" lIns="0" tIns="0" rIns="0" bIns="0" rtlCol="0" anchor="t"/>
          <a:lstStyle/>
          <a:p>
            <a:pPr algn="l" indent="0" marL="0">
              <a:buNone/>
            </a:pPr>
            <a:r>
              <a:rPr lang="en-US" sz="1958" dirty="0">
                <a:solidFill>
                  <a:srgbClr val="17191E"/>
                </a:solidFill>
                <a:latin typeface="Albert Sans" pitchFamily="34" charset="0"/>
                <a:ea typeface="Albert Sans" pitchFamily="34" charset="-122"/>
                <a:cs typeface="Albert Sans" pitchFamily="34" charset="-120"/>
              </a:rPr>
              <a:t>Custom digital products. Expertly built.</a:t>
            </a:r>
            <a:endParaRPr lang="en-US" sz="1958" dirty="0"/>
          </a:p>
        </p:txBody>
      </p:sp>
      <p:sp>
        <p:nvSpPr>
          <p:cNvPr id="11" name="Editable text 9: We turn public-interest expertise into custom"/>
          <p:cNvSpPr/>
          <p:nvPr/>
        </p:nvSpPr>
        <p:spPr>
          <a:xfrm>
            <a:off x="594271" y="6078945"/>
            <a:ext cx="4915212"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We turn public-interest expertise into custom</a:t>
            </a:r>
            <a:endParaRPr lang="en-US" sz="1799" dirty="0"/>
          </a:p>
        </p:txBody>
      </p:sp>
      <p:sp>
        <p:nvSpPr>
          <p:cNvPr id="12" name="Editable text 10: digital tools for the people who put it to work."/>
          <p:cNvSpPr/>
          <p:nvPr/>
        </p:nvSpPr>
        <p:spPr>
          <a:xfrm>
            <a:off x="594271" y="6421845"/>
            <a:ext cx="4906269"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digital tools for the people who put it to work.</a:t>
            </a:r>
            <a:endParaRPr lang="en-US" sz="1799" dirty="0"/>
          </a:p>
        </p:txBody>
      </p:sp>
      <p:sp>
        <p:nvSpPr>
          <p:cNvPr id="13" name="Editable text 11: Built around people."/>
          <p:cNvSpPr/>
          <p:nvPr/>
        </p:nvSpPr>
        <p:spPr>
          <a:xfrm>
            <a:off x="1104900" y="6968138"/>
            <a:ext cx="1896006" cy="272834"/>
          </a:xfrm>
          <a:prstGeom prst="rect">
            <a:avLst/>
          </a:prstGeom>
          <a:noFill/>
          <a:ln/>
        </p:spPr>
        <p:txBody>
          <a:bodyPr wrap="none" lIns="0" tIns="0" rIns="0" bIns="0" rtlCol="0" anchor="t"/>
          <a:lstStyle/>
          <a:p>
            <a:pPr algn="l" indent="0" marL="0">
              <a:buNone/>
            </a:pPr>
            <a:r>
              <a:rPr lang="en-US" sz="1534" dirty="0">
                <a:solidFill>
                  <a:srgbClr val="3C4ED6"/>
                </a:solidFill>
                <a:latin typeface="Albert Sans" pitchFamily="34" charset="0"/>
                <a:ea typeface="Albert Sans" pitchFamily="34" charset="-122"/>
                <a:cs typeface="Albert Sans" pitchFamily="34" charset="-120"/>
              </a:rPr>
              <a:t>Built around people.</a:t>
            </a:r>
            <a:endParaRPr lang="en-US" sz="1534" dirty="0"/>
          </a:p>
        </p:txBody>
      </p:sp>
      <p:sp>
        <p:nvSpPr>
          <p:cNvPr id="14" name="Editable text 12: Studio + Product Systems"/>
          <p:cNvSpPr/>
          <p:nvPr/>
        </p:nvSpPr>
        <p:spPr>
          <a:xfrm>
            <a:off x="594271" y="7688980"/>
            <a:ext cx="208603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Studio + Product Systems</a:t>
            </a:r>
            <a:endParaRPr lang="en-US" sz="1323" dirty="0"/>
          </a:p>
        </p:txBody>
      </p:sp>
      <p:sp>
        <p:nvSpPr>
          <p:cNvPr id="15" name="Editable text 13: 01 / 18"/>
          <p:cNvSpPr/>
          <p:nvPr/>
        </p:nvSpPr>
        <p:spPr>
          <a:xfrm>
            <a:off x="13573869" y="7688980"/>
            <a:ext cx="55462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01 / 18</a:t>
            </a:r>
            <a:endParaRPr lang="en-US" sz="1323" dirty="0"/>
          </a:p>
        </p:txBody>
      </p:sp>
      <p:sp>
        <p:nvSpPr>
          <p:cNvPr id="16" name="Editable text 14: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mission"/>
          <p:cNvSpPr/>
          <p:nvPr/>
        </p:nvSpPr>
        <p:spPr>
          <a:xfrm>
            <a:off x="13113097" y="421405"/>
            <a:ext cx="1015490"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Our mission</a:t>
            </a:r>
            <a:endParaRPr lang="en-US" sz="1323" dirty="0"/>
          </a:p>
        </p:txBody>
      </p:sp>
      <p:sp>
        <p:nvSpPr>
          <p:cNvPr id="6" name="Editable text 4: Our mission"/>
          <p:cNvSpPr/>
          <p:nvPr/>
        </p:nvSpPr>
        <p:spPr>
          <a:xfrm>
            <a:off x="594271" y="1418296"/>
            <a:ext cx="1101802"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mission</a:t>
            </a:r>
            <a:endParaRPr lang="en-US" sz="1429" dirty="0"/>
          </a:p>
        </p:txBody>
      </p:sp>
      <p:sp>
        <p:nvSpPr>
          <p:cNvPr id="7" name="Editable text 5: Make"/>
          <p:cNvSpPr/>
          <p:nvPr/>
        </p:nvSpPr>
        <p:spPr>
          <a:xfrm>
            <a:off x="594271" y="1730769"/>
            <a:ext cx="3307601" cy="1618336"/>
          </a:xfrm>
          <a:prstGeom prst="rect">
            <a:avLst/>
          </a:prstGeom>
          <a:noFill/>
          <a:ln/>
        </p:spPr>
        <p:txBody>
          <a:bodyPr wrap="none" lIns="0" tIns="0" rIns="0" bIns="0" rtlCol="0" anchor="t"/>
          <a:lstStyle/>
          <a:p>
            <a:pPr algn="l" indent="0" marL="0">
              <a:buNone/>
            </a:pPr>
            <a:r>
              <a:rPr lang="en-US" sz="9102" spc="-501" kern="0" dirty="0">
                <a:solidFill>
                  <a:srgbClr val="17191E"/>
                </a:solidFill>
                <a:latin typeface="Albert Sans Medium" pitchFamily="34" charset="0"/>
                <a:ea typeface="Albert Sans Medium" pitchFamily="34" charset="-122"/>
                <a:cs typeface="Albert Sans Medium" pitchFamily="34" charset="-120"/>
              </a:rPr>
              <a:t>Make</a:t>
            </a:r>
            <a:endParaRPr lang="en-US" sz="9102" dirty="0"/>
          </a:p>
        </p:txBody>
      </p:sp>
      <p:sp>
        <p:nvSpPr>
          <p:cNvPr id="8" name="Editable text 6: expertise"/>
          <p:cNvSpPr/>
          <p:nvPr/>
        </p:nvSpPr>
        <p:spPr>
          <a:xfrm>
            <a:off x="594271" y="2902344"/>
            <a:ext cx="5038760" cy="1618336"/>
          </a:xfrm>
          <a:prstGeom prst="rect">
            <a:avLst/>
          </a:prstGeom>
          <a:noFill/>
          <a:ln/>
        </p:spPr>
        <p:txBody>
          <a:bodyPr wrap="none" lIns="0" tIns="0" rIns="0" bIns="0" rtlCol="0" anchor="t"/>
          <a:lstStyle/>
          <a:p>
            <a:pPr algn="l" indent="0" marL="0">
              <a:buNone/>
            </a:pPr>
            <a:r>
              <a:rPr lang="en-US" sz="9102" spc="-501" kern="0" dirty="0">
                <a:solidFill>
                  <a:srgbClr val="17191E"/>
                </a:solidFill>
                <a:latin typeface="Albert Sans Medium" pitchFamily="34" charset="0"/>
                <a:ea typeface="Albert Sans Medium" pitchFamily="34" charset="-122"/>
                <a:cs typeface="Albert Sans Medium" pitchFamily="34" charset="-120"/>
              </a:rPr>
              <a:t>expertise</a:t>
            </a:r>
            <a:endParaRPr lang="en-US" sz="9102" dirty="0"/>
          </a:p>
        </p:txBody>
      </p:sp>
      <p:sp>
        <p:nvSpPr>
          <p:cNvPr id="9" name="Editable text 7: useful."/>
          <p:cNvSpPr/>
          <p:nvPr/>
        </p:nvSpPr>
        <p:spPr>
          <a:xfrm>
            <a:off x="594271" y="4083444"/>
            <a:ext cx="3690929" cy="1618336"/>
          </a:xfrm>
          <a:prstGeom prst="rect">
            <a:avLst/>
          </a:prstGeom>
          <a:noFill/>
          <a:ln/>
        </p:spPr>
        <p:txBody>
          <a:bodyPr wrap="none" lIns="0" tIns="0" rIns="0" bIns="0" rtlCol="0" anchor="t"/>
          <a:lstStyle/>
          <a:p>
            <a:pPr algn="l" indent="0" marL="0">
              <a:buNone/>
            </a:pPr>
            <a:r>
              <a:rPr lang="en-US" sz="9102" spc="-501" kern="0" dirty="0">
                <a:solidFill>
                  <a:srgbClr val="3C4ED6"/>
                </a:solidFill>
                <a:latin typeface="Albert Sans Medium" pitchFamily="34" charset="0"/>
                <a:ea typeface="Albert Sans Medium" pitchFamily="34" charset="-122"/>
                <a:cs typeface="Albert Sans Medium" pitchFamily="34" charset="-120"/>
              </a:rPr>
              <a:t>useful.</a:t>
            </a:r>
            <a:endParaRPr lang="en-US" sz="9102" dirty="0"/>
          </a:p>
        </p:txBody>
      </p:sp>
      <p:sp>
        <p:nvSpPr>
          <p:cNvPr id="10" name="Editable text 8: We pair policy and program expertise with"/>
          <p:cNvSpPr/>
          <p:nvPr/>
        </p:nvSpPr>
        <p:spPr>
          <a:xfrm>
            <a:off x="594271" y="5571020"/>
            <a:ext cx="4433570" cy="310439"/>
          </a:xfrm>
          <a:prstGeom prst="rect">
            <a:avLst/>
          </a:prstGeom>
          <a:noFill/>
          <a:ln/>
        </p:spPr>
        <p:txBody>
          <a:bodyPr wrap="none" lIns="0" tIns="0" rIns="0" bIns="0" rtlCol="0" anchor="t"/>
          <a:lstStyle/>
          <a:p>
            <a:pPr algn="l" indent="0" marL="0">
              <a:buNone/>
            </a:pPr>
            <a:r>
              <a:rPr lang="en-US" sz="1746" dirty="0">
                <a:solidFill>
                  <a:srgbClr val="646973"/>
                </a:solidFill>
                <a:latin typeface="Albert Sans" pitchFamily="34" charset="0"/>
                <a:ea typeface="Albert Sans" pitchFamily="34" charset="-122"/>
                <a:cs typeface="Albert Sans" pitchFamily="34" charset="-120"/>
              </a:rPr>
              <a:t>We pair policy and program expertise with</a:t>
            </a:r>
            <a:endParaRPr lang="en-US" sz="1746" dirty="0"/>
          </a:p>
        </p:txBody>
      </p:sp>
      <p:sp>
        <p:nvSpPr>
          <p:cNvPr id="11" name="Editable text 9: data, design, and development to build tools"/>
          <p:cNvSpPr/>
          <p:nvPr/>
        </p:nvSpPr>
        <p:spPr>
          <a:xfrm>
            <a:off x="594271" y="5904395"/>
            <a:ext cx="4657828" cy="310439"/>
          </a:xfrm>
          <a:prstGeom prst="rect">
            <a:avLst/>
          </a:prstGeom>
          <a:noFill/>
          <a:ln/>
        </p:spPr>
        <p:txBody>
          <a:bodyPr wrap="none" lIns="0" tIns="0" rIns="0" bIns="0" rtlCol="0" anchor="t"/>
          <a:lstStyle/>
          <a:p>
            <a:pPr algn="l" indent="0" marL="0">
              <a:buNone/>
            </a:pPr>
            <a:r>
              <a:rPr lang="en-US" sz="1746" dirty="0">
                <a:solidFill>
                  <a:srgbClr val="646973"/>
                </a:solidFill>
                <a:latin typeface="Albert Sans" pitchFamily="34" charset="0"/>
                <a:ea typeface="Albert Sans" pitchFamily="34" charset="-122"/>
                <a:cs typeface="Albert Sans" pitchFamily="34" charset="-120"/>
              </a:rPr>
              <a:t>data, design, and development to build tools</a:t>
            </a:r>
            <a:endParaRPr lang="en-US" sz="1746" dirty="0"/>
          </a:p>
        </p:txBody>
      </p:sp>
      <p:sp>
        <p:nvSpPr>
          <p:cNvPr id="12" name="Editable text 10: around your decisions, users, and operating"/>
          <p:cNvSpPr/>
          <p:nvPr/>
        </p:nvSpPr>
        <p:spPr>
          <a:xfrm>
            <a:off x="594271" y="6237770"/>
            <a:ext cx="4564550" cy="310439"/>
          </a:xfrm>
          <a:prstGeom prst="rect">
            <a:avLst/>
          </a:prstGeom>
          <a:noFill/>
          <a:ln/>
        </p:spPr>
        <p:txBody>
          <a:bodyPr wrap="none" lIns="0" tIns="0" rIns="0" bIns="0" rtlCol="0" anchor="t"/>
          <a:lstStyle/>
          <a:p>
            <a:pPr algn="l" indent="0" marL="0">
              <a:buNone/>
            </a:pPr>
            <a:r>
              <a:rPr lang="en-US" sz="1746" dirty="0">
                <a:solidFill>
                  <a:srgbClr val="646973"/>
                </a:solidFill>
                <a:latin typeface="Albert Sans" pitchFamily="34" charset="0"/>
                <a:ea typeface="Albert Sans" pitchFamily="34" charset="-122"/>
                <a:cs typeface="Albert Sans" pitchFamily="34" charset="-120"/>
              </a:rPr>
              <a:t>around your decisions, users, and operating</a:t>
            </a:r>
            <a:endParaRPr lang="en-US" sz="1746" dirty="0"/>
          </a:p>
        </p:txBody>
      </p:sp>
      <p:sp>
        <p:nvSpPr>
          <p:cNvPr id="13" name="Editable text 11: realities."/>
          <p:cNvSpPr/>
          <p:nvPr/>
        </p:nvSpPr>
        <p:spPr>
          <a:xfrm>
            <a:off x="594271" y="6571145"/>
            <a:ext cx="966746" cy="310439"/>
          </a:xfrm>
          <a:prstGeom prst="rect">
            <a:avLst/>
          </a:prstGeom>
          <a:noFill/>
          <a:ln/>
        </p:spPr>
        <p:txBody>
          <a:bodyPr wrap="none" lIns="0" tIns="0" rIns="0" bIns="0" rtlCol="0" anchor="t"/>
          <a:lstStyle/>
          <a:p>
            <a:pPr algn="l" indent="0" marL="0">
              <a:buNone/>
            </a:pPr>
            <a:r>
              <a:rPr lang="en-US" sz="1746" dirty="0">
                <a:solidFill>
                  <a:srgbClr val="646973"/>
                </a:solidFill>
                <a:latin typeface="Albert Sans" pitchFamily="34" charset="0"/>
                <a:ea typeface="Albert Sans" pitchFamily="34" charset="-122"/>
                <a:cs typeface="Albert Sans" pitchFamily="34" charset="-120"/>
              </a:rPr>
              <a:t>realities.</a:t>
            </a:r>
            <a:endParaRPr lang="en-US" sz="1746" dirty="0"/>
          </a:p>
        </p:txBody>
      </p:sp>
      <p:sp>
        <p:nvSpPr>
          <p:cNvPr id="14" name="Editable text 12: Custom fit."/>
          <p:cNvSpPr/>
          <p:nvPr/>
        </p:nvSpPr>
        <p:spPr>
          <a:xfrm>
            <a:off x="5909667" y="2322686"/>
            <a:ext cx="1497521" cy="395116"/>
          </a:xfrm>
          <a:prstGeom prst="rect">
            <a:avLst/>
          </a:prstGeom>
          <a:noFill/>
          <a:ln/>
        </p:spPr>
        <p:txBody>
          <a:bodyPr wrap="none" lIns="0" tIns="0" rIns="0" bIns="0" rtlCol="0" anchor="t"/>
          <a:lstStyle/>
          <a:p>
            <a:pPr algn="l" indent="0" marL="0">
              <a:buNone/>
            </a:pPr>
            <a:r>
              <a:rPr lang="en-US" sz="2222" spc="-78" kern="0" dirty="0">
                <a:solidFill>
                  <a:srgbClr val="17191E"/>
                </a:solidFill>
                <a:latin typeface="Albert Sans Medium" pitchFamily="34" charset="0"/>
                <a:ea typeface="Albert Sans Medium" pitchFamily="34" charset="-122"/>
                <a:cs typeface="Albert Sans Medium" pitchFamily="34" charset="-120"/>
              </a:rPr>
              <a:t>Custom fit.</a:t>
            </a:r>
            <a:endParaRPr lang="en-US" sz="2222" dirty="0"/>
          </a:p>
        </p:txBody>
      </p:sp>
      <p:sp>
        <p:nvSpPr>
          <p:cNvPr id="15" name="Editable text 13: Not off the shelf."/>
          <p:cNvSpPr/>
          <p:nvPr/>
        </p:nvSpPr>
        <p:spPr>
          <a:xfrm>
            <a:off x="5909667" y="2777138"/>
            <a:ext cx="1584106"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Not off the shelf.</a:t>
            </a:r>
            <a:endParaRPr lang="en-US" sz="1534" dirty="0"/>
          </a:p>
        </p:txBody>
      </p:sp>
      <p:sp>
        <p:nvSpPr>
          <p:cNvPr id="16" name="Editable text 14: Expert-led."/>
          <p:cNvSpPr/>
          <p:nvPr/>
        </p:nvSpPr>
        <p:spPr>
          <a:xfrm>
            <a:off x="8764935" y="2322686"/>
            <a:ext cx="1516991" cy="395116"/>
          </a:xfrm>
          <a:prstGeom prst="rect">
            <a:avLst/>
          </a:prstGeom>
          <a:noFill/>
          <a:ln/>
        </p:spPr>
        <p:txBody>
          <a:bodyPr wrap="none" lIns="0" tIns="0" rIns="0" bIns="0" rtlCol="0" anchor="t"/>
          <a:lstStyle/>
          <a:p>
            <a:pPr algn="l" indent="0" marL="0">
              <a:buNone/>
            </a:pPr>
            <a:r>
              <a:rPr lang="en-US" sz="2222" spc="-78" kern="0" dirty="0">
                <a:solidFill>
                  <a:srgbClr val="17191E"/>
                </a:solidFill>
                <a:latin typeface="Albert Sans Medium" pitchFamily="34" charset="0"/>
                <a:ea typeface="Albert Sans Medium" pitchFamily="34" charset="-122"/>
                <a:cs typeface="Albert Sans Medium" pitchFamily="34" charset="-120"/>
              </a:rPr>
              <a:t>Expert-led.</a:t>
            </a:r>
            <a:endParaRPr lang="en-US" sz="2222" dirty="0"/>
          </a:p>
        </p:txBody>
      </p:sp>
      <p:sp>
        <p:nvSpPr>
          <p:cNvPr id="17" name="Editable text 15: From discovery onward."/>
          <p:cNvSpPr/>
          <p:nvPr/>
        </p:nvSpPr>
        <p:spPr>
          <a:xfrm>
            <a:off x="8764935" y="2777138"/>
            <a:ext cx="2253302"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From discovery onward.</a:t>
            </a:r>
            <a:endParaRPr lang="en-US" sz="1534" dirty="0"/>
          </a:p>
        </p:txBody>
      </p:sp>
      <p:sp>
        <p:nvSpPr>
          <p:cNvPr id="18" name="Editable text 16: Quality."/>
          <p:cNvSpPr/>
          <p:nvPr/>
        </p:nvSpPr>
        <p:spPr>
          <a:xfrm>
            <a:off x="11620202" y="2322686"/>
            <a:ext cx="1064416" cy="395116"/>
          </a:xfrm>
          <a:prstGeom prst="rect">
            <a:avLst/>
          </a:prstGeom>
          <a:noFill/>
          <a:ln/>
        </p:spPr>
        <p:txBody>
          <a:bodyPr wrap="none" lIns="0" tIns="0" rIns="0" bIns="0" rtlCol="0" anchor="t"/>
          <a:lstStyle/>
          <a:p>
            <a:pPr algn="l" indent="0" marL="0">
              <a:buNone/>
            </a:pPr>
            <a:r>
              <a:rPr lang="en-US" sz="2222" spc="-78" kern="0" dirty="0">
                <a:solidFill>
                  <a:srgbClr val="17191E"/>
                </a:solidFill>
                <a:latin typeface="Albert Sans Medium" pitchFamily="34" charset="0"/>
                <a:ea typeface="Albert Sans Medium" pitchFamily="34" charset="-122"/>
                <a:cs typeface="Albert Sans Medium" pitchFamily="34" charset="-120"/>
              </a:rPr>
              <a:t>Quality.</a:t>
            </a:r>
            <a:endParaRPr lang="en-US" sz="2222" dirty="0"/>
          </a:p>
        </p:txBody>
      </p:sp>
      <p:sp>
        <p:nvSpPr>
          <p:cNvPr id="19" name="Editable text 17: Tested against agreed"/>
          <p:cNvSpPr/>
          <p:nvPr/>
        </p:nvSpPr>
        <p:spPr>
          <a:xfrm>
            <a:off x="11620202" y="2777138"/>
            <a:ext cx="2087340"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Tested against agreed</a:t>
            </a:r>
            <a:endParaRPr lang="en-US" sz="1534" dirty="0"/>
          </a:p>
        </p:txBody>
      </p:sp>
      <p:sp>
        <p:nvSpPr>
          <p:cNvPr id="20" name="Editable text 18: criteria."/>
          <p:cNvSpPr/>
          <p:nvPr/>
        </p:nvSpPr>
        <p:spPr>
          <a:xfrm>
            <a:off x="11620202" y="3053363"/>
            <a:ext cx="783411"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criteria.</a:t>
            </a:r>
            <a:endParaRPr lang="en-US" sz="1534" dirty="0"/>
          </a:p>
        </p:txBody>
      </p:sp>
      <p:sp>
        <p:nvSpPr>
          <p:cNvPr id="21" name="Editable text 19: $1.5B+"/>
          <p:cNvSpPr/>
          <p:nvPr/>
        </p:nvSpPr>
        <p:spPr>
          <a:xfrm>
            <a:off x="5909667" y="3953280"/>
            <a:ext cx="1822053" cy="771430"/>
          </a:xfrm>
          <a:prstGeom prst="rect">
            <a:avLst/>
          </a:prstGeom>
          <a:noFill/>
          <a:ln/>
        </p:spPr>
        <p:txBody>
          <a:bodyPr wrap="none" lIns="0" tIns="0" rIns="0" bIns="0" rtlCol="0" anchor="t"/>
          <a:lstStyle/>
          <a:p>
            <a:pPr algn="l" indent="0" marL="0">
              <a:buNone/>
            </a:pPr>
            <a:r>
              <a:rPr lang="en-US" sz="4339" spc="-260" kern="0" dirty="0">
                <a:solidFill>
                  <a:srgbClr val="3C4ED6"/>
                </a:solidFill>
                <a:latin typeface="Albert Sans Medium" pitchFamily="34" charset="0"/>
                <a:ea typeface="Albert Sans Medium" pitchFamily="34" charset="-122"/>
                <a:cs typeface="Albert Sans Medium" pitchFamily="34" charset="-120"/>
              </a:rPr>
              <a:t>$1.5B+</a:t>
            </a:r>
            <a:endParaRPr lang="en-US" sz="4339" dirty="0"/>
          </a:p>
        </p:txBody>
      </p:sp>
      <p:sp>
        <p:nvSpPr>
          <p:cNvPr id="22" name="Editable text 20: New York ConnectALL"/>
          <p:cNvSpPr/>
          <p:nvPr/>
        </p:nvSpPr>
        <p:spPr>
          <a:xfrm>
            <a:off x="5909667" y="4901213"/>
            <a:ext cx="1997313"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New York ConnectALL</a:t>
            </a:r>
            <a:endParaRPr lang="en-US" sz="1534" dirty="0"/>
          </a:p>
        </p:txBody>
      </p:sp>
      <p:sp>
        <p:nvSpPr>
          <p:cNvPr id="23" name="Editable text 21: Investment supported by"/>
          <p:cNvSpPr/>
          <p:nvPr/>
        </p:nvSpPr>
        <p:spPr>
          <a:xfrm>
            <a:off x="5909667" y="5253904"/>
            <a:ext cx="1857822"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Investment supported by</a:t>
            </a:r>
            <a:endParaRPr lang="en-US" sz="1216" dirty="0"/>
          </a:p>
        </p:txBody>
      </p:sp>
      <p:sp>
        <p:nvSpPr>
          <p:cNvPr id="24" name="Editable text 22: HR&amp;amp;A as lead strategic"/>
          <p:cNvSpPr/>
          <p:nvPr/>
        </p:nvSpPr>
        <p:spPr>
          <a:xfrm>
            <a:off x="5909667" y="5463454"/>
            <a:ext cx="1711068"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HR&amp;A as lead strategic</a:t>
            </a:r>
            <a:endParaRPr lang="en-US" sz="1216" dirty="0"/>
          </a:p>
        </p:txBody>
      </p:sp>
      <p:sp>
        <p:nvSpPr>
          <p:cNvPr id="25" name="Editable text 23: advisor and program manager."/>
          <p:cNvSpPr/>
          <p:nvPr/>
        </p:nvSpPr>
        <p:spPr>
          <a:xfrm>
            <a:off x="5909667" y="5682529"/>
            <a:ext cx="2262719"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advisor and program manager.</a:t>
            </a:r>
            <a:endParaRPr lang="en-US" sz="1216" dirty="0"/>
          </a:p>
        </p:txBody>
      </p:sp>
      <p:sp>
        <p:nvSpPr>
          <p:cNvPr id="26" name="Editable text 24: 39"/>
          <p:cNvSpPr/>
          <p:nvPr/>
        </p:nvSpPr>
        <p:spPr>
          <a:xfrm>
            <a:off x="8764935" y="3953280"/>
            <a:ext cx="933389" cy="771430"/>
          </a:xfrm>
          <a:prstGeom prst="rect">
            <a:avLst/>
          </a:prstGeom>
          <a:noFill/>
          <a:ln/>
        </p:spPr>
        <p:txBody>
          <a:bodyPr wrap="none" lIns="0" tIns="0" rIns="0" bIns="0" rtlCol="0" anchor="t"/>
          <a:lstStyle/>
          <a:p>
            <a:pPr algn="l" indent="0" marL="0">
              <a:buNone/>
            </a:pPr>
            <a:r>
              <a:rPr lang="en-US" sz="4339" spc="-260" kern="0" dirty="0">
                <a:solidFill>
                  <a:srgbClr val="3C4ED6"/>
                </a:solidFill>
                <a:latin typeface="Albert Sans Medium" pitchFamily="34" charset="0"/>
                <a:ea typeface="Albert Sans Medium" pitchFamily="34" charset="-122"/>
                <a:cs typeface="Albert Sans Medium" pitchFamily="34" charset="-120"/>
              </a:rPr>
              <a:t>39</a:t>
            </a:r>
            <a:endParaRPr lang="en-US" sz="4339" dirty="0"/>
          </a:p>
        </p:txBody>
      </p:sp>
      <p:sp>
        <p:nvSpPr>
          <p:cNvPr id="27" name="Editable text 25: Rhode Island"/>
          <p:cNvSpPr/>
          <p:nvPr/>
        </p:nvSpPr>
        <p:spPr>
          <a:xfrm>
            <a:off x="8764935" y="4901213"/>
            <a:ext cx="1182385"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Rhode Island</a:t>
            </a:r>
            <a:endParaRPr lang="en-US" sz="1534" dirty="0"/>
          </a:p>
        </p:txBody>
      </p:sp>
      <p:sp>
        <p:nvSpPr>
          <p:cNvPr id="28" name="Editable text 26: municipalities"/>
          <p:cNvSpPr/>
          <p:nvPr/>
        </p:nvSpPr>
        <p:spPr>
          <a:xfrm>
            <a:off x="8764935" y="5158388"/>
            <a:ext cx="1266336"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municipalities</a:t>
            </a:r>
            <a:endParaRPr lang="en-US" sz="1534" dirty="0"/>
          </a:p>
        </p:txBody>
      </p:sp>
      <p:sp>
        <p:nvSpPr>
          <p:cNvPr id="29" name="Editable text 27: Land-use datasets"/>
          <p:cNvSpPr/>
          <p:nvPr/>
        </p:nvSpPr>
        <p:spPr>
          <a:xfrm>
            <a:off x="8764935" y="5501554"/>
            <a:ext cx="1394838"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Land-use datasets</a:t>
            </a:r>
            <a:endParaRPr lang="en-US" sz="1216" dirty="0"/>
          </a:p>
        </p:txBody>
      </p:sp>
      <p:sp>
        <p:nvSpPr>
          <p:cNvPr id="30" name="Editable text 28: standardized with state"/>
          <p:cNvSpPr/>
          <p:nvPr/>
        </p:nvSpPr>
        <p:spPr>
          <a:xfrm>
            <a:off x="8764935" y="5720629"/>
            <a:ext cx="1734394"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standardized with state</a:t>
            </a:r>
            <a:endParaRPr lang="en-US" sz="1216" dirty="0"/>
          </a:p>
        </p:txBody>
      </p:sp>
      <p:sp>
        <p:nvSpPr>
          <p:cNvPr id="31" name="Editable text 29: planners and Go Consulting"/>
          <p:cNvSpPr/>
          <p:nvPr/>
        </p:nvSpPr>
        <p:spPr>
          <a:xfrm>
            <a:off x="8764935" y="5939704"/>
            <a:ext cx="2054019"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planners and Go Consulting</a:t>
            </a:r>
            <a:endParaRPr lang="en-US" sz="1216" dirty="0"/>
          </a:p>
        </p:txBody>
      </p:sp>
      <p:sp>
        <p:nvSpPr>
          <p:cNvPr id="32" name="Editable text 30: Services."/>
          <p:cNvSpPr/>
          <p:nvPr/>
        </p:nvSpPr>
        <p:spPr>
          <a:xfrm>
            <a:off x="8764935" y="6149254"/>
            <a:ext cx="720363"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Services.</a:t>
            </a:r>
            <a:endParaRPr lang="en-US" sz="1216" dirty="0"/>
          </a:p>
        </p:txBody>
      </p:sp>
      <p:sp>
        <p:nvSpPr>
          <p:cNvPr id="33" name="Editable text 31: &amp;gt;35%"/>
          <p:cNvSpPr/>
          <p:nvPr/>
        </p:nvSpPr>
        <p:spPr>
          <a:xfrm>
            <a:off x="11620202" y="3953280"/>
            <a:ext cx="1582963" cy="771430"/>
          </a:xfrm>
          <a:prstGeom prst="rect">
            <a:avLst/>
          </a:prstGeom>
          <a:noFill/>
          <a:ln/>
        </p:spPr>
        <p:txBody>
          <a:bodyPr wrap="none" lIns="0" tIns="0" rIns="0" bIns="0" rtlCol="0" anchor="t"/>
          <a:lstStyle/>
          <a:p>
            <a:pPr algn="l" indent="0" marL="0">
              <a:buNone/>
            </a:pPr>
            <a:r>
              <a:rPr lang="en-US" sz="4339" spc="-260" kern="0" dirty="0">
                <a:solidFill>
                  <a:srgbClr val="3C4ED6"/>
                </a:solidFill>
                <a:latin typeface="Albert Sans Medium" pitchFamily="34" charset="0"/>
                <a:ea typeface="Albert Sans Medium" pitchFamily="34" charset="-122"/>
                <a:cs typeface="Albert Sans Medium" pitchFamily="34" charset="-120"/>
              </a:rPr>
              <a:t>&gt;35%</a:t>
            </a:r>
            <a:endParaRPr lang="en-US" sz="4339" dirty="0"/>
          </a:p>
        </p:txBody>
      </p:sp>
      <p:sp>
        <p:nvSpPr>
          <p:cNvPr id="34" name="Editable text 32: U.S. population"/>
          <p:cNvSpPr/>
          <p:nvPr/>
        </p:nvSpPr>
        <p:spPr>
          <a:xfrm>
            <a:off x="11620202" y="4901213"/>
            <a:ext cx="1366278"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U.S. population</a:t>
            </a:r>
            <a:endParaRPr lang="en-US" sz="1534" dirty="0"/>
          </a:p>
        </p:txBody>
      </p:sp>
      <p:sp>
        <p:nvSpPr>
          <p:cNvPr id="35" name="Editable text 33: Served by HR&amp;amp;A’s broadband"/>
          <p:cNvSpPr/>
          <p:nvPr/>
        </p:nvSpPr>
        <p:spPr>
          <a:xfrm>
            <a:off x="11620202" y="5253904"/>
            <a:ext cx="2177913"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Served by HR&amp;A’s broadband</a:t>
            </a:r>
            <a:endParaRPr lang="en-US" sz="1216" dirty="0"/>
          </a:p>
        </p:txBody>
      </p:sp>
      <p:sp>
        <p:nvSpPr>
          <p:cNvPr id="36" name="Editable text 34: and digital-opportunity"/>
          <p:cNvSpPr/>
          <p:nvPr/>
        </p:nvSpPr>
        <p:spPr>
          <a:xfrm>
            <a:off x="11620202" y="5463454"/>
            <a:ext cx="1735782"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and digital-opportunity</a:t>
            </a:r>
            <a:endParaRPr lang="en-US" sz="1216" dirty="0"/>
          </a:p>
        </p:txBody>
      </p:sp>
      <p:sp>
        <p:nvSpPr>
          <p:cNvPr id="37" name="Editable text 35: clients."/>
          <p:cNvSpPr/>
          <p:nvPr/>
        </p:nvSpPr>
        <p:spPr>
          <a:xfrm>
            <a:off x="11620202" y="5682529"/>
            <a:ext cx="584109"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clients.</a:t>
            </a:r>
            <a:endParaRPr lang="en-US" sz="1216" dirty="0"/>
          </a:p>
        </p:txBody>
      </p:sp>
      <p:sp>
        <p:nvSpPr>
          <p:cNvPr id="38" name="Editable text 36: Program scale, not product impact."/>
          <p:cNvSpPr/>
          <p:nvPr/>
        </p:nvSpPr>
        <p:spPr>
          <a:xfrm>
            <a:off x="11760547" y="6809713"/>
            <a:ext cx="2353095"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Program scale, not product impact.</a:t>
            </a:r>
            <a:endParaRPr lang="en-US" sz="1111" dirty="0"/>
          </a:p>
        </p:txBody>
      </p:sp>
      <p:sp>
        <p:nvSpPr>
          <p:cNvPr id="39" name="Editable text 37: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40" name="Editable text 38: 02 / 18"/>
          <p:cNvSpPr/>
          <p:nvPr/>
        </p:nvSpPr>
        <p:spPr>
          <a:xfrm>
            <a:off x="13524309" y="7688980"/>
            <a:ext cx="60418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02 / 18</a:t>
            </a:r>
            <a:endParaRPr lang="en-US" sz="1323" dirty="0"/>
          </a:p>
        </p:txBody>
      </p:sp>
      <p:sp>
        <p:nvSpPr>
          <p:cNvPr id="41" name="Editable text 39: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advantage"/>
          <p:cNvSpPr/>
          <p:nvPr/>
        </p:nvSpPr>
        <p:spPr>
          <a:xfrm>
            <a:off x="12898636" y="421405"/>
            <a:ext cx="1229869"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Our advantage</a:t>
            </a:r>
            <a:endParaRPr lang="en-US" sz="1323" dirty="0"/>
          </a:p>
        </p:txBody>
      </p:sp>
      <p:sp>
        <p:nvSpPr>
          <p:cNvPr id="6" name="Editable text 4: Our advantage"/>
          <p:cNvSpPr/>
          <p:nvPr/>
        </p:nvSpPr>
        <p:spPr>
          <a:xfrm>
            <a:off x="594271" y="970621"/>
            <a:ext cx="1330754"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advantage</a:t>
            </a:r>
            <a:endParaRPr lang="en-US" sz="1429" dirty="0"/>
          </a:p>
        </p:txBody>
      </p:sp>
      <p:sp>
        <p:nvSpPr>
          <p:cNvPr id="7" name="Editable text 5: Expertise "/>
          <p:cNvSpPr/>
          <p:nvPr/>
        </p:nvSpPr>
        <p:spPr>
          <a:xfrm>
            <a:off x="594271" y="1320084"/>
            <a:ext cx="3559671" cy="1072534"/>
          </a:xfrm>
          <a:prstGeom prst="rect">
            <a:avLst/>
          </a:prstGeom>
          <a:noFill/>
          <a:ln/>
        </p:spPr>
        <p:txBody>
          <a:bodyPr wrap="none" lIns="0" tIns="0" rIns="0" bIns="0" rtlCol="0" anchor="t"/>
          <a:lstStyle/>
          <a:p>
            <a:pPr algn="l" indent="0" marL="0">
              <a:buNone/>
            </a:pPr>
            <a:r>
              <a:rPr lang="en-US" sz="6032" spc="-332" kern="0" dirty="0">
                <a:solidFill>
                  <a:srgbClr val="17191E"/>
                </a:solidFill>
                <a:latin typeface="Albert Sans Medium" pitchFamily="34" charset="0"/>
                <a:ea typeface="Albert Sans Medium" pitchFamily="34" charset="-122"/>
                <a:cs typeface="Albert Sans Medium" pitchFamily="34" charset="-120"/>
              </a:rPr>
              <a:t>Expertise </a:t>
            </a:r>
            <a:endParaRPr lang="en-US" sz="6032" dirty="0"/>
          </a:p>
        </p:txBody>
      </p:sp>
      <p:sp>
        <p:nvSpPr>
          <p:cNvPr id="8" name="Editable text 6: before code."/>
          <p:cNvSpPr/>
          <p:nvPr/>
        </p:nvSpPr>
        <p:spPr>
          <a:xfrm>
            <a:off x="3690491" y="1320084"/>
            <a:ext cx="4395971" cy="1072534"/>
          </a:xfrm>
          <a:prstGeom prst="rect">
            <a:avLst/>
          </a:prstGeom>
          <a:noFill/>
          <a:ln/>
        </p:spPr>
        <p:txBody>
          <a:bodyPr wrap="none" lIns="0" tIns="0" rIns="0" bIns="0" rtlCol="0" anchor="t"/>
          <a:lstStyle/>
          <a:p>
            <a:pPr algn="l" indent="0" marL="0">
              <a:buNone/>
            </a:pPr>
            <a:r>
              <a:rPr lang="en-US" sz="6032" spc="-332" kern="0" dirty="0">
                <a:solidFill>
                  <a:srgbClr val="3C4ED6"/>
                </a:solidFill>
                <a:latin typeface="Albert Sans Medium" pitchFamily="34" charset="0"/>
                <a:ea typeface="Albert Sans Medium" pitchFamily="34" charset="-122"/>
                <a:cs typeface="Albert Sans Medium" pitchFamily="34" charset="-120"/>
              </a:rPr>
              <a:t>before code.</a:t>
            </a:r>
            <a:endParaRPr lang="en-US" sz="6032" dirty="0"/>
          </a:p>
        </p:txBody>
      </p:sp>
      <p:sp>
        <p:nvSpPr>
          <p:cNvPr id="9" name="Editable text 7: We design digital tools from the realities of policy, s"/>
          <p:cNvSpPr/>
          <p:nvPr/>
        </p:nvSpPr>
        <p:spPr>
          <a:xfrm>
            <a:off x="594271" y="2383245"/>
            <a:ext cx="10442105"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We design digital tools from the realities of policy, service delivery, and public-interest operations.</a:t>
            </a:r>
            <a:endParaRPr lang="en-US" sz="1799" dirty="0"/>
          </a:p>
        </p:txBody>
      </p:sp>
      <p:sp>
        <p:nvSpPr>
          <p:cNvPr id="10" name="Editable text 8: Public-interest fluency"/>
          <p:cNvSpPr/>
          <p:nvPr/>
        </p:nvSpPr>
        <p:spPr>
          <a:xfrm>
            <a:off x="832247" y="4075462"/>
            <a:ext cx="2474822"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Public-interest fluency</a:t>
            </a:r>
            <a:endParaRPr lang="en-US" sz="1905" dirty="0"/>
          </a:p>
        </p:txBody>
      </p:sp>
      <p:sp>
        <p:nvSpPr>
          <p:cNvPr id="11" name="Editable text 9: Broadband, digital equity,"/>
          <p:cNvSpPr/>
          <p:nvPr/>
        </p:nvSpPr>
        <p:spPr>
          <a:xfrm>
            <a:off x="832247" y="4472588"/>
            <a:ext cx="2401362"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Broadband, digital equity,</a:t>
            </a:r>
            <a:endParaRPr lang="en-US" sz="1534" dirty="0"/>
          </a:p>
        </p:txBody>
      </p:sp>
      <p:sp>
        <p:nvSpPr>
          <p:cNvPr id="12" name="Editable text 10: policy, and service systems."/>
          <p:cNvSpPr/>
          <p:nvPr/>
        </p:nvSpPr>
        <p:spPr>
          <a:xfrm>
            <a:off x="832247" y="4748813"/>
            <a:ext cx="2599099"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policy, and service systems.</a:t>
            </a:r>
            <a:endParaRPr lang="en-US" sz="1534" dirty="0"/>
          </a:p>
        </p:txBody>
      </p:sp>
      <p:sp>
        <p:nvSpPr>
          <p:cNvPr id="13" name="Editable text 11: Product thinking"/>
          <p:cNvSpPr/>
          <p:nvPr/>
        </p:nvSpPr>
        <p:spPr>
          <a:xfrm>
            <a:off x="4243090" y="4075462"/>
            <a:ext cx="1849899"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Product thinking</a:t>
            </a:r>
            <a:endParaRPr lang="en-US" sz="1905" dirty="0"/>
          </a:p>
        </p:txBody>
      </p:sp>
      <p:sp>
        <p:nvSpPr>
          <p:cNvPr id="14" name="Editable text 12: Decisions, workflows, and"/>
          <p:cNvSpPr/>
          <p:nvPr/>
        </p:nvSpPr>
        <p:spPr>
          <a:xfrm>
            <a:off x="4243090" y="4472588"/>
            <a:ext cx="2409178"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Decisions, workflows, and</a:t>
            </a:r>
            <a:endParaRPr lang="en-US" sz="1534" dirty="0"/>
          </a:p>
        </p:txBody>
      </p:sp>
      <p:sp>
        <p:nvSpPr>
          <p:cNvPr id="15" name="Editable text 13: user tasks."/>
          <p:cNvSpPr/>
          <p:nvPr/>
        </p:nvSpPr>
        <p:spPr>
          <a:xfrm>
            <a:off x="4243090" y="4748813"/>
            <a:ext cx="1046996"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user tasks.</a:t>
            </a:r>
            <a:endParaRPr lang="en-US" sz="1534" dirty="0"/>
          </a:p>
        </p:txBody>
      </p:sp>
      <p:sp>
        <p:nvSpPr>
          <p:cNvPr id="16" name="Editable text 14: Data design"/>
          <p:cNvSpPr/>
          <p:nvPr/>
        </p:nvSpPr>
        <p:spPr>
          <a:xfrm>
            <a:off x="7653933" y="4075462"/>
            <a:ext cx="1378585"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Data design</a:t>
            </a:r>
            <a:endParaRPr lang="en-US" sz="1905" dirty="0"/>
          </a:p>
        </p:txBody>
      </p:sp>
      <p:sp>
        <p:nvSpPr>
          <p:cNvPr id="17" name="Editable text 15: Definitions, stewardship,"/>
          <p:cNvSpPr/>
          <p:nvPr/>
        </p:nvSpPr>
        <p:spPr>
          <a:xfrm>
            <a:off x="7653933" y="4472588"/>
            <a:ext cx="2286808"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Definitions, stewardship,</a:t>
            </a:r>
            <a:endParaRPr lang="en-US" sz="1534" dirty="0"/>
          </a:p>
        </p:txBody>
      </p:sp>
      <p:sp>
        <p:nvSpPr>
          <p:cNvPr id="18" name="Editable text 16: validation, and updates."/>
          <p:cNvSpPr/>
          <p:nvPr/>
        </p:nvSpPr>
        <p:spPr>
          <a:xfrm>
            <a:off x="7653933" y="4748813"/>
            <a:ext cx="2226224"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validation, and updates.</a:t>
            </a:r>
            <a:endParaRPr lang="en-US" sz="1534" dirty="0"/>
          </a:p>
        </p:txBody>
      </p:sp>
      <p:sp>
        <p:nvSpPr>
          <p:cNvPr id="19" name="Editable text 17: Technical delivery"/>
          <p:cNvSpPr/>
          <p:nvPr/>
        </p:nvSpPr>
        <p:spPr>
          <a:xfrm>
            <a:off x="11064776" y="4075462"/>
            <a:ext cx="1991652"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Technical delivery</a:t>
            </a:r>
            <a:endParaRPr lang="en-US" sz="1905" dirty="0"/>
          </a:p>
        </p:txBody>
      </p:sp>
      <p:sp>
        <p:nvSpPr>
          <p:cNvPr id="20" name="Editable text 18: Modern frontend,"/>
          <p:cNvSpPr/>
          <p:nvPr/>
        </p:nvSpPr>
        <p:spPr>
          <a:xfrm>
            <a:off x="11064776" y="4472588"/>
            <a:ext cx="1666321"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Modern frontend,</a:t>
            </a:r>
            <a:endParaRPr lang="en-US" sz="1534" dirty="0"/>
          </a:p>
        </p:txBody>
      </p:sp>
      <p:sp>
        <p:nvSpPr>
          <p:cNvPr id="21" name="Editable text 19: accessibility, QA, and secure"/>
          <p:cNvSpPr/>
          <p:nvPr/>
        </p:nvSpPr>
        <p:spPr>
          <a:xfrm>
            <a:off x="11064776" y="4748813"/>
            <a:ext cx="2674127"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accessibility, QA, and secure</a:t>
            </a:r>
            <a:endParaRPr lang="en-US" sz="1534" dirty="0"/>
          </a:p>
        </p:txBody>
      </p:sp>
      <p:sp>
        <p:nvSpPr>
          <p:cNvPr id="22" name="Editable text 20: implementation."/>
          <p:cNvSpPr/>
          <p:nvPr/>
        </p:nvSpPr>
        <p:spPr>
          <a:xfrm>
            <a:off x="11064776" y="5015513"/>
            <a:ext cx="1559172"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implementation.</a:t>
            </a:r>
            <a:endParaRPr lang="en-US" sz="1534" dirty="0"/>
          </a:p>
        </p:txBody>
      </p:sp>
      <p:sp>
        <p:nvSpPr>
          <p:cNvPr id="23" name="Editable text 21: Working digital products for real-world use."/>
          <p:cNvSpPr/>
          <p:nvPr/>
        </p:nvSpPr>
        <p:spPr>
          <a:xfrm>
            <a:off x="5119688" y="6307503"/>
            <a:ext cx="5092182" cy="348044"/>
          </a:xfrm>
          <a:prstGeom prst="rect">
            <a:avLst/>
          </a:prstGeom>
          <a:noFill/>
          <a:ln/>
        </p:spPr>
        <p:txBody>
          <a:bodyPr wrap="none" lIns="0" tIns="0" rIns="0" bIns="0" rtlCol="0" anchor="t"/>
          <a:lstStyle/>
          <a:p>
            <a:pPr algn="l" indent="0" marL="0">
              <a:buNone/>
            </a:pPr>
            <a:r>
              <a:rPr lang="en-US" sz="1958" dirty="0">
                <a:solidFill>
                  <a:srgbClr val="3C4ED6"/>
                </a:solidFill>
                <a:latin typeface="Albert Sans" pitchFamily="34" charset="0"/>
                <a:ea typeface="Albert Sans" pitchFamily="34" charset="-122"/>
                <a:cs typeface="Albert Sans" pitchFamily="34" charset="-120"/>
              </a:rPr>
              <a:t>Working digital products for real-world use.</a:t>
            </a:r>
            <a:endParaRPr lang="en-US" sz="1958" dirty="0"/>
          </a:p>
        </p:txBody>
      </p:sp>
      <p:sp>
        <p:nvSpPr>
          <p:cNvPr id="24" name="Editable text 22: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25" name="Editable text 23: 03 / 18"/>
          <p:cNvSpPr/>
          <p:nvPr/>
        </p:nvSpPr>
        <p:spPr>
          <a:xfrm>
            <a:off x="13524607" y="7688980"/>
            <a:ext cx="603884"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03 / 18</a:t>
            </a:r>
            <a:endParaRPr lang="en-US" sz="1323" dirty="0"/>
          </a:p>
        </p:txBody>
      </p:sp>
      <p:sp>
        <p:nvSpPr>
          <p:cNvPr id="26" name="Editable text 24: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methodology"/>
          <p:cNvSpPr/>
          <p:nvPr/>
        </p:nvSpPr>
        <p:spPr>
          <a:xfrm>
            <a:off x="12682091" y="421405"/>
            <a:ext cx="1446425"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Our methodology</a:t>
            </a:r>
            <a:endParaRPr lang="en-US" sz="1323" dirty="0"/>
          </a:p>
        </p:txBody>
      </p:sp>
      <p:sp>
        <p:nvSpPr>
          <p:cNvPr id="6" name="Editable text 4: Our methodology"/>
          <p:cNvSpPr/>
          <p:nvPr/>
        </p:nvSpPr>
        <p:spPr>
          <a:xfrm>
            <a:off x="594271" y="970621"/>
            <a:ext cx="1566761"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methodology</a:t>
            </a:r>
            <a:endParaRPr lang="en-US" sz="1429" dirty="0"/>
          </a:p>
        </p:txBody>
      </p:sp>
      <p:sp>
        <p:nvSpPr>
          <p:cNvPr id="7" name="Editable text 5: Understand. Build. "/>
          <p:cNvSpPr/>
          <p:nvPr/>
        </p:nvSpPr>
        <p:spPr>
          <a:xfrm>
            <a:off x="594271" y="1320084"/>
            <a:ext cx="6337940" cy="1072534"/>
          </a:xfrm>
          <a:prstGeom prst="rect">
            <a:avLst/>
          </a:prstGeom>
          <a:noFill/>
          <a:ln/>
        </p:spPr>
        <p:txBody>
          <a:bodyPr wrap="none" lIns="0" tIns="0" rIns="0" bIns="0" rtlCol="0" anchor="t"/>
          <a:lstStyle/>
          <a:p>
            <a:pPr algn="l" indent="0" marL="0">
              <a:buNone/>
            </a:pPr>
            <a:r>
              <a:rPr lang="en-US" sz="6032" spc="-332" kern="0" dirty="0">
                <a:solidFill>
                  <a:srgbClr val="17191E"/>
                </a:solidFill>
                <a:latin typeface="Albert Sans Medium" pitchFamily="34" charset="0"/>
                <a:ea typeface="Albert Sans Medium" pitchFamily="34" charset="-122"/>
                <a:cs typeface="Albert Sans Medium" pitchFamily="34" charset="-120"/>
              </a:rPr>
              <a:t>Understand. Build. </a:t>
            </a:r>
            <a:endParaRPr lang="en-US" sz="6032" dirty="0"/>
          </a:p>
        </p:txBody>
      </p:sp>
      <p:sp>
        <p:nvSpPr>
          <p:cNvPr id="8" name="Editable text 6: Prove."/>
          <p:cNvSpPr/>
          <p:nvPr/>
        </p:nvSpPr>
        <p:spPr>
          <a:xfrm>
            <a:off x="6468814" y="1320084"/>
            <a:ext cx="2408204" cy="1072534"/>
          </a:xfrm>
          <a:prstGeom prst="rect">
            <a:avLst/>
          </a:prstGeom>
          <a:noFill/>
          <a:ln/>
        </p:spPr>
        <p:txBody>
          <a:bodyPr wrap="none" lIns="0" tIns="0" rIns="0" bIns="0" rtlCol="0" anchor="t"/>
          <a:lstStyle/>
          <a:p>
            <a:pPr algn="l" indent="0" marL="0">
              <a:buNone/>
            </a:pPr>
            <a:r>
              <a:rPr lang="en-US" sz="6032" spc="-332" kern="0" dirty="0">
                <a:solidFill>
                  <a:srgbClr val="3C4ED6"/>
                </a:solidFill>
                <a:latin typeface="Albert Sans Medium" pitchFamily="34" charset="0"/>
                <a:ea typeface="Albert Sans Medium" pitchFamily="34" charset="-122"/>
                <a:cs typeface="Albert Sans Medium" pitchFamily="34" charset="-120"/>
              </a:rPr>
              <a:t>Prove.</a:t>
            </a:r>
            <a:endParaRPr lang="en-US" sz="6032" dirty="0"/>
          </a:p>
        </p:txBody>
      </p:sp>
      <p:sp>
        <p:nvSpPr>
          <p:cNvPr id="9" name="Editable text 7: An expert-led delivery approach: agree the problem, bui"/>
          <p:cNvSpPr/>
          <p:nvPr/>
        </p:nvSpPr>
        <p:spPr>
          <a:xfrm>
            <a:off x="594271" y="2383245"/>
            <a:ext cx="11471968"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An expert-led delivery approach: agree the problem, build with domain experts, and validate before handoff.</a:t>
            </a:r>
            <a:endParaRPr lang="en-US" sz="1799" dirty="0"/>
          </a:p>
        </p:txBody>
      </p:sp>
      <p:sp>
        <p:nvSpPr>
          <p:cNvPr id="10" name="Editable text 8: Understand"/>
          <p:cNvSpPr/>
          <p:nvPr/>
        </p:nvSpPr>
        <p:spPr>
          <a:xfrm>
            <a:off x="863054" y="3820282"/>
            <a:ext cx="2613555" cy="658616"/>
          </a:xfrm>
          <a:prstGeom prst="rect">
            <a:avLst/>
          </a:prstGeom>
          <a:noFill/>
          <a:ln/>
        </p:spPr>
        <p:txBody>
          <a:bodyPr wrap="none" lIns="0" tIns="0" rIns="0" bIns="0" rtlCol="0" anchor="t"/>
          <a:lstStyle/>
          <a:p>
            <a:pPr algn="l" indent="0" marL="0">
              <a:buNone/>
            </a:pPr>
            <a:r>
              <a:rPr lang="en-US" sz="3704" spc="-130" kern="0" dirty="0">
                <a:solidFill>
                  <a:srgbClr val="17191E"/>
                </a:solidFill>
                <a:latin typeface="Albert Sans Medium" pitchFamily="34" charset="0"/>
                <a:ea typeface="Albert Sans Medium" pitchFamily="34" charset="-122"/>
                <a:cs typeface="Albert Sans Medium" pitchFamily="34" charset="-120"/>
              </a:rPr>
              <a:t>Understand</a:t>
            </a:r>
            <a:endParaRPr lang="en-US" sz="3704" dirty="0"/>
          </a:p>
        </p:txBody>
      </p:sp>
      <p:sp>
        <p:nvSpPr>
          <p:cNvPr id="11" name="Editable text 9: People + purpose"/>
          <p:cNvSpPr/>
          <p:nvPr/>
        </p:nvSpPr>
        <p:spPr>
          <a:xfrm>
            <a:off x="863054" y="4592869"/>
            <a:ext cx="2321765" cy="376314"/>
          </a:xfrm>
          <a:prstGeom prst="rect">
            <a:avLst/>
          </a:prstGeom>
          <a:noFill/>
          <a:ln/>
        </p:spPr>
        <p:txBody>
          <a:bodyPr wrap="none" lIns="0" tIns="0" rIns="0" bIns="0" rtlCol="0" anchor="t"/>
          <a:lstStyle/>
          <a:p>
            <a:pPr algn="l" indent="0" marL="0">
              <a:buNone/>
            </a:pPr>
            <a:r>
              <a:rPr lang="en-US" sz="2116" dirty="0">
                <a:solidFill>
                  <a:srgbClr val="17191E"/>
                </a:solidFill>
                <a:latin typeface="Albert Sans" pitchFamily="34" charset="0"/>
                <a:ea typeface="Albert Sans" pitchFamily="34" charset="-122"/>
                <a:cs typeface="Albert Sans" pitchFamily="34" charset="-120"/>
              </a:rPr>
              <a:t>People + purpose</a:t>
            </a:r>
            <a:endParaRPr lang="en-US" sz="2116" dirty="0"/>
          </a:p>
        </p:txBody>
      </p:sp>
      <p:sp>
        <p:nvSpPr>
          <p:cNvPr id="12" name="Editable text 10: Build"/>
          <p:cNvSpPr/>
          <p:nvPr/>
        </p:nvSpPr>
        <p:spPr>
          <a:xfrm>
            <a:off x="5419725" y="3820282"/>
            <a:ext cx="1291578" cy="658616"/>
          </a:xfrm>
          <a:prstGeom prst="rect">
            <a:avLst/>
          </a:prstGeom>
          <a:noFill/>
          <a:ln/>
        </p:spPr>
        <p:txBody>
          <a:bodyPr wrap="none" lIns="0" tIns="0" rIns="0" bIns="0" rtlCol="0" anchor="t"/>
          <a:lstStyle/>
          <a:p>
            <a:pPr algn="l" indent="0" marL="0">
              <a:buNone/>
            </a:pPr>
            <a:r>
              <a:rPr lang="en-US" sz="3704" spc="-130" kern="0" dirty="0">
                <a:solidFill>
                  <a:srgbClr val="17191E"/>
                </a:solidFill>
                <a:latin typeface="Albert Sans Medium" pitchFamily="34" charset="0"/>
                <a:ea typeface="Albert Sans Medium" pitchFamily="34" charset="-122"/>
                <a:cs typeface="Albert Sans Medium" pitchFamily="34" charset="-120"/>
              </a:rPr>
              <a:t>Build</a:t>
            </a:r>
            <a:endParaRPr lang="en-US" sz="3704" dirty="0"/>
          </a:p>
        </p:txBody>
      </p:sp>
      <p:sp>
        <p:nvSpPr>
          <p:cNvPr id="13" name="Editable text 11: Data + design"/>
          <p:cNvSpPr/>
          <p:nvPr/>
        </p:nvSpPr>
        <p:spPr>
          <a:xfrm>
            <a:off x="5419725" y="4592869"/>
            <a:ext cx="1869404" cy="376314"/>
          </a:xfrm>
          <a:prstGeom prst="rect">
            <a:avLst/>
          </a:prstGeom>
          <a:noFill/>
          <a:ln/>
        </p:spPr>
        <p:txBody>
          <a:bodyPr wrap="none" lIns="0" tIns="0" rIns="0" bIns="0" rtlCol="0" anchor="t"/>
          <a:lstStyle/>
          <a:p>
            <a:pPr algn="l" indent="0" marL="0">
              <a:buNone/>
            </a:pPr>
            <a:r>
              <a:rPr lang="en-US" sz="2116" dirty="0">
                <a:solidFill>
                  <a:srgbClr val="17191E"/>
                </a:solidFill>
                <a:latin typeface="Albert Sans" pitchFamily="34" charset="0"/>
                <a:ea typeface="Albert Sans" pitchFamily="34" charset="-122"/>
                <a:cs typeface="Albert Sans" pitchFamily="34" charset="-120"/>
              </a:rPr>
              <a:t>Data + design</a:t>
            </a:r>
            <a:endParaRPr lang="en-US" sz="2116" dirty="0"/>
          </a:p>
        </p:txBody>
      </p:sp>
      <p:sp>
        <p:nvSpPr>
          <p:cNvPr id="14" name="Editable text 12: Prove"/>
          <p:cNvSpPr/>
          <p:nvPr/>
        </p:nvSpPr>
        <p:spPr>
          <a:xfrm>
            <a:off x="9976545" y="3820282"/>
            <a:ext cx="1436890" cy="658616"/>
          </a:xfrm>
          <a:prstGeom prst="rect">
            <a:avLst/>
          </a:prstGeom>
          <a:noFill/>
          <a:ln/>
        </p:spPr>
        <p:txBody>
          <a:bodyPr wrap="none" lIns="0" tIns="0" rIns="0" bIns="0" rtlCol="0" anchor="t"/>
          <a:lstStyle/>
          <a:p>
            <a:pPr algn="l" indent="0" marL="0">
              <a:buNone/>
            </a:pPr>
            <a:r>
              <a:rPr lang="en-US" sz="3704" spc="-130" kern="0" dirty="0">
                <a:solidFill>
                  <a:srgbClr val="FFFFFF"/>
                </a:solidFill>
                <a:latin typeface="Albert Sans Medium" pitchFamily="34" charset="0"/>
                <a:ea typeface="Albert Sans Medium" pitchFamily="34" charset="-122"/>
                <a:cs typeface="Albert Sans Medium" pitchFamily="34" charset="-120"/>
              </a:rPr>
              <a:t>Prove</a:t>
            </a:r>
            <a:endParaRPr lang="en-US" sz="3704" dirty="0"/>
          </a:p>
        </p:txBody>
      </p:sp>
      <p:sp>
        <p:nvSpPr>
          <p:cNvPr id="15" name="Editable text 13: Experts + users"/>
          <p:cNvSpPr/>
          <p:nvPr/>
        </p:nvSpPr>
        <p:spPr>
          <a:xfrm>
            <a:off x="9976545" y="4592869"/>
            <a:ext cx="2053251" cy="376314"/>
          </a:xfrm>
          <a:prstGeom prst="rect">
            <a:avLst/>
          </a:prstGeom>
          <a:noFill/>
          <a:ln/>
        </p:spPr>
        <p:txBody>
          <a:bodyPr wrap="none" lIns="0" tIns="0" rIns="0" bIns="0" rtlCol="0" anchor="t"/>
          <a:lstStyle/>
          <a:p>
            <a:pPr algn="l" indent="0" marL="0">
              <a:buNone/>
            </a:pPr>
            <a:r>
              <a:rPr lang="en-US" sz="2116" dirty="0">
                <a:solidFill>
                  <a:srgbClr val="FFFFFF"/>
                </a:solidFill>
                <a:latin typeface="Albert Sans" pitchFamily="34" charset="0"/>
                <a:ea typeface="Albert Sans" pitchFamily="34" charset="-122"/>
                <a:cs typeface="Albert Sans" pitchFamily="34" charset="-120"/>
              </a:rPr>
              <a:t>Experts + users</a:t>
            </a:r>
            <a:endParaRPr lang="en-US" sz="2116" dirty="0"/>
          </a:p>
        </p:txBody>
      </p:sp>
      <p:sp>
        <p:nvSpPr>
          <p:cNvPr id="16" name="Editable text 14: Frontend"/>
          <p:cNvSpPr/>
          <p:nvPr/>
        </p:nvSpPr>
        <p:spPr>
          <a:xfrm>
            <a:off x="1024235" y="6584037"/>
            <a:ext cx="888865"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Frontend</a:t>
            </a:r>
            <a:endParaRPr lang="en-US" sz="1481" dirty="0"/>
          </a:p>
        </p:txBody>
      </p:sp>
      <p:sp>
        <p:nvSpPr>
          <p:cNvPr id="17" name="Editable text 15: Data model"/>
          <p:cNvSpPr/>
          <p:nvPr/>
        </p:nvSpPr>
        <p:spPr>
          <a:xfrm>
            <a:off x="3511004" y="6584037"/>
            <a:ext cx="1100689"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Data model</a:t>
            </a:r>
            <a:endParaRPr lang="en-US" sz="1481" dirty="0"/>
          </a:p>
        </p:txBody>
      </p:sp>
      <p:sp>
        <p:nvSpPr>
          <p:cNvPr id="18" name="Editable text 16: QA"/>
          <p:cNvSpPr/>
          <p:nvPr/>
        </p:nvSpPr>
        <p:spPr>
          <a:xfrm>
            <a:off x="6209556" y="6584037"/>
            <a:ext cx="376803"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QA</a:t>
            </a:r>
            <a:endParaRPr lang="en-US" sz="1481" dirty="0"/>
          </a:p>
        </p:txBody>
      </p:sp>
      <p:sp>
        <p:nvSpPr>
          <p:cNvPr id="19" name="Editable text 17: Accessibility"/>
          <p:cNvSpPr/>
          <p:nvPr/>
        </p:nvSpPr>
        <p:spPr>
          <a:xfrm>
            <a:off x="8184059" y="6584037"/>
            <a:ext cx="1189104"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Accessibility</a:t>
            </a:r>
            <a:endParaRPr lang="en-US" sz="1481" dirty="0"/>
          </a:p>
        </p:txBody>
      </p:sp>
      <p:sp>
        <p:nvSpPr>
          <p:cNvPr id="20" name="Editable text 18: Privacy"/>
          <p:cNvSpPr/>
          <p:nvPr/>
        </p:nvSpPr>
        <p:spPr>
          <a:xfrm>
            <a:off x="10971014" y="6584037"/>
            <a:ext cx="730656"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Privacy</a:t>
            </a:r>
            <a:endParaRPr lang="en-US" sz="1481" dirty="0"/>
          </a:p>
        </p:txBody>
      </p:sp>
      <p:sp>
        <p:nvSpPr>
          <p:cNvPr id="21" name="Editable text 19: Usability"/>
          <p:cNvSpPr/>
          <p:nvPr/>
        </p:nvSpPr>
        <p:spPr>
          <a:xfrm>
            <a:off x="13299579" y="6584037"/>
            <a:ext cx="839955"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Usability</a:t>
            </a:r>
            <a:endParaRPr lang="en-US" sz="1481" dirty="0"/>
          </a:p>
        </p:txBody>
      </p:sp>
      <p:sp>
        <p:nvSpPr>
          <p:cNvPr id="22" name="Editable text 20: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23" name="Editable text 21: 04 / 18"/>
          <p:cNvSpPr/>
          <p:nvPr/>
        </p:nvSpPr>
        <p:spPr>
          <a:xfrm>
            <a:off x="13515231" y="7688980"/>
            <a:ext cx="613260"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04 / 18</a:t>
            </a:r>
            <a:endParaRPr lang="en-US" sz="1323" dirty="0"/>
          </a:p>
        </p:txBody>
      </p:sp>
      <p:sp>
        <p:nvSpPr>
          <p:cNvPr id="24" name="Editable text 22: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
        <p:nvSpPr>
          <p:cNvPr id="25" name="Editable text 23: 01"/>
          <p:cNvSpPr/>
          <p:nvPr/>
        </p:nvSpPr>
        <p:spPr>
          <a:xfrm>
            <a:off x="863054" y="3310496"/>
            <a:ext cx="319307" cy="300971"/>
          </a:xfrm>
          <a:prstGeom prst="rect">
            <a:avLst/>
          </a:prstGeom>
          <a:noFill/>
          <a:ln/>
        </p:spPr>
        <p:txBody>
          <a:bodyPr wrap="none" lIns="0" tIns="0" rIns="0" bIns="0" rtlCol="0" anchor="t"/>
          <a:lstStyle/>
          <a:p>
            <a:pPr algn="l" indent="0" marL="0">
              <a:buNone/>
            </a:pPr>
            <a:r>
              <a:rPr lang="en-US" sz="1693" dirty="0">
                <a:solidFill>
                  <a:srgbClr val="17191E"/>
                </a:solidFill>
                <a:latin typeface="Albert Sans" pitchFamily="34" charset="0"/>
                <a:ea typeface="Albert Sans" pitchFamily="34" charset="-122"/>
                <a:cs typeface="Albert Sans" pitchFamily="34" charset="-120"/>
              </a:rPr>
              <a:t>01</a:t>
            </a:r>
            <a:endParaRPr lang="en-US" sz="1693" dirty="0"/>
          </a:p>
        </p:txBody>
      </p:sp>
      <p:sp>
        <p:nvSpPr>
          <p:cNvPr id="26" name="Editable text 24: Map user tasks, source data, and"/>
          <p:cNvSpPr/>
          <p:nvPr/>
        </p:nvSpPr>
        <p:spPr>
          <a:xfrm>
            <a:off x="863054" y="5113953"/>
            <a:ext cx="3142246"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Map user tasks, source data, and</a:t>
            </a:r>
            <a:endParaRPr lang="en-US" sz="1587" dirty="0"/>
          </a:p>
        </p:txBody>
      </p:sp>
      <p:sp>
        <p:nvSpPr>
          <p:cNvPr id="27" name="Editable text 25: constraints."/>
          <p:cNvSpPr/>
          <p:nvPr/>
        </p:nvSpPr>
        <p:spPr>
          <a:xfrm>
            <a:off x="863054" y="5418753"/>
            <a:ext cx="1180295"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constraints.</a:t>
            </a:r>
            <a:endParaRPr lang="en-US" sz="1587" dirty="0"/>
          </a:p>
        </p:txBody>
      </p:sp>
      <p:sp>
        <p:nvSpPr>
          <p:cNvPr id="28" name="Editable text 26: 02"/>
          <p:cNvSpPr/>
          <p:nvPr/>
        </p:nvSpPr>
        <p:spPr>
          <a:xfrm>
            <a:off x="5419725" y="3310496"/>
            <a:ext cx="382726" cy="300971"/>
          </a:xfrm>
          <a:prstGeom prst="rect">
            <a:avLst/>
          </a:prstGeom>
          <a:noFill/>
          <a:ln/>
        </p:spPr>
        <p:txBody>
          <a:bodyPr wrap="none" lIns="0" tIns="0" rIns="0" bIns="0" rtlCol="0" anchor="t"/>
          <a:lstStyle/>
          <a:p>
            <a:pPr algn="l" indent="0" marL="0">
              <a:buNone/>
            </a:pPr>
            <a:r>
              <a:rPr lang="en-US" sz="1693" dirty="0">
                <a:solidFill>
                  <a:srgbClr val="17191E"/>
                </a:solidFill>
                <a:latin typeface="Albert Sans" pitchFamily="34" charset="0"/>
                <a:ea typeface="Albert Sans" pitchFamily="34" charset="-122"/>
                <a:cs typeface="Albert Sans" pitchFamily="34" charset="-120"/>
              </a:rPr>
              <a:t>02</a:t>
            </a:r>
            <a:endParaRPr lang="en-US" sz="1693" dirty="0"/>
          </a:p>
        </p:txBody>
      </p:sp>
      <p:sp>
        <p:nvSpPr>
          <p:cNvPr id="29" name="Editable text 27: Prototype a workflow around your"/>
          <p:cNvSpPr/>
          <p:nvPr/>
        </p:nvSpPr>
        <p:spPr>
          <a:xfrm>
            <a:off x="5419725" y="5113953"/>
            <a:ext cx="3222033"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Prototype a workflow around your</a:t>
            </a:r>
            <a:endParaRPr lang="en-US" sz="1587" dirty="0"/>
          </a:p>
        </p:txBody>
      </p:sp>
      <p:sp>
        <p:nvSpPr>
          <p:cNvPr id="30" name="Editable text 28: program."/>
          <p:cNvSpPr/>
          <p:nvPr/>
        </p:nvSpPr>
        <p:spPr>
          <a:xfrm>
            <a:off x="5419725" y="5418753"/>
            <a:ext cx="951375"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program.</a:t>
            </a:r>
            <a:endParaRPr lang="en-US" sz="1587" dirty="0"/>
          </a:p>
        </p:txBody>
      </p:sp>
      <p:sp>
        <p:nvSpPr>
          <p:cNvPr id="31" name="Editable text 29: 03"/>
          <p:cNvSpPr/>
          <p:nvPr/>
        </p:nvSpPr>
        <p:spPr>
          <a:xfrm>
            <a:off x="9976545" y="3310496"/>
            <a:ext cx="382296" cy="300971"/>
          </a:xfrm>
          <a:prstGeom prst="rect">
            <a:avLst/>
          </a:prstGeom>
          <a:noFill/>
          <a:ln/>
        </p:spPr>
        <p:txBody>
          <a:bodyPr wrap="none" lIns="0" tIns="0" rIns="0" bIns="0" rtlCol="0" anchor="t"/>
          <a:lstStyle/>
          <a:p>
            <a:pPr algn="l" indent="0" marL="0">
              <a:buNone/>
            </a:pPr>
            <a:r>
              <a:rPr lang="en-US" sz="1693" dirty="0">
                <a:solidFill>
                  <a:srgbClr val="FFFFFF"/>
                </a:solidFill>
                <a:latin typeface="Albert Sans" pitchFamily="34" charset="0"/>
                <a:ea typeface="Albert Sans" pitchFamily="34" charset="-122"/>
                <a:cs typeface="Albert Sans" pitchFamily="34" charset="-120"/>
              </a:rPr>
              <a:t>03</a:t>
            </a:r>
            <a:endParaRPr lang="en-US" sz="1693" dirty="0"/>
          </a:p>
        </p:txBody>
      </p:sp>
      <p:sp>
        <p:nvSpPr>
          <p:cNvPr id="32" name="Editable text 30: Test priority tasks; assign update"/>
          <p:cNvSpPr/>
          <p:nvPr/>
        </p:nvSpPr>
        <p:spPr>
          <a:xfrm>
            <a:off x="9976545" y="5113953"/>
            <a:ext cx="3148490" cy="282169"/>
          </a:xfrm>
          <a:prstGeom prst="rect">
            <a:avLst/>
          </a:prstGeom>
          <a:noFill/>
          <a:ln/>
        </p:spPr>
        <p:txBody>
          <a:bodyPr wrap="none" lIns="0" tIns="0" rIns="0" bIns="0" rtlCol="0" anchor="t"/>
          <a:lstStyle/>
          <a:p>
            <a:pPr algn="l" indent="0" marL="0">
              <a:buNone/>
            </a:pPr>
            <a:r>
              <a:rPr lang="en-US" sz="1587" dirty="0">
                <a:solidFill>
                  <a:srgbClr val="FFFFFF"/>
                </a:solidFill>
                <a:latin typeface="Albert Sans" pitchFamily="34" charset="0"/>
                <a:ea typeface="Albert Sans" pitchFamily="34" charset="-122"/>
                <a:cs typeface="Albert Sans" pitchFamily="34" charset="-120"/>
              </a:rPr>
              <a:t>Test priority tasks; assign update</a:t>
            </a:r>
            <a:endParaRPr lang="en-US" sz="1587" dirty="0"/>
          </a:p>
        </p:txBody>
      </p:sp>
      <p:sp>
        <p:nvSpPr>
          <p:cNvPr id="33" name="Editable text 31: ownership."/>
          <p:cNvSpPr/>
          <p:nvPr/>
        </p:nvSpPr>
        <p:spPr>
          <a:xfrm>
            <a:off x="9976545" y="5418753"/>
            <a:ext cx="1104725" cy="282169"/>
          </a:xfrm>
          <a:prstGeom prst="rect">
            <a:avLst/>
          </a:prstGeom>
          <a:noFill/>
          <a:ln/>
        </p:spPr>
        <p:txBody>
          <a:bodyPr wrap="none" lIns="0" tIns="0" rIns="0" bIns="0" rtlCol="0" anchor="t"/>
          <a:lstStyle/>
          <a:p>
            <a:pPr algn="l" indent="0" marL="0">
              <a:buNone/>
            </a:pPr>
            <a:r>
              <a:rPr lang="en-US" sz="1587" dirty="0">
                <a:solidFill>
                  <a:srgbClr val="FFFFFF"/>
                </a:solidFill>
                <a:latin typeface="Albert Sans" pitchFamily="34" charset="0"/>
                <a:ea typeface="Albert Sans" pitchFamily="34" charset="-122"/>
                <a:cs typeface="Albert Sans" pitchFamily="34" charset="-120"/>
              </a:rPr>
              <a:t>ownership.</a:t>
            </a:r>
            <a:endParaRPr lang="en-US" sz="1587"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How we build"/>
          <p:cNvSpPr/>
          <p:nvPr/>
        </p:nvSpPr>
        <p:spPr>
          <a:xfrm>
            <a:off x="13000732" y="421405"/>
            <a:ext cx="1127804"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How we build</a:t>
            </a:r>
            <a:endParaRPr lang="en-US" sz="1323" dirty="0"/>
          </a:p>
        </p:txBody>
      </p:sp>
      <p:sp>
        <p:nvSpPr>
          <p:cNvPr id="6" name="Editable text 4: How we build"/>
          <p:cNvSpPr/>
          <p:nvPr/>
        </p:nvSpPr>
        <p:spPr>
          <a:xfrm>
            <a:off x="594271" y="2694646"/>
            <a:ext cx="1221721"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How we build</a:t>
            </a:r>
            <a:endParaRPr lang="en-US" sz="1429" dirty="0"/>
          </a:p>
        </p:txBody>
      </p:sp>
      <p:sp>
        <p:nvSpPr>
          <p:cNvPr id="7" name="Editable text 5: Quality is a"/>
          <p:cNvSpPr/>
          <p:nvPr/>
        </p:nvSpPr>
        <p:spPr>
          <a:xfrm>
            <a:off x="594271" y="3047962"/>
            <a:ext cx="3184656" cy="884377"/>
          </a:xfrm>
          <a:prstGeom prst="rect">
            <a:avLst/>
          </a:prstGeom>
          <a:noFill/>
          <a:ln/>
        </p:spPr>
        <p:txBody>
          <a:bodyPr wrap="none" lIns="0" tIns="0" rIns="0" bIns="0" rtlCol="0" anchor="t"/>
          <a:lstStyle/>
          <a:p>
            <a:pPr algn="l" indent="0" marL="0">
              <a:buNone/>
            </a:pPr>
            <a:r>
              <a:rPr lang="en-US" sz="4974" spc="-274" kern="0" dirty="0">
                <a:solidFill>
                  <a:srgbClr val="17191E"/>
                </a:solidFill>
                <a:latin typeface="Albert Sans Medium" pitchFamily="34" charset="0"/>
                <a:ea typeface="Albert Sans Medium" pitchFamily="34" charset="-122"/>
                <a:cs typeface="Albert Sans Medium" pitchFamily="34" charset="-120"/>
              </a:rPr>
              <a:t>Quality is a</a:t>
            </a:r>
            <a:endParaRPr lang="en-US" sz="4974" dirty="0"/>
          </a:p>
        </p:txBody>
      </p:sp>
      <p:sp>
        <p:nvSpPr>
          <p:cNvPr id="8" name="Editable text 6: design decision."/>
          <p:cNvSpPr/>
          <p:nvPr/>
        </p:nvSpPr>
        <p:spPr>
          <a:xfrm>
            <a:off x="594271" y="3695662"/>
            <a:ext cx="4559657" cy="884377"/>
          </a:xfrm>
          <a:prstGeom prst="rect">
            <a:avLst/>
          </a:prstGeom>
          <a:noFill/>
          <a:ln/>
        </p:spPr>
        <p:txBody>
          <a:bodyPr wrap="none" lIns="0" tIns="0" rIns="0" bIns="0" rtlCol="0" anchor="t"/>
          <a:lstStyle/>
          <a:p>
            <a:pPr algn="l" indent="0" marL="0">
              <a:buNone/>
            </a:pPr>
            <a:r>
              <a:rPr lang="en-US" sz="4974" spc="-274" kern="0" dirty="0">
                <a:solidFill>
                  <a:srgbClr val="3C4ED6"/>
                </a:solidFill>
                <a:latin typeface="Albert Sans Medium" pitchFamily="34" charset="0"/>
                <a:ea typeface="Albert Sans Medium" pitchFamily="34" charset="-122"/>
                <a:cs typeface="Albert Sans Medium" pitchFamily="34" charset="-120"/>
              </a:rPr>
              <a:t>design decision.</a:t>
            </a:r>
            <a:endParaRPr lang="en-US" sz="4974" dirty="0"/>
          </a:p>
        </p:txBody>
      </p:sp>
      <p:sp>
        <p:nvSpPr>
          <p:cNvPr id="9" name="Editable text 7: Useful tools depend on strong data design,"/>
          <p:cNvSpPr/>
          <p:nvPr/>
        </p:nvSpPr>
        <p:spPr>
          <a:xfrm>
            <a:off x="594271" y="4612095"/>
            <a:ext cx="4629160"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Useful tools depend on strong data design,</a:t>
            </a:r>
            <a:endParaRPr lang="en-US" sz="1799" dirty="0"/>
          </a:p>
        </p:txBody>
      </p:sp>
      <p:sp>
        <p:nvSpPr>
          <p:cNvPr id="10" name="Editable text 8: careful QA, and accessible, responsible"/>
          <p:cNvSpPr/>
          <p:nvPr/>
        </p:nvSpPr>
        <p:spPr>
          <a:xfrm>
            <a:off x="594271" y="4954995"/>
            <a:ext cx="4230754"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careful QA, and accessible, responsible</a:t>
            </a:r>
            <a:endParaRPr lang="en-US" sz="1799" dirty="0"/>
          </a:p>
        </p:txBody>
      </p:sp>
      <p:sp>
        <p:nvSpPr>
          <p:cNvPr id="11" name="Editable text 9: implementation."/>
          <p:cNvSpPr/>
          <p:nvPr/>
        </p:nvSpPr>
        <p:spPr>
          <a:xfrm>
            <a:off x="594271" y="5297895"/>
            <a:ext cx="1828341"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implementation.</a:t>
            </a:r>
            <a:endParaRPr lang="en-US" sz="1799" dirty="0"/>
          </a:p>
        </p:txBody>
      </p:sp>
      <p:sp>
        <p:nvSpPr>
          <p:cNvPr id="12" name="Editable text 10: The data foundation"/>
          <p:cNvSpPr/>
          <p:nvPr/>
        </p:nvSpPr>
        <p:spPr>
          <a:xfrm>
            <a:off x="6126212" y="957510"/>
            <a:ext cx="2524530" cy="385648"/>
          </a:xfrm>
          <a:prstGeom prst="rect">
            <a:avLst/>
          </a:prstGeom>
          <a:noFill/>
          <a:ln/>
        </p:spPr>
        <p:txBody>
          <a:bodyPr wrap="none" lIns="0" tIns="0" rIns="0" bIns="0" rtlCol="0" anchor="t"/>
          <a:lstStyle/>
          <a:p>
            <a:pPr algn="l" indent="0" marL="0">
              <a:buNone/>
            </a:pPr>
            <a:r>
              <a:rPr lang="en-US" sz="2169" spc="-76" kern="0" dirty="0">
                <a:solidFill>
                  <a:srgbClr val="17191E"/>
                </a:solidFill>
                <a:latin typeface="Albert Sans Medium" pitchFamily="34" charset="0"/>
                <a:ea typeface="Albert Sans Medium" pitchFamily="34" charset="-122"/>
                <a:cs typeface="Albert Sans Medium" pitchFamily="34" charset="-120"/>
              </a:rPr>
              <a:t>The data foundation</a:t>
            </a:r>
            <a:endParaRPr lang="en-US" sz="2169" dirty="0"/>
          </a:p>
        </p:txBody>
      </p:sp>
      <p:sp>
        <p:nvSpPr>
          <p:cNvPr id="13" name="Editable text 11: Records"/>
          <p:cNvSpPr/>
          <p:nvPr/>
        </p:nvSpPr>
        <p:spPr>
          <a:xfrm>
            <a:off x="6946106" y="1916520"/>
            <a:ext cx="940807"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Records</a:t>
            </a:r>
            <a:endParaRPr lang="en-US" sz="1799" dirty="0"/>
          </a:p>
        </p:txBody>
      </p:sp>
      <p:sp>
        <p:nvSpPr>
          <p:cNvPr id="14" name="Editable text 12: source the right evidence"/>
          <p:cNvSpPr/>
          <p:nvPr/>
        </p:nvSpPr>
        <p:spPr>
          <a:xfrm>
            <a:off x="6946106" y="2256630"/>
            <a:ext cx="1983404"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source the right evidence</a:t>
            </a:r>
            <a:endParaRPr lang="en-US" sz="1270" dirty="0"/>
          </a:p>
        </p:txBody>
      </p:sp>
      <p:sp>
        <p:nvSpPr>
          <p:cNvPr id="15" name="Editable text 13: Definitions"/>
          <p:cNvSpPr/>
          <p:nvPr/>
        </p:nvSpPr>
        <p:spPr>
          <a:xfrm>
            <a:off x="6946106" y="3383370"/>
            <a:ext cx="1178160"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Definitions</a:t>
            </a:r>
            <a:endParaRPr lang="en-US" sz="1799" dirty="0"/>
          </a:p>
        </p:txBody>
      </p:sp>
      <p:sp>
        <p:nvSpPr>
          <p:cNvPr id="16" name="Editable text 14: structure a usable model"/>
          <p:cNvSpPr/>
          <p:nvPr/>
        </p:nvSpPr>
        <p:spPr>
          <a:xfrm>
            <a:off x="6946106" y="3723480"/>
            <a:ext cx="1914553"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structure a usable model</a:t>
            </a:r>
            <a:endParaRPr lang="en-US" sz="1270" dirty="0"/>
          </a:p>
        </p:txBody>
      </p:sp>
      <p:sp>
        <p:nvSpPr>
          <p:cNvPr id="17" name="Editable text 15: Checks"/>
          <p:cNvSpPr/>
          <p:nvPr/>
        </p:nvSpPr>
        <p:spPr>
          <a:xfrm>
            <a:off x="6946106" y="4850220"/>
            <a:ext cx="876843"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Checks</a:t>
            </a:r>
            <a:endParaRPr lang="en-US" sz="1799" dirty="0"/>
          </a:p>
        </p:txBody>
      </p:sp>
      <p:sp>
        <p:nvSpPr>
          <p:cNvPr id="18" name="Editable text 16: validate with expert judgment"/>
          <p:cNvSpPr/>
          <p:nvPr/>
        </p:nvSpPr>
        <p:spPr>
          <a:xfrm>
            <a:off x="6946106" y="5190330"/>
            <a:ext cx="2291885"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validate with expert judgment</a:t>
            </a:r>
            <a:endParaRPr lang="en-US" sz="1270" dirty="0"/>
          </a:p>
        </p:txBody>
      </p:sp>
      <p:sp>
        <p:nvSpPr>
          <p:cNvPr id="19" name="Editable text 17: Updates"/>
          <p:cNvSpPr/>
          <p:nvPr/>
        </p:nvSpPr>
        <p:spPr>
          <a:xfrm>
            <a:off x="6946106" y="6317070"/>
            <a:ext cx="954287"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Updates</a:t>
            </a:r>
            <a:endParaRPr lang="en-US" sz="1799" dirty="0"/>
          </a:p>
        </p:txBody>
      </p:sp>
      <p:sp>
        <p:nvSpPr>
          <p:cNvPr id="20" name="Editable text 18: assign named ownership"/>
          <p:cNvSpPr/>
          <p:nvPr/>
        </p:nvSpPr>
        <p:spPr>
          <a:xfrm>
            <a:off x="6946106" y="6657180"/>
            <a:ext cx="1917968"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assign named ownership</a:t>
            </a:r>
            <a:endParaRPr lang="en-US" sz="1270" dirty="0"/>
          </a:p>
        </p:txBody>
      </p:sp>
      <p:sp>
        <p:nvSpPr>
          <p:cNvPr id="21" name="Editable text 19: The build standard"/>
          <p:cNvSpPr/>
          <p:nvPr/>
        </p:nvSpPr>
        <p:spPr>
          <a:xfrm>
            <a:off x="10234613" y="957510"/>
            <a:ext cx="2351911" cy="385648"/>
          </a:xfrm>
          <a:prstGeom prst="rect">
            <a:avLst/>
          </a:prstGeom>
          <a:noFill/>
          <a:ln/>
        </p:spPr>
        <p:txBody>
          <a:bodyPr wrap="none" lIns="0" tIns="0" rIns="0" bIns="0" rtlCol="0" anchor="t"/>
          <a:lstStyle/>
          <a:p>
            <a:pPr algn="l" indent="0" marL="0">
              <a:buNone/>
            </a:pPr>
            <a:r>
              <a:rPr lang="en-US" sz="2169" spc="-76" kern="0" dirty="0">
                <a:solidFill>
                  <a:srgbClr val="17191E"/>
                </a:solidFill>
                <a:latin typeface="Albert Sans Medium" pitchFamily="34" charset="0"/>
                <a:ea typeface="Albert Sans Medium" pitchFamily="34" charset="-122"/>
                <a:cs typeface="Albert Sans Medium" pitchFamily="34" charset="-120"/>
              </a:rPr>
              <a:t>The build standard</a:t>
            </a:r>
            <a:endParaRPr lang="en-US" sz="2169" dirty="0"/>
          </a:p>
        </p:txBody>
      </p:sp>
      <p:sp>
        <p:nvSpPr>
          <p:cNvPr id="22" name="Editable text 20: Accurate"/>
          <p:cNvSpPr/>
          <p:nvPr/>
        </p:nvSpPr>
        <p:spPr>
          <a:xfrm>
            <a:off x="10969823" y="1567463"/>
            <a:ext cx="871661"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Accurate</a:t>
            </a:r>
            <a:endParaRPr lang="en-US" sz="1534" dirty="0"/>
          </a:p>
        </p:txBody>
      </p:sp>
      <p:sp>
        <p:nvSpPr>
          <p:cNvPr id="23" name="Editable text 21: source checks and expert review"/>
          <p:cNvSpPr/>
          <p:nvPr/>
        </p:nvSpPr>
        <p:spPr>
          <a:xfrm>
            <a:off x="10969823" y="1878297"/>
            <a:ext cx="2158981"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source checks and expert review</a:t>
            </a:r>
            <a:endParaRPr lang="en-US" sz="1090" dirty="0"/>
          </a:p>
        </p:txBody>
      </p:sp>
      <p:sp>
        <p:nvSpPr>
          <p:cNvPr id="24" name="Editable text 22: Accessible"/>
          <p:cNvSpPr/>
          <p:nvPr/>
        </p:nvSpPr>
        <p:spPr>
          <a:xfrm>
            <a:off x="10969823" y="2348513"/>
            <a:ext cx="1017768"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Accessible</a:t>
            </a:r>
            <a:endParaRPr lang="en-US" sz="1534" dirty="0"/>
          </a:p>
        </p:txBody>
      </p:sp>
      <p:sp>
        <p:nvSpPr>
          <p:cNvPr id="25" name="Editable text 23: keyboard, screen reader, contrast"/>
          <p:cNvSpPr/>
          <p:nvPr/>
        </p:nvSpPr>
        <p:spPr>
          <a:xfrm>
            <a:off x="10969823" y="2649822"/>
            <a:ext cx="2209806"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keyboard, screen reader, contrast</a:t>
            </a:r>
            <a:endParaRPr lang="en-US" sz="1090" dirty="0"/>
          </a:p>
        </p:txBody>
      </p:sp>
      <p:sp>
        <p:nvSpPr>
          <p:cNvPr id="26" name="Editable text 24: Responsible"/>
          <p:cNvSpPr/>
          <p:nvPr/>
        </p:nvSpPr>
        <p:spPr>
          <a:xfrm>
            <a:off x="10969823" y="3120038"/>
            <a:ext cx="1126277"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Responsible</a:t>
            </a:r>
            <a:endParaRPr lang="en-US" sz="1534" dirty="0"/>
          </a:p>
        </p:txBody>
      </p:sp>
      <p:sp>
        <p:nvSpPr>
          <p:cNvPr id="27" name="Editable text 25: privacy, security, clear limits"/>
          <p:cNvSpPr/>
          <p:nvPr/>
        </p:nvSpPr>
        <p:spPr>
          <a:xfrm>
            <a:off x="10969823" y="3430872"/>
            <a:ext cx="1867897"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privacy, security, clear limits</a:t>
            </a:r>
            <a:endParaRPr lang="en-US" sz="1090" dirty="0"/>
          </a:p>
        </p:txBody>
      </p:sp>
      <p:sp>
        <p:nvSpPr>
          <p:cNvPr id="28" name="Editable text 26: Useful"/>
          <p:cNvSpPr/>
          <p:nvPr/>
        </p:nvSpPr>
        <p:spPr>
          <a:xfrm>
            <a:off x="10969823" y="3901088"/>
            <a:ext cx="631436"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Useful</a:t>
            </a:r>
            <a:endParaRPr lang="en-US" sz="1534" dirty="0"/>
          </a:p>
        </p:txBody>
      </p:sp>
      <p:sp>
        <p:nvSpPr>
          <p:cNvPr id="29" name="Editable text 27: real tasks and user testing"/>
          <p:cNvSpPr/>
          <p:nvPr/>
        </p:nvSpPr>
        <p:spPr>
          <a:xfrm>
            <a:off x="10969823" y="4202397"/>
            <a:ext cx="1730634"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real tasks and user testing</a:t>
            </a:r>
            <a:endParaRPr lang="en-US" sz="1090" dirty="0"/>
          </a:p>
        </p:txBody>
      </p:sp>
      <p:sp>
        <p:nvSpPr>
          <p:cNvPr id="30" name="Editable text 28: Responsive"/>
          <p:cNvSpPr/>
          <p:nvPr/>
        </p:nvSpPr>
        <p:spPr>
          <a:xfrm>
            <a:off x="10969823" y="4672613"/>
            <a:ext cx="1072899"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Responsive</a:t>
            </a:r>
            <a:endParaRPr lang="en-US" sz="1534" dirty="0"/>
          </a:p>
        </p:txBody>
      </p:sp>
      <p:sp>
        <p:nvSpPr>
          <p:cNvPr id="31" name="Editable text 29: works across desktop, tablet, and phone"/>
          <p:cNvSpPr/>
          <p:nvPr/>
        </p:nvSpPr>
        <p:spPr>
          <a:xfrm>
            <a:off x="10969823" y="4973922"/>
            <a:ext cx="2629461"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works across desktop, tablet, and phone</a:t>
            </a:r>
            <a:endParaRPr lang="en-US" sz="1090" dirty="0"/>
          </a:p>
        </p:txBody>
      </p:sp>
      <p:sp>
        <p:nvSpPr>
          <p:cNvPr id="32" name="Editable text 30: Maintainable"/>
          <p:cNvSpPr/>
          <p:nvPr/>
        </p:nvSpPr>
        <p:spPr>
          <a:xfrm>
            <a:off x="10969823" y="5453663"/>
            <a:ext cx="1175756"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Maintainable</a:t>
            </a:r>
            <a:endParaRPr lang="en-US" sz="1534" dirty="0"/>
          </a:p>
        </p:txBody>
      </p:sp>
      <p:sp>
        <p:nvSpPr>
          <p:cNvPr id="33" name="Editable text 31: clear ownership and update paths"/>
          <p:cNvSpPr/>
          <p:nvPr/>
        </p:nvSpPr>
        <p:spPr>
          <a:xfrm>
            <a:off x="10969823" y="5754972"/>
            <a:ext cx="2222828"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clear ownership and update paths</a:t>
            </a:r>
            <a:endParaRPr lang="en-US" sz="1090" dirty="0"/>
          </a:p>
        </p:txBody>
      </p:sp>
      <p:sp>
        <p:nvSpPr>
          <p:cNvPr id="34" name="Editable text 32: Accessibility is tested, not assumed."/>
          <p:cNvSpPr/>
          <p:nvPr/>
        </p:nvSpPr>
        <p:spPr>
          <a:xfrm>
            <a:off x="10234613" y="6228688"/>
            <a:ext cx="2421036"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Accessibility is tested, not assumed.</a:t>
            </a:r>
            <a:endParaRPr lang="en-US" sz="1111" dirty="0"/>
          </a:p>
        </p:txBody>
      </p:sp>
      <p:sp>
        <p:nvSpPr>
          <p:cNvPr id="35" name="Editable text 33: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36" name="Editable text 34: 05 / 18"/>
          <p:cNvSpPr/>
          <p:nvPr/>
        </p:nvSpPr>
        <p:spPr>
          <a:xfrm>
            <a:off x="13520440" y="7688980"/>
            <a:ext cx="60805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05 / 18</a:t>
            </a:r>
            <a:endParaRPr lang="en-US" sz="1323" dirty="0"/>
          </a:p>
        </p:txBody>
      </p:sp>
      <p:sp>
        <p:nvSpPr>
          <p:cNvPr id="37" name="Editable text 35: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solutions"/>
          <p:cNvSpPr/>
          <p:nvPr/>
        </p:nvSpPr>
        <p:spPr>
          <a:xfrm>
            <a:off x="13016061" y="421405"/>
            <a:ext cx="111251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Our solutions</a:t>
            </a:r>
            <a:endParaRPr lang="en-US" sz="1323" dirty="0"/>
          </a:p>
        </p:txBody>
      </p:sp>
      <p:sp>
        <p:nvSpPr>
          <p:cNvPr id="6" name="Editable text 4: Our solutions"/>
          <p:cNvSpPr/>
          <p:nvPr/>
        </p:nvSpPr>
        <p:spPr>
          <a:xfrm>
            <a:off x="594271" y="970621"/>
            <a:ext cx="1208111"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solutions</a:t>
            </a:r>
            <a:endParaRPr lang="en-US" sz="1429" dirty="0"/>
          </a:p>
        </p:txBody>
      </p:sp>
      <p:sp>
        <p:nvSpPr>
          <p:cNvPr id="7" name="Editable text 5: Proven product patterns."/>
          <p:cNvSpPr/>
          <p:nvPr/>
        </p:nvSpPr>
        <p:spPr>
          <a:xfrm>
            <a:off x="594271" y="1320436"/>
            <a:ext cx="7345054" cy="959720"/>
          </a:xfrm>
          <a:prstGeom prst="rect">
            <a:avLst/>
          </a:prstGeom>
          <a:noFill/>
          <a:ln/>
        </p:spPr>
        <p:txBody>
          <a:bodyPr wrap="none" lIns="0" tIns="0" rIns="0" bIns="0" rtlCol="0" anchor="t"/>
          <a:lstStyle/>
          <a:p>
            <a:pPr algn="l" indent="0" marL="0">
              <a:buNone/>
            </a:pPr>
            <a:r>
              <a:rPr lang="en-US" sz="5398" spc="-297" kern="0" dirty="0">
                <a:solidFill>
                  <a:srgbClr val="17191E"/>
                </a:solidFill>
                <a:latin typeface="Albert Sans Medium" pitchFamily="34" charset="0"/>
                <a:ea typeface="Albert Sans Medium" pitchFamily="34" charset="-122"/>
                <a:cs typeface="Albert Sans Medium" pitchFamily="34" charset="-120"/>
              </a:rPr>
              <a:t>Proven product patterns.</a:t>
            </a:r>
            <a:endParaRPr lang="en-US" sz="5398" dirty="0"/>
          </a:p>
        </p:txBody>
      </p:sp>
      <p:sp>
        <p:nvSpPr>
          <p:cNvPr id="8" name="Editable text 6: Adapted to your context."/>
          <p:cNvSpPr/>
          <p:nvPr/>
        </p:nvSpPr>
        <p:spPr>
          <a:xfrm>
            <a:off x="594271" y="2025286"/>
            <a:ext cx="7371104" cy="959720"/>
          </a:xfrm>
          <a:prstGeom prst="rect">
            <a:avLst/>
          </a:prstGeom>
          <a:noFill/>
          <a:ln/>
        </p:spPr>
        <p:txBody>
          <a:bodyPr wrap="none" lIns="0" tIns="0" rIns="0" bIns="0" rtlCol="0" anchor="t"/>
          <a:lstStyle/>
          <a:p>
            <a:pPr algn="l" indent="0" marL="0">
              <a:buNone/>
            </a:pPr>
            <a:r>
              <a:rPr lang="en-US" sz="5398" spc="-297" kern="0" dirty="0">
                <a:solidFill>
                  <a:srgbClr val="3C4ED6"/>
                </a:solidFill>
                <a:latin typeface="Albert Sans Medium" pitchFamily="34" charset="0"/>
                <a:ea typeface="Albert Sans Medium" pitchFamily="34" charset="-122"/>
                <a:cs typeface="Albert Sans Medium" pitchFamily="34" charset="-120"/>
              </a:rPr>
              <a:t>Adapted to your context.</a:t>
            </a:r>
            <a:endParaRPr lang="en-US" sz="5398" dirty="0"/>
          </a:p>
        </p:txBody>
      </p:sp>
      <p:sp>
        <p:nvSpPr>
          <p:cNvPr id="9" name="Editable text 7: Guided service navigation"/>
          <p:cNvSpPr/>
          <p:nvPr/>
        </p:nvSpPr>
        <p:spPr>
          <a:xfrm>
            <a:off x="1490663" y="5612354"/>
            <a:ext cx="2446826"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Guided service navigation</a:t>
            </a:r>
            <a:endParaRPr lang="en-US" sz="1640" dirty="0"/>
          </a:p>
        </p:txBody>
      </p:sp>
      <p:sp>
        <p:nvSpPr>
          <p:cNvPr id="10" name="Editable text 8: Connect residents or staff to the right"/>
          <p:cNvSpPr/>
          <p:nvPr/>
        </p:nvSpPr>
        <p:spPr>
          <a:xfrm>
            <a:off x="1490663" y="5910996"/>
            <a:ext cx="3123438"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Connect residents or staff to the right</a:t>
            </a:r>
            <a:endParaRPr lang="en-US" sz="1376" dirty="0"/>
          </a:p>
        </p:txBody>
      </p:sp>
      <p:sp>
        <p:nvSpPr>
          <p:cNvPr id="11" name="Editable text 9: local resource."/>
          <p:cNvSpPr/>
          <p:nvPr/>
        </p:nvSpPr>
        <p:spPr>
          <a:xfrm>
            <a:off x="1490663" y="6158646"/>
            <a:ext cx="1252840"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local resource.</a:t>
            </a:r>
            <a:endParaRPr lang="en-US" sz="1376" dirty="0"/>
          </a:p>
        </p:txBody>
      </p:sp>
      <p:sp>
        <p:nvSpPr>
          <p:cNvPr id="12" name="Editable text 10: Ecosystem intelligence"/>
          <p:cNvSpPr/>
          <p:nvPr/>
        </p:nvSpPr>
        <p:spPr>
          <a:xfrm>
            <a:off x="6029474" y="5612354"/>
            <a:ext cx="2181438"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Ecosystem intelligence</a:t>
            </a:r>
            <a:endParaRPr lang="en-US" sz="1640" dirty="0"/>
          </a:p>
        </p:txBody>
      </p:sp>
      <p:sp>
        <p:nvSpPr>
          <p:cNvPr id="13" name="Editable text 11: Understand organizations, relationships,"/>
          <p:cNvSpPr/>
          <p:nvPr/>
        </p:nvSpPr>
        <p:spPr>
          <a:xfrm>
            <a:off x="6029474" y="5910996"/>
            <a:ext cx="3300624"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Understand organizations, relationships,</a:t>
            </a:r>
            <a:endParaRPr lang="en-US" sz="1376" dirty="0"/>
          </a:p>
        </p:txBody>
      </p:sp>
      <p:sp>
        <p:nvSpPr>
          <p:cNvPr id="14" name="Editable text 12: and service networks."/>
          <p:cNvSpPr/>
          <p:nvPr/>
        </p:nvSpPr>
        <p:spPr>
          <a:xfrm>
            <a:off x="6029474" y="6158646"/>
            <a:ext cx="1831736"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and service networks.</a:t>
            </a:r>
            <a:endParaRPr lang="en-US" sz="1376" dirty="0"/>
          </a:p>
        </p:txBody>
      </p:sp>
      <p:sp>
        <p:nvSpPr>
          <p:cNvPr id="15" name="Editable text 13: Decision-support dashboards"/>
          <p:cNvSpPr/>
          <p:nvPr/>
        </p:nvSpPr>
        <p:spPr>
          <a:xfrm>
            <a:off x="10568285" y="5612354"/>
            <a:ext cx="2777721"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Decision-support dashboards</a:t>
            </a:r>
            <a:endParaRPr lang="en-US" sz="1640" dirty="0"/>
          </a:p>
        </p:txBody>
      </p:sp>
      <p:sp>
        <p:nvSpPr>
          <p:cNvPr id="16" name="Editable text 14: Organize evidence for planning,"/>
          <p:cNvSpPr/>
          <p:nvPr/>
        </p:nvSpPr>
        <p:spPr>
          <a:xfrm>
            <a:off x="10568285" y="5920521"/>
            <a:ext cx="2645610"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Organize evidence for planning,</a:t>
            </a:r>
            <a:endParaRPr lang="en-US" sz="1376" dirty="0"/>
          </a:p>
        </p:txBody>
      </p:sp>
      <p:sp>
        <p:nvSpPr>
          <p:cNvPr id="17" name="Editable text 15: coordination, and action."/>
          <p:cNvSpPr/>
          <p:nvPr/>
        </p:nvSpPr>
        <p:spPr>
          <a:xfrm>
            <a:off x="10568285" y="6158646"/>
            <a:ext cx="2083995"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coordination, and action.</a:t>
            </a:r>
            <a:endParaRPr lang="en-US" sz="1376" dirty="0"/>
          </a:p>
        </p:txBody>
      </p:sp>
      <p:sp>
        <p:nvSpPr>
          <p:cNvPr id="18" name="Editable text 16: Not a template."/>
          <p:cNvSpPr/>
          <p:nvPr/>
        </p:nvSpPr>
        <p:spPr>
          <a:xfrm>
            <a:off x="594271" y="7057053"/>
            <a:ext cx="1537125"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SemiBold" pitchFamily="34" charset="0"/>
                <a:ea typeface="Albert Sans SemiBold" pitchFamily="34" charset="-122"/>
                <a:cs typeface="Albert Sans SemiBold" pitchFamily="34" charset="-120"/>
              </a:rPr>
              <a:t>Not a template.</a:t>
            </a:r>
            <a:endParaRPr lang="en-US" sz="1587" dirty="0"/>
          </a:p>
        </p:txBody>
      </p:sp>
      <p:sp>
        <p:nvSpPr>
          <p:cNvPr id="19" name="Editable text 17:  A starting pattern customized to your people, evidence"/>
          <p:cNvSpPr/>
          <p:nvPr/>
        </p:nvSpPr>
        <p:spPr>
          <a:xfrm>
            <a:off x="2020639" y="7057053"/>
            <a:ext cx="7350646" cy="282169"/>
          </a:xfrm>
          <a:prstGeom prst="rect">
            <a:avLst/>
          </a:prstGeom>
          <a:noFill/>
          <a:ln/>
        </p:spPr>
        <p:txBody>
          <a:bodyPr wrap="none" lIns="0" tIns="0" rIns="0" bIns="0" rtlCol="0" anchor="t"/>
          <a:lstStyle/>
          <a:p>
            <a:pPr algn="l" indent="0" marL="0">
              <a:buNone/>
            </a:pPr>
            <a:r>
              <a:rPr lang="en-US" sz="1587" dirty="0">
                <a:solidFill>
                  <a:srgbClr val="646973"/>
                </a:solidFill>
                <a:latin typeface="Albert Sans" pitchFamily="34" charset="0"/>
                <a:ea typeface="Albert Sans" pitchFamily="34" charset="-122"/>
                <a:cs typeface="Albert Sans" pitchFamily="34" charset="-120"/>
              </a:rPr>
              <a:t> A starting pattern customized to your people, evidence, and operating model.</a:t>
            </a:r>
            <a:endParaRPr lang="en-US" sz="1587" dirty="0"/>
          </a:p>
        </p:txBody>
      </p:sp>
      <p:sp>
        <p:nvSpPr>
          <p:cNvPr id="20" name="Editable text 18: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21" name="Editable text 19: 06 / 18"/>
          <p:cNvSpPr/>
          <p:nvPr/>
        </p:nvSpPr>
        <p:spPr>
          <a:xfrm>
            <a:off x="13524607" y="7688980"/>
            <a:ext cx="603884"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06 / 18</a:t>
            </a:r>
            <a:endParaRPr lang="en-US" sz="1323" dirty="0"/>
          </a:p>
        </p:txBody>
      </p:sp>
      <p:sp>
        <p:nvSpPr>
          <p:cNvPr id="22" name="Editable text 20: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ase study 01 · Clark County"/>
          <p:cNvSpPr/>
          <p:nvPr/>
        </p:nvSpPr>
        <p:spPr>
          <a:xfrm>
            <a:off x="11830199" y="421405"/>
            <a:ext cx="2298415"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01 · Clark County</a:t>
            </a:r>
            <a:endParaRPr lang="en-US" sz="1323" dirty="0"/>
          </a:p>
        </p:txBody>
      </p:sp>
      <p:sp>
        <p:nvSpPr>
          <p:cNvPr id="6" name="Editable text 4: Case study 01 · Clark County"/>
          <p:cNvSpPr/>
          <p:nvPr/>
        </p:nvSpPr>
        <p:spPr>
          <a:xfrm>
            <a:off x="594271" y="1456396"/>
            <a:ext cx="2501642"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Case study 01 · Clark County</a:t>
            </a:r>
            <a:endParaRPr lang="en-US" sz="1429" dirty="0"/>
          </a:p>
        </p:txBody>
      </p:sp>
      <p:sp>
        <p:nvSpPr>
          <p:cNvPr id="7" name="Editable text 5: A clearer"/>
          <p:cNvSpPr/>
          <p:nvPr/>
        </p:nvSpPr>
        <p:spPr>
          <a:xfrm>
            <a:off x="594271" y="1742770"/>
            <a:ext cx="2849832" cy="940918"/>
          </a:xfrm>
          <a:prstGeom prst="rect">
            <a:avLst/>
          </a:prstGeom>
          <a:noFill/>
          <a:ln/>
        </p:spPr>
        <p:txBody>
          <a:bodyPr wrap="none" lIns="0" tIns="0" rIns="0" bIns="0" rtlCol="0" anchor="t"/>
          <a:lstStyle/>
          <a:p>
            <a:pPr algn="l" indent="0" marL="0">
              <a:buNone/>
            </a:pPr>
            <a:r>
              <a:rPr lang="en-US" sz="5292" spc="-291" kern="0" dirty="0">
                <a:solidFill>
                  <a:srgbClr val="17191E"/>
                </a:solidFill>
                <a:latin typeface="Albert Sans Medium" pitchFamily="34" charset="0"/>
                <a:ea typeface="Albert Sans Medium" pitchFamily="34" charset="-122"/>
                <a:cs typeface="Albert Sans Medium" pitchFamily="34" charset="-120"/>
              </a:rPr>
              <a:t>A clearer</a:t>
            </a:r>
            <a:endParaRPr lang="en-US" sz="5292" dirty="0"/>
          </a:p>
        </p:txBody>
      </p:sp>
      <p:sp>
        <p:nvSpPr>
          <p:cNvPr id="8" name="Editable text 6: way to"/>
          <p:cNvSpPr/>
          <p:nvPr/>
        </p:nvSpPr>
        <p:spPr>
          <a:xfrm>
            <a:off x="594271" y="2428570"/>
            <a:ext cx="2209966" cy="940918"/>
          </a:xfrm>
          <a:prstGeom prst="rect">
            <a:avLst/>
          </a:prstGeom>
          <a:noFill/>
          <a:ln/>
        </p:spPr>
        <p:txBody>
          <a:bodyPr wrap="none" lIns="0" tIns="0" rIns="0" bIns="0" rtlCol="0" anchor="t"/>
          <a:lstStyle/>
          <a:p>
            <a:pPr algn="l" indent="0" marL="0">
              <a:buNone/>
            </a:pPr>
            <a:r>
              <a:rPr lang="en-US" sz="5292" spc="-291" kern="0" dirty="0">
                <a:solidFill>
                  <a:srgbClr val="17191E"/>
                </a:solidFill>
                <a:latin typeface="Albert Sans Medium" pitchFamily="34" charset="0"/>
                <a:ea typeface="Albert Sans Medium" pitchFamily="34" charset="-122"/>
                <a:cs typeface="Albert Sans Medium" pitchFamily="34" charset="-120"/>
              </a:rPr>
              <a:t>way to</a:t>
            </a:r>
            <a:endParaRPr lang="en-US" sz="5292" dirty="0"/>
          </a:p>
        </p:txBody>
      </p:sp>
      <p:sp>
        <p:nvSpPr>
          <p:cNvPr id="9" name="Editable text 7: connect."/>
          <p:cNvSpPr/>
          <p:nvPr/>
        </p:nvSpPr>
        <p:spPr>
          <a:xfrm>
            <a:off x="594271" y="3114370"/>
            <a:ext cx="2777178" cy="940918"/>
          </a:xfrm>
          <a:prstGeom prst="rect">
            <a:avLst/>
          </a:prstGeom>
          <a:noFill/>
          <a:ln/>
        </p:spPr>
        <p:txBody>
          <a:bodyPr wrap="none" lIns="0" tIns="0" rIns="0" bIns="0" rtlCol="0" anchor="t"/>
          <a:lstStyle/>
          <a:p>
            <a:pPr algn="l" indent="0" marL="0">
              <a:buNone/>
            </a:pPr>
            <a:r>
              <a:rPr lang="en-US" sz="5292" spc="-291" kern="0" dirty="0">
                <a:solidFill>
                  <a:srgbClr val="3C4ED6"/>
                </a:solidFill>
                <a:latin typeface="Albert Sans Medium" pitchFamily="34" charset="0"/>
                <a:ea typeface="Albert Sans Medium" pitchFamily="34" charset="-122"/>
                <a:cs typeface="Albert Sans Medium" pitchFamily="34" charset="-120"/>
              </a:rPr>
              <a:t>connect.</a:t>
            </a:r>
            <a:endParaRPr lang="en-US" sz="5292" dirty="0"/>
          </a:p>
        </p:txBody>
      </p:sp>
      <p:sp>
        <p:nvSpPr>
          <p:cNvPr id="10" name="Editable text 8: Guided service navigation "/>
          <p:cNvSpPr/>
          <p:nvPr/>
        </p:nvSpPr>
        <p:spPr>
          <a:xfrm>
            <a:off x="594271" y="4034571"/>
            <a:ext cx="2238331"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Guided service navigation </a:t>
            </a:r>
            <a:endParaRPr lang="en-US" sz="1376" dirty="0"/>
          </a:p>
        </p:txBody>
      </p:sp>
      <p:sp>
        <p:nvSpPr>
          <p:cNvPr id="11" name="Editable text 9: |"/>
          <p:cNvSpPr/>
          <p:nvPr/>
        </p:nvSpPr>
        <p:spPr>
          <a:xfrm>
            <a:off x="2788890" y="4034571"/>
            <a:ext cx="145690" cy="244564"/>
          </a:xfrm>
          <a:prstGeom prst="rect">
            <a:avLst/>
          </a:prstGeom>
          <a:noFill/>
          <a:ln/>
        </p:spPr>
        <p:txBody>
          <a:bodyPr wrap="none" lIns="0" tIns="0" rIns="0" bIns="0" rtlCol="0" anchor="t"/>
          <a:lstStyle/>
          <a:p>
            <a:pPr algn="l" indent="0" marL="0">
              <a:buNone/>
            </a:pPr>
            <a:r>
              <a:rPr lang="en-US" sz="1376" dirty="0">
                <a:solidFill>
                  <a:srgbClr val="3C4ED6"/>
                </a:solidFill>
                <a:latin typeface="Albert Sans" pitchFamily="34" charset="0"/>
                <a:ea typeface="Albert Sans" pitchFamily="34" charset="-122"/>
                <a:cs typeface="Albert Sans" pitchFamily="34" charset="-120"/>
              </a:rPr>
              <a:t>|</a:t>
            </a:r>
            <a:endParaRPr lang="en-US" sz="1376" dirty="0"/>
          </a:p>
        </p:txBody>
      </p:sp>
      <p:sp>
        <p:nvSpPr>
          <p:cNvPr id="12" name="Editable text 10:  Clark County Digital Equity"/>
          <p:cNvSpPr/>
          <p:nvPr/>
        </p:nvSpPr>
        <p:spPr>
          <a:xfrm>
            <a:off x="2890986" y="4034571"/>
            <a:ext cx="2317267"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 Clark County Digital Equity</a:t>
            </a:r>
            <a:endParaRPr lang="en-US" sz="1376" dirty="0"/>
          </a:p>
        </p:txBody>
      </p:sp>
      <p:sp>
        <p:nvSpPr>
          <p:cNvPr id="13" name="Editable text 11: Assistant"/>
          <p:cNvSpPr/>
          <p:nvPr/>
        </p:nvSpPr>
        <p:spPr>
          <a:xfrm>
            <a:off x="594271" y="4291746"/>
            <a:ext cx="820609"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Assistant</a:t>
            </a:r>
            <a:endParaRPr lang="en-US" sz="1376" dirty="0"/>
          </a:p>
        </p:txBody>
      </p:sp>
      <p:sp>
        <p:nvSpPr>
          <p:cNvPr id="14" name="Editable text 12: The assistant helps county staff and partners find inte"/>
          <p:cNvSpPr/>
          <p:nvPr/>
        </p:nvSpPr>
        <p:spPr>
          <a:xfrm>
            <a:off x="594271" y="4717137"/>
            <a:ext cx="5108018"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The assistant helps county staff and partners find internet,</a:t>
            </a:r>
            <a:endParaRPr lang="en-US" sz="1481" dirty="0"/>
          </a:p>
        </p:txBody>
      </p:sp>
      <p:sp>
        <p:nvSpPr>
          <p:cNvPr id="15" name="Editable text 13: training, and device resources for residents."/>
          <p:cNvSpPr/>
          <p:nvPr/>
        </p:nvSpPr>
        <p:spPr>
          <a:xfrm>
            <a:off x="594271" y="5002887"/>
            <a:ext cx="3885803"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training, and device resources for residents.</a:t>
            </a:r>
            <a:endParaRPr lang="en-US" sz="1481" dirty="0"/>
          </a:p>
        </p:txBody>
      </p:sp>
      <p:sp>
        <p:nvSpPr>
          <p:cNvPr id="16" name="Editable text 14: Internet"/>
          <p:cNvSpPr/>
          <p:nvPr/>
        </p:nvSpPr>
        <p:spPr>
          <a:xfrm>
            <a:off x="594271" y="6037921"/>
            <a:ext cx="743489" cy="254032"/>
          </a:xfrm>
          <a:prstGeom prst="rect">
            <a:avLst/>
          </a:prstGeom>
          <a:noFill/>
          <a:ln/>
        </p:spPr>
        <p:txBody>
          <a:bodyPr wrap="none" lIns="0" tIns="0" rIns="0" bIns="0" rtlCol="0" anchor="t"/>
          <a:lstStyle/>
          <a:p>
            <a:pPr algn="l" indent="0" marL="0">
              <a:buNone/>
            </a:pPr>
            <a:r>
              <a:rPr lang="en-US" sz="1429" dirty="0">
                <a:solidFill>
                  <a:srgbClr val="17191E"/>
                </a:solidFill>
                <a:latin typeface="Albert Sans" pitchFamily="34" charset="0"/>
                <a:ea typeface="Albert Sans" pitchFamily="34" charset="-122"/>
                <a:cs typeface="Albert Sans" pitchFamily="34" charset="-120"/>
              </a:rPr>
              <a:t>Internet</a:t>
            </a:r>
            <a:endParaRPr lang="en-US" sz="1429" dirty="0"/>
          </a:p>
        </p:txBody>
      </p:sp>
      <p:sp>
        <p:nvSpPr>
          <p:cNvPr id="17" name="Editable text 15: Skills"/>
          <p:cNvSpPr/>
          <p:nvPr/>
        </p:nvSpPr>
        <p:spPr>
          <a:xfrm>
            <a:off x="2997994" y="6037921"/>
            <a:ext cx="513633" cy="254032"/>
          </a:xfrm>
          <a:prstGeom prst="rect">
            <a:avLst/>
          </a:prstGeom>
          <a:noFill/>
          <a:ln/>
        </p:spPr>
        <p:txBody>
          <a:bodyPr wrap="none" lIns="0" tIns="0" rIns="0" bIns="0" rtlCol="0" anchor="t"/>
          <a:lstStyle/>
          <a:p>
            <a:pPr algn="l" indent="0" marL="0">
              <a:buNone/>
            </a:pPr>
            <a:r>
              <a:rPr lang="en-US" sz="1429" dirty="0">
                <a:solidFill>
                  <a:srgbClr val="17191E"/>
                </a:solidFill>
                <a:latin typeface="Albert Sans" pitchFamily="34" charset="0"/>
                <a:ea typeface="Albert Sans" pitchFamily="34" charset="-122"/>
                <a:cs typeface="Albert Sans" pitchFamily="34" charset="-120"/>
              </a:rPr>
              <a:t>Skills</a:t>
            </a:r>
            <a:endParaRPr lang="en-US" sz="1429" dirty="0"/>
          </a:p>
        </p:txBody>
      </p:sp>
      <p:sp>
        <p:nvSpPr>
          <p:cNvPr id="18" name="Editable text 16: Devices"/>
          <p:cNvSpPr/>
          <p:nvPr/>
        </p:nvSpPr>
        <p:spPr>
          <a:xfrm>
            <a:off x="5171926" y="6037921"/>
            <a:ext cx="764356" cy="254032"/>
          </a:xfrm>
          <a:prstGeom prst="rect">
            <a:avLst/>
          </a:prstGeom>
          <a:noFill/>
          <a:ln/>
        </p:spPr>
        <p:txBody>
          <a:bodyPr wrap="none" lIns="0" tIns="0" rIns="0" bIns="0" rtlCol="0" anchor="t"/>
          <a:lstStyle/>
          <a:p>
            <a:pPr algn="l" indent="0" marL="0">
              <a:buNone/>
            </a:pPr>
            <a:r>
              <a:rPr lang="en-US" sz="1429" dirty="0">
                <a:solidFill>
                  <a:srgbClr val="17191E"/>
                </a:solidFill>
                <a:latin typeface="Albert Sans" pitchFamily="34" charset="0"/>
                <a:ea typeface="Albert Sans" pitchFamily="34" charset="-122"/>
                <a:cs typeface="Albert Sans" pitchFamily="34" charset="-120"/>
              </a:rPr>
              <a:t>Devices</a:t>
            </a:r>
            <a:endParaRPr lang="en-US" sz="1429" dirty="0"/>
          </a:p>
        </p:txBody>
      </p:sp>
      <p:sp>
        <p:nvSpPr>
          <p:cNvPr id="19" name="Editable text 17: Responsive web product"/>
          <p:cNvSpPr/>
          <p:nvPr/>
        </p:nvSpPr>
        <p:spPr>
          <a:xfrm>
            <a:off x="1024235" y="6559868"/>
            <a:ext cx="1581925" cy="186690"/>
          </a:xfrm>
          <a:prstGeom prst="rect">
            <a:avLst/>
          </a:prstGeom>
          <a:noFill/>
          <a:ln/>
        </p:spPr>
        <p:txBody>
          <a:bodyPr wrap="none" lIns="0" tIns="0" rIns="0" bIns="0" rtlCol="0" anchor="t"/>
          <a:lstStyle/>
          <a:p>
            <a:pPr algn="l" indent="0" marL="0">
              <a:buNone/>
            </a:pPr>
            <a:r>
              <a:rPr lang="en-US" sz="1050" dirty="0">
                <a:solidFill>
                  <a:srgbClr val="646973"/>
                </a:solidFill>
                <a:latin typeface="Albert Sans" pitchFamily="34" charset="0"/>
                <a:ea typeface="Albert Sans" pitchFamily="34" charset="-122"/>
                <a:cs typeface="Albert Sans" pitchFamily="34" charset="-120"/>
              </a:rPr>
              <a:t>Responsive web product</a:t>
            </a:r>
            <a:endParaRPr lang="en-US" sz="1050" dirty="0"/>
          </a:p>
        </p:txBody>
      </p:sp>
      <p:sp>
        <p:nvSpPr>
          <p:cNvPr id="20" name="Editable text 18: English / Español interface"/>
          <p:cNvSpPr/>
          <p:nvPr/>
        </p:nvSpPr>
        <p:spPr>
          <a:xfrm>
            <a:off x="3231654" y="6559868"/>
            <a:ext cx="1691271" cy="186690"/>
          </a:xfrm>
          <a:prstGeom prst="rect">
            <a:avLst/>
          </a:prstGeom>
          <a:noFill/>
          <a:ln/>
        </p:spPr>
        <p:txBody>
          <a:bodyPr wrap="none" lIns="0" tIns="0" rIns="0" bIns="0" rtlCol="0" anchor="t"/>
          <a:lstStyle/>
          <a:p>
            <a:pPr algn="l" indent="0" marL="0">
              <a:buNone/>
            </a:pPr>
            <a:r>
              <a:rPr lang="en-US" sz="1050" dirty="0">
                <a:solidFill>
                  <a:srgbClr val="646973"/>
                </a:solidFill>
                <a:latin typeface="Albert Sans" pitchFamily="34" charset="0"/>
                <a:ea typeface="Albert Sans" pitchFamily="34" charset="-122"/>
                <a:cs typeface="Albert Sans" pitchFamily="34" charset="-120"/>
              </a:rPr>
              <a:t>English / Español interface</a:t>
            </a:r>
            <a:endParaRPr lang="en-US" sz="1050" dirty="0"/>
          </a:p>
        </p:txBody>
      </p:sp>
      <p:sp>
        <p:nvSpPr>
          <p:cNvPr id="21" name="Editable text 19: Case study 01 · Clark County Digital Equity Assistant"/>
          <p:cNvSpPr/>
          <p:nvPr/>
        </p:nvSpPr>
        <p:spPr>
          <a:xfrm>
            <a:off x="594271" y="7688980"/>
            <a:ext cx="41197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01 · Clark County Digital Equity Assistant</a:t>
            </a:r>
            <a:endParaRPr lang="en-US" sz="1323" dirty="0"/>
          </a:p>
        </p:txBody>
      </p:sp>
      <p:sp>
        <p:nvSpPr>
          <p:cNvPr id="22" name="Editable text 20: 07 / 18"/>
          <p:cNvSpPr/>
          <p:nvPr/>
        </p:nvSpPr>
        <p:spPr>
          <a:xfrm>
            <a:off x="13531900" y="7688980"/>
            <a:ext cx="59659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07 / 18</a:t>
            </a:r>
            <a:endParaRPr lang="en-US" sz="1323" dirty="0"/>
          </a:p>
        </p:txBody>
      </p:sp>
      <p:sp>
        <p:nvSpPr>
          <p:cNvPr id="23" name="Editable text 21: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lark County · Why this solution"/>
          <p:cNvSpPr/>
          <p:nvPr/>
        </p:nvSpPr>
        <p:spPr>
          <a:xfrm>
            <a:off x="11570643" y="421405"/>
            <a:ext cx="255796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Clark County · Why this solution</a:t>
            </a:r>
            <a:endParaRPr lang="en-US" sz="1323" dirty="0"/>
          </a:p>
        </p:txBody>
      </p:sp>
      <p:sp>
        <p:nvSpPr>
          <p:cNvPr id="6" name="Editable text 4: The product logic"/>
          <p:cNvSpPr/>
          <p:nvPr/>
        </p:nvSpPr>
        <p:spPr>
          <a:xfrm>
            <a:off x="594271" y="970621"/>
            <a:ext cx="1580005"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The product logic</a:t>
            </a:r>
            <a:endParaRPr lang="en-US" sz="1429" dirty="0"/>
          </a:p>
        </p:txBody>
      </p:sp>
      <p:sp>
        <p:nvSpPr>
          <p:cNvPr id="7" name="Editable text 5: From a resident’s need"/>
          <p:cNvSpPr/>
          <p:nvPr/>
        </p:nvSpPr>
        <p:spPr>
          <a:xfrm>
            <a:off x="594271" y="1333638"/>
            <a:ext cx="5891624" cy="827970"/>
          </a:xfrm>
          <a:prstGeom prst="rect">
            <a:avLst/>
          </a:prstGeom>
          <a:noFill/>
          <a:ln/>
        </p:spPr>
        <p:txBody>
          <a:bodyPr wrap="none" lIns="0" tIns="0" rIns="0" bIns="0" rtlCol="0" anchor="t"/>
          <a:lstStyle/>
          <a:p>
            <a:pPr algn="l" indent="0" marL="0">
              <a:buNone/>
            </a:pPr>
            <a:r>
              <a:rPr lang="en-US" sz="4657" spc="-256" kern="0" dirty="0">
                <a:solidFill>
                  <a:srgbClr val="17191E"/>
                </a:solidFill>
                <a:latin typeface="Albert Sans Medium" pitchFamily="34" charset="0"/>
                <a:ea typeface="Albert Sans Medium" pitchFamily="34" charset="-122"/>
                <a:cs typeface="Albert Sans Medium" pitchFamily="34" charset="-120"/>
              </a:rPr>
              <a:t>From a resident’s need</a:t>
            </a:r>
            <a:endParaRPr lang="en-US" sz="4657" dirty="0"/>
          </a:p>
        </p:txBody>
      </p:sp>
      <p:sp>
        <p:nvSpPr>
          <p:cNvPr id="8" name="Editable text 6: to relevant support."/>
          <p:cNvSpPr/>
          <p:nvPr/>
        </p:nvSpPr>
        <p:spPr>
          <a:xfrm>
            <a:off x="594271" y="1943238"/>
            <a:ext cx="5023578" cy="827970"/>
          </a:xfrm>
          <a:prstGeom prst="rect">
            <a:avLst/>
          </a:prstGeom>
          <a:noFill/>
          <a:ln/>
        </p:spPr>
        <p:txBody>
          <a:bodyPr wrap="none" lIns="0" tIns="0" rIns="0" bIns="0" rtlCol="0" anchor="t"/>
          <a:lstStyle/>
          <a:p>
            <a:pPr algn="l" indent="0" marL="0">
              <a:buNone/>
            </a:pPr>
            <a:r>
              <a:rPr lang="en-US" sz="4657" spc="-256" kern="0" dirty="0">
                <a:solidFill>
                  <a:srgbClr val="3C4ED6"/>
                </a:solidFill>
                <a:latin typeface="Albert Sans Medium" pitchFamily="34" charset="0"/>
                <a:ea typeface="Albert Sans Medium" pitchFamily="34" charset="-122"/>
                <a:cs typeface="Albert Sans Medium" pitchFamily="34" charset="-120"/>
              </a:rPr>
              <a:t>to relevant support.</a:t>
            </a:r>
            <a:endParaRPr lang="en-US" sz="4657" dirty="0"/>
          </a:p>
        </p:txBody>
      </p:sp>
      <p:sp>
        <p:nvSpPr>
          <p:cNvPr id="9" name="Editable text 7: The assistant turns a broad service problem into a shor"/>
          <p:cNvSpPr/>
          <p:nvPr/>
        </p:nvSpPr>
        <p:spPr>
          <a:xfrm>
            <a:off x="594271" y="2802345"/>
            <a:ext cx="9993430"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The assistant turns a broad service problem into a short, legible path staff can use in real time.</a:t>
            </a:r>
            <a:endParaRPr lang="en-US" sz="1799" dirty="0"/>
          </a:p>
        </p:txBody>
      </p:sp>
      <p:sp>
        <p:nvSpPr>
          <p:cNvPr id="10" name="Editable text 8: Why it works"/>
          <p:cNvSpPr/>
          <p:nvPr/>
        </p:nvSpPr>
        <p:spPr>
          <a:xfrm>
            <a:off x="10560248" y="4037671"/>
            <a:ext cx="1186340"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Medium" pitchFamily="34" charset="0"/>
                <a:ea typeface="Albert Sans Medium" pitchFamily="34" charset="-122"/>
                <a:cs typeface="Albert Sans Medium" pitchFamily="34" charset="-120"/>
              </a:rPr>
              <a:t>Why it works</a:t>
            </a:r>
            <a:endParaRPr lang="en-US" sz="1429" dirty="0"/>
          </a:p>
        </p:txBody>
      </p:sp>
      <p:sp>
        <p:nvSpPr>
          <p:cNvPr id="11" name="Editable text 9: It reduces the search"/>
          <p:cNvSpPr/>
          <p:nvPr/>
        </p:nvSpPr>
        <p:spPr>
          <a:xfrm>
            <a:off x="10560248" y="4389611"/>
            <a:ext cx="2682927" cy="395116"/>
          </a:xfrm>
          <a:prstGeom prst="rect">
            <a:avLst/>
          </a:prstGeom>
          <a:noFill/>
          <a:ln/>
        </p:spPr>
        <p:txBody>
          <a:bodyPr wrap="none" lIns="0" tIns="0" rIns="0" bIns="0" rtlCol="0" anchor="t"/>
          <a:lstStyle/>
          <a:p>
            <a:pPr algn="l" indent="0" marL="0">
              <a:buNone/>
            </a:pPr>
            <a:r>
              <a:rPr lang="en-US" sz="2222" spc="-78" kern="0" dirty="0">
                <a:solidFill>
                  <a:srgbClr val="3C4ED6"/>
                </a:solidFill>
                <a:latin typeface="Albert Sans Medium" pitchFamily="34" charset="0"/>
                <a:ea typeface="Albert Sans Medium" pitchFamily="34" charset="-122"/>
                <a:cs typeface="Albert Sans Medium" pitchFamily="34" charset="-120"/>
              </a:rPr>
              <a:t>It reduces the search</a:t>
            </a:r>
            <a:endParaRPr lang="en-US" sz="2222" dirty="0"/>
          </a:p>
        </p:txBody>
      </p:sp>
      <p:sp>
        <p:nvSpPr>
          <p:cNvPr id="12" name="Editable text 10: burden."/>
          <p:cNvSpPr/>
          <p:nvPr/>
        </p:nvSpPr>
        <p:spPr>
          <a:xfrm>
            <a:off x="10560248" y="4732511"/>
            <a:ext cx="1080758" cy="395116"/>
          </a:xfrm>
          <a:prstGeom prst="rect">
            <a:avLst/>
          </a:prstGeom>
          <a:noFill/>
          <a:ln/>
        </p:spPr>
        <p:txBody>
          <a:bodyPr wrap="none" lIns="0" tIns="0" rIns="0" bIns="0" rtlCol="0" anchor="t"/>
          <a:lstStyle/>
          <a:p>
            <a:pPr algn="l" indent="0" marL="0">
              <a:buNone/>
            </a:pPr>
            <a:r>
              <a:rPr lang="en-US" sz="2222" spc="-78" kern="0" dirty="0">
                <a:solidFill>
                  <a:srgbClr val="3C4ED6"/>
                </a:solidFill>
                <a:latin typeface="Albert Sans Medium" pitchFamily="34" charset="0"/>
                <a:ea typeface="Albert Sans Medium" pitchFamily="34" charset="-122"/>
                <a:cs typeface="Albert Sans Medium" pitchFamily="34" charset="-120"/>
              </a:rPr>
              <a:t>burden.</a:t>
            </a:r>
            <a:endParaRPr lang="en-US" sz="2222" dirty="0"/>
          </a:p>
        </p:txBody>
      </p:sp>
      <p:sp>
        <p:nvSpPr>
          <p:cNvPr id="13" name="Editable text 11: Staff start with the person’s need and"/>
          <p:cNvSpPr/>
          <p:nvPr/>
        </p:nvSpPr>
        <p:spPr>
          <a:xfrm>
            <a:off x="10560248" y="5190196"/>
            <a:ext cx="3209373"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Staff start with the person’s need and</a:t>
            </a:r>
            <a:endParaRPr lang="en-US" sz="1429" dirty="0"/>
          </a:p>
        </p:txBody>
      </p:sp>
      <p:sp>
        <p:nvSpPr>
          <p:cNvPr id="14" name="Editable text 12: place, then move toward a practical"/>
          <p:cNvSpPr/>
          <p:nvPr/>
        </p:nvSpPr>
        <p:spPr>
          <a:xfrm>
            <a:off x="10560248" y="5456896"/>
            <a:ext cx="3067665"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place, then move toward a practical</a:t>
            </a:r>
            <a:endParaRPr lang="en-US" sz="1429" dirty="0"/>
          </a:p>
        </p:txBody>
      </p:sp>
      <p:sp>
        <p:nvSpPr>
          <p:cNvPr id="15" name="Editable text 13: referral."/>
          <p:cNvSpPr/>
          <p:nvPr/>
        </p:nvSpPr>
        <p:spPr>
          <a:xfrm>
            <a:off x="10560248" y="5723596"/>
            <a:ext cx="735321"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referral.</a:t>
            </a:r>
            <a:endParaRPr lang="en-US" sz="1429" dirty="0"/>
          </a:p>
        </p:txBody>
      </p:sp>
      <p:sp>
        <p:nvSpPr>
          <p:cNvPr id="16" name="Editable text 14: Guardrail"/>
          <p:cNvSpPr/>
          <p:nvPr/>
        </p:nvSpPr>
        <p:spPr>
          <a:xfrm>
            <a:off x="805309" y="6920646"/>
            <a:ext cx="834911" cy="244564"/>
          </a:xfrm>
          <a:prstGeom prst="rect">
            <a:avLst/>
          </a:prstGeom>
          <a:noFill/>
          <a:ln/>
        </p:spPr>
        <p:txBody>
          <a:bodyPr wrap="none" lIns="0" tIns="0" rIns="0" bIns="0" rtlCol="0" anchor="t"/>
          <a:lstStyle/>
          <a:p>
            <a:pPr algn="l" indent="0" marL="0">
              <a:buNone/>
            </a:pPr>
            <a:r>
              <a:rPr lang="en-US" sz="1376" dirty="0">
                <a:solidFill>
                  <a:srgbClr val="3C4ED6"/>
                </a:solidFill>
                <a:latin typeface="Albert Sans SemiBold" pitchFamily="34" charset="0"/>
                <a:ea typeface="Albert Sans SemiBold" pitchFamily="34" charset="-122"/>
                <a:cs typeface="Albert Sans SemiBold" pitchFamily="34" charset="-120"/>
              </a:rPr>
              <a:t>Guardrail</a:t>
            </a:r>
            <a:endParaRPr lang="en-US" sz="1376" dirty="0"/>
          </a:p>
        </p:txBody>
      </p:sp>
      <p:sp>
        <p:nvSpPr>
          <p:cNvPr id="17" name="Editable text 15:  The tool supports referrals. Providers confirm availab"/>
          <p:cNvSpPr/>
          <p:nvPr/>
        </p:nvSpPr>
        <p:spPr>
          <a:xfrm>
            <a:off x="1638300" y="6920646"/>
            <a:ext cx="7573883"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 The tool supports referrals. Providers confirm availability and eligibility; staff retain judgment.</a:t>
            </a:r>
            <a:endParaRPr lang="en-US" sz="1376" dirty="0"/>
          </a:p>
        </p:txBody>
      </p:sp>
      <p:sp>
        <p:nvSpPr>
          <p:cNvPr id="18" name="Editable text 16: Case study 01 · Clark County Digital Equity Assistant"/>
          <p:cNvSpPr/>
          <p:nvPr/>
        </p:nvSpPr>
        <p:spPr>
          <a:xfrm>
            <a:off x="594271" y="7688980"/>
            <a:ext cx="41197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01 · Clark County Digital Equity Assistant</a:t>
            </a:r>
            <a:endParaRPr lang="en-US" sz="1323" dirty="0"/>
          </a:p>
        </p:txBody>
      </p:sp>
      <p:sp>
        <p:nvSpPr>
          <p:cNvPr id="19" name="Editable text 17: 08 / 18"/>
          <p:cNvSpPr/>
          <p:nvPr/>
        </p:nvSpPr>
        <p:spPr>
          <a:xfrm>
            <a:off x="13519100" y="7688980"/>
            <a:ext cx="60939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08 / 18</a:t>
            </a:r>
            <a:endParaRPr lang="en-US" sz="1323" dirty="0"/>
          </a:p>
        </p:txBody>
      </p:sp>
      <p:sp>
        <p:nvSpPr>
          <p:cNvPr id="20" name="Editable text 18: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
        <p:nvSpPr>
          <p:cNvPr id="21" name="Editable text 19: 1"/>
          <p:cNvSpPr/>
          <p:nvPr/>
        </p:nvSpPr>
        <p:spPr>
          <a:xfrm>
            <a:off x="805309" y="3672445"/>
            <a:ext cx="187677" cy="300971"/>
          </a:xfrm>
          <a:prstGeom prst="rect">
            <a:avLst/>
          </a:prstGeom>
          <a:noFill/>
          <a:ln/>
        </p:spPr>
        <p:txBody>
          <a:bodyPr wrap="none" lIns="0" tIns="0" rIns="0" bIns="0" rtlCol="0" anchor="t"/>
          <a:lstStyle/>
          <a:p>
            <a:pPr algn="l" indent="0" marL="0">
              <a:buNone/>
            </a:pPr>
            <a:r>
              <a:rPr lang="en-US" sz="1693" dirty="0">
                <a:solidFill>
                  <a:srgbClr val="3C4ED6"/>
                </a:solidFill>
                <a:latin typeface="Albert Sans SemiBold" pitchFamily="34" charset="0"/>
                <a:ea typeface="Albert Sans SemiBold" pitchFamily="34" charset="-122"/>
                <a:cs typeface="Albert Sans SemiBold" pitchFamily="34" charset="-120"/>
              </a:rPr>
              <a:t>1</a:t>
            </a:r>
            <a:endParaRPr lang="en-US" sz="1693" dirty="0"/>
          </a:p>
        </p:txBody>
      </p:sp>
      <p:sp>
        <p:nvSpPr>
          <p:cNvPr id="22" name="Editable text 20: Need"/>
          <p:cNvSpPr/>
          <p:nvPr/>
        </p:nvSpPr>
        <p:spPr>
          <a:xfrm>
            <a:off x="805309" y="4834361"/>
            <a:ext cx="678187" cy="329241"/>
          </a:xfrm>
          <a:prstGeom prst="rect">
            <a:avLst/>
          </a:prstGeom>
          <a:noFill/>
          <a:ln/>
        </p:spPr>
        <p:txBody>
          <a:bodyPr wrap="none" lIns="0" tIns="0" rIns="0" bIns="0" rtlCol="0" anchor="t"/>
          <a:lstStyle/>
          <a:p>
            <a:pPr algn="l" indent="0" marL="0">
              <a:buNone/>
            </a:pPr>
            <a:r>
              <a:rPr lang="en-US" sz="1852" spc="-65" kern="0" dirty="0">
                <a:solidFill>
                  <a:srgbClr val="17191E"/>
                </a:solidFill>
                <a:latin typeface="Albert Sans Medium" pitchFamily="34" charset="0"/>
                <a:ea typeface="Albert Sans Medium" pitchFamily="34" charset="-122"/>
                <a:cs typeface="Albert Sans Medium" pitchFamily="34" charset="-120"/>
              </a:rPr>
              <a:t>Need</a:t>
            </a:r>
            <a:endParaRPr lang="en-US" sz="1852" dirty="0"/>
          </a:p>
        </p:txBody>
      </p:sp>
      <p:sp>
        <p:nvSpPr>
          <p:cNvPr id="23" name="Editable text 21: Internet, skills, or"/>
          <p:cNvSpPr/>
          <p:nvPr/>
        </p:nvSpPr>
        <p:spPr>
          <a:xfrm>
            <a:off x="805309" y="5326780"/>
            <a:ext cx="1396544"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Internet, skills, or</a:t>
            </a:r>
            <a:endParaRPr lang="en-US" sz="1323" dirty="0"/>
          </a:p>
        </p:txBody>
      </p:sp>
      <p:sp>
        <p:nvSpPr>
          <p:cNvPr id="24" name="Editable text 22: devices"/>
          <p:cNvSpPr/>
          <p:nvPr/>
        </p:nvSpPr>
        <p:spPr>
          <a:xfrm>
            <a:off x="805309" y="5555380"/>
            <a:ext cx="686769"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devices</a:t>
            </a:r>
            <a:endParaRPr lang="en-US" sz="1323" dirty="0"/>
          </a:p>
        </p:txBody>
      </p:sp>
      <p:sp>
        <p:nvSpPr>
          <p:cNvPr id="25" name="Editable text 23: 2"/>
          <p:cNvSpPr/>
          <p:nvPr/>
        </p:nvSpPr>
        <p:spPr>
          <a:xfrm>
            <a:off x="3145631" y="3672445"/>
            <a:ext cx="245936" cy="300971"/>
          </a:xfrm>
          <a:prstGeom prst="rect">
            <a:avLst/>
          </a:prstGeom>
          <a:noFill/>
          <a:ln/>
        </p:spPr>
        <p:txBody>
          <a:bodyPr wrap="none" lIns="0" tIns="0" rIns="0" bIns="0" rtlCol="0" anchor="t"/>
          <a:lstStyle/>
          <a:p>
            <a:pPr algn="l" indent="0" marL="0">
              <a:buNone/>
            </a:pPr>
            <a:r>
              <a:rPr lang="en-US" sz="1693" dirty="0">
                <a:solidFill>
                  <a:srgbClr val="3C4ED6"/>
                </a:solidFill>
                <a:latin typeface="Albert Sans SemiBold" pitchFamily="34" charset="0"/>
                <a:ea typeface="Albert Sans SemiBold" pitchFamily="34" charset="-122"/>
                <a:cs typeface="Albert Sans SemiBold" pitchFamily="34" charset="-120"/>
              </a:rPr>
              <a:t>2</a:t>
            </a:r>
            <a:endParaRPr lang="en-US" sz="1693" dirty="0"/>
          </a:p>
        </p:txBody>
      </p:sp>
      <p:sp>
        <p:nvSpPr>
          <p:cNvPr id="26" name="Editable text 24: Place"/>
          <p:cNvSpPr/>
          <p:nvPr/>
        </p:nvSpPr>
        <p:spPr>
          <a:xfrm>
            <a:off x="3145631" y="4834361"/>
            <a:ext cx="684768" cy="329241"/>
          </a:xfrm>
          <a:prstGeom prst="rect">
            <a:avLst/>
          </a:prstGeom>
          <a:noFill/>
          <a:ln/>
        </p:spPr>
        <p:txBody>
          <a:bodyPr wrap="none" lIns="0" tIns="0" rIns="0" bIns="0" rtlCol="0" anchor="t"/>
          <a:lstStyle/>
          <a:p>
            <a:pPr algn="l" indent="0" marL="0">
              <a:buNone/>
            </a:pPr>
            <a:r>
              <a:rPr lang="en-US" sz="1852" spc="-65" kern="0" dirty="0">
                <a:solidFill>
                  <a:srgbClr val="17191E"/>
                </a:solidFill>
                <a:latin typeface="Albert Sans Medium" pitchFamily="34" charset="0"/>
                <a:ea typeface="Albert Sans Medium" pitchFamily="34" charset="-122"/>
                <a:cs typeface="Albert Sans Medium" pitchFamily="34" charset="-120"/>
              </a:rPr>
              <a:t>Place</a:t>
            </a:r>
            <a:endParaRPr lang="en-US" sz="1852" dirty="0"/>
          </a:p>
        </p:txBody>
      </p:sp>
      <p:sp>
        <p:nvSpPr>
          <p:cNvPr id="27" name="Editable text 25: Confirm the"/>
          <p:cNvSpPr/>
          <p:nvPr/>
        </p:nvSpPr>
        <p:spPr>
          <a:xfrm>
            <a:off x="3145631" y="5326780"/>
            <a:ext cx="1012469"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Confirm the</a:t>
            </a:r>
            <a:endParaRPr lang="en-US" sz="1323" dirty="0"/>
          </a:p>
        </p:txBody>
      </p:sp>
      <p:sp>
        <p:nvSpPr>
          <p:cNvPr id="28" name="Editable text 26: resident’s location"/>
          <p:cNvSpPr/>
          <p:nvPr/>
        </p:nvSpPr>
        <p:spPr>
          <a:xfrm>
            <a:off x="3145631" y="5555380"/>
            <a:ext cx="1503009"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resident’s location</a:t>
            </a:r>
            <a:endParaRPr lang="en-US" sz="1323" dirty="0"/>
          </a:p>
        </p:txBody>
      </p:sp>
      <p:sp>
        <p:nvSpPr>
          <p:cNvPr id="29" name="Editable text 27: 3"/>
          <p:cNvSpPr/>
          <p:nvPr/>
        </p:nvSpPr>
        <p:spPr>
          <a:xfrm>
            <a:off x="5485954" y="3672445"/>
            <a:ext cx="246366" cy="300971"/>
          </a:xfrm>
          <a:prstGeom prst="rect">
            <a:avLst/>
          </a:prstGeom>
          <a:noFill/>
          <a:ln/>
        </p:spPr>
        <p:txBody>
          <a:bodyPr wrap="none" lIns="0" tIns="0" rIns="0" bIns="0" rtlCol="0" anchor="t"/>
          <a:lstStyle/>
          <a:p>
            <a:pPr algn="l" indent="0" marL="0">
              <a:buNone/>
            </a:pPr>
            <a:r>
              <a:rPr lang="en-US" sz="1693" dirty="0">
                <a:solidFill>
                  <a:srgbClr val="3C4ED6"/>
                </a:solidFill>
                <a:latin typeface="Albert Sans SemiBold" pitchFamily="34" charset="0"/>
                <a:ea typeface="Albert Sans SemiBold" pitchFamily="34" charset="-122"/>
                <a:cs typeface="Albert Sans SemiBold" pitchFamily="34" charset="-120"/>
              </a:rPr>
              <a:t>3</a:t>
            </a:r>
            <a:endParaRPr lang="en-US" sz="1693" dirty="0"/>
          </a:p>
        </p:txBody>
      </p:sp>
      <p:sp>
        <p:nvSpPr>
          <p:cNvPr id="30" name="Editable text 28: Match"/>
          <p:cNvSpPr/>
          <p:nvPr/>
        </p:nvSpPr>
        <p:spPr>
          <a:xfrm>
            <a:off x="5485954" y="4834361"/>
            <a:ext cx="772714" cy="329241"/>
          </a:xfrm>
          <a:prstGeom prst="rect">
            <a:avLst/>
          </a:prstGeom>
          <a:noFill/>
          <a:ln/>
        </p:spPr>
        <p:txBody>
          <a:bodyPr wrap="none" lIns="0" tIns="0" rIns="0" bIns="0" rtlCol="0" anchor="t"/>
          <a:lstStyle/>
          <a:p>
            <a:pPr algn="l" indent="0" marL="0">
              <a:buNone/>
            </a:pPr>
            <a:r>
              <a:rPr lang="en-US" sz="1852" spc="-65" kern="0" dirty="0">
                <a:solidFill>
                  <a:srgbClr val="17191E"/>
                </a:solidFill>
                <a:latin typeface="Albert Sans Medium" pitchFamily="34" charset="0"/>
                <a:ea typeface="Albert Sans Medium" pitchFamily="34" charset="-122"/>
                <a:cs typeface="Albert Sans Medium" pitchFamily="34" charset="-120"/>
              </a:rPr>
              <a:t>Match</a:t>
            </a:r>
            <a:endParaRPr lang="en-US" sz="1852" dirty="0"/>
          </a:p>
        </p:txBody>
      </p:sp>
      <p:sp>
        <p:nvSpPr>
          <p:cNvPr id="31" name="Editable text 29: Surface relevant"/>
          <p:cNvSpPr/>
          <p:nvPr/>
        </p:nvSpPr>
        <p:spPr>
          <a:xfrm>
            <a:off x="5485954" y="5326780"/>
            <a:ext cx="13354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Surface relevant</a:t>
            </a:r>
            <a:endParaRPr lang="en-US" sz="1323" dirty="0"/>
          </a:p>
        </p:txBody>
      </p:sp>
      <p:sp>
        <p:nvSpPr>
          <p:cNvPr id="32" name="Editable text 30: local options"/>
          <p:cNvSpPr/>
          <p:nvPr/>
        </p:nvSpPr>
        <p:spPr>
          <a:xfrm>
            <a:off x="5485954" y="5555380"/>
            <a:ext cx="1070205"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local options</a:t>
            </a:r>
            <a:endParaRPr lang="en-US" sz="1323" dirty="0"/>
          </a:p>
        </p:txBody>
      </p:sp>
      <p:sp>
        <p:nvSpPr>
          <p:cNvPr id="33" name="Editable text 31: 4"/>
          <p:cNvSpPr/>
          <p:nvPr/>
        </p:nvSpPr>
        <p:spPr>
          <a:xfrm>
            <a:off x="7826276" y="3672445"/>
            <a:ext cx="258835" cy="300971"/>
          </a:xfrm>
          <a:prstGeom prst="rect">
            <a:avLst/>
          </a:prstGeom>
          <a:noFill/>
          <a:ln/>
        </p:spPr>
        <p:txBody>
          <a:bodyPr wrap="none" lIns="0" tIns="0" rIns="0" bIns="0" rtlCol="0" anchor="t"/>
          <a:lstStyle/>
          <a:p>
            <a:pPr algn="l" indent="0" marL="0">
              <a:buNone/>
            </a:pPr>
            <a:r>
              <a:rPr lang="en-US" sz="1693" dirty="0">
                <a:solidFill>
                  <a:srgbClr val="3C4ED6"/>
                </a:solidFill>
                <a:latin typeface="Albert Sans SemiBold" pitchFamily="34" charset="0"/>
                <a:ea typeface="Albert Sans SemiBold" pitchFamily="34" charset="-122"/>
                <a:cs typeface="Albert Sans SemiBold" pitchFamily="34" charset="-120"/>
              </a:rPr>
              <a:t>4</a:t>
            </a:r>
            <a:endParaRPr lang="en-US" sz="1693" dirty="0"/>
          </a:p>
        </p:txBody>
      </p:sp>
      <p:sp>
        <p:nvSpPr>
          <p:cNvPr id="34" name="Editable text 32: Referral"/>
          <p:cNvSpPr/>
          <p:nvPr/>
        </p:nvSpPr>
        <p:spPr>
          <a:xfrm>
            <a:off x="7826276" y="4834361"/>
            <a:ext cx="910025" cy="329241"/>
          </a:xfrm>
          <a:prstGeom prst="rect">
            <a:avLst/>
          </a:prstGeom>
          <a:noFill/>
          <a:ln/>
        </p:spPr>
        <p:txBody>
          <a:bodyPr wrap="none" lIns="0" tIns="0" rIns="0" bIns="0" rtlCol="0" anchor="t"/>
          <a:lstStyle/>
          <a:p>
            <a:pPr algn="l" indent="0" marL="0">
              <a:buNone/>
            </a:pPr>
            <a:r>
              <a:rPr lang="en-US" sz="1852" spc="-65" kern="0" dirty="0">
                <a:solidFill>
                  <a:srgbClr val="17191E"/>
                </a:solidFill>
                <a:latin typeface="Albert Sans Medium" pitchFamily="34" charset="0"/>
                <a:ea typeface="Albert Sans Medium" pitchFamily="34" charset="-122"/>
                <a:cs typeface="Albert Sans Medium" pitchFamily="34" charset="-120"/>
              </a:rPr>
              <a:t>Referral</a:t>
            </a:r>
            <a:endParaRPr lang="en-US" sz="1852" dirty="0"/>
          </a:p>
        </p:txBody>
      </p:sp>
      <p:sp>
        <p:nvSpPr>
          <p:cNvPr id="35" name="Editable text 33: Review providers and"/>
          <p:cNvSpPr/>
          <p:nvPr/>
        </p:nvSpPr>
        <p:spPr>
          <a:xfrm>
            <a:off x="7826276" y="5326780"/>
            <a:ext cx="174693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Review providers and</a:t>
            </a:r>
            <a:endParaRPr lang="en-US" sz="1323" dirty="0"/>
          </a:p>
        </p:txBody>
      </p:sp>
      <p:sp>
        <p:nvSpPr>
          <p:cNvPr id="36" name="Editable text 34: next steps"/>
          <p:cNvSpPr/>
          <p:nvPr/>
        </p:nvSpPr>
        <p:spPr>
          <a:xfrm>
            <a:off x="7826276" y="5555380"/>
            <a:ext cx="881844"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next steps</a:t>
            </a:r>
            <a:endParaRPr lang="en-US" sz="132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lark County · Product experience"/>
          <p:cNvSpPr/>
          <p:nvPr/>
        </p:nvSpPr>
        <p:spPr>
          <a:xfrm>
            <a:off x="11389816" y="421405"/>
            <a:ext cx="2738760"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Clark County · Product experience</a:t>
            </a:r>
            <a:endParaRPr lang="en-US" sz="1323" dirty="0"/>
          </a:p>
        </p:txBody>
      </p:sp>
      <p:sp>
        <p:nvSpPr>
          <p:cNvPr id="6" name="Editable text 4: The frontend experience"/>
          <p:cNvSpPr/>
          <p:nvPr/>
        </p:nvSpPr>
        <p:spPr>
          <a:xfrm>
            <a:off x="594271" y="970621"/>
            <a:ext cx="2150593"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The frontend experience</a:t>
            </a:r>
            <a:endParaRPr lang="en-US" sz="1429" dirty="0"/>
          </a:p>
        </p:txBody>
      </p:sp>
      <p:sp>
        <p:nvSpPr>
          <p:cNvPr id="7" name="Editable text 5: A task. A place. "/>
          <p:cNvSpPr/>
          <p:nvPr/>
        </p:nvSpPr>
        <p:spPr>
          <a:xfrm>
            <a:off x="594271" y="1320084"/>
            <a:ext cx="5386391" cy="1072534"/>
          </a:xfrm>
          <a:prstGeom prst="rect">
            <a:avLst/>
          </a:prstGeom>
          <a:noFill/>
          <a:ln/>
        </p:spPr>
        <p:txBody>
          <a:bodyPr wrap="none" lIns="0" tIns="0" rIns="0" bIns="0" rtlCol="0" anchor="t"/>
          <a:lstStyle/>
          <a:p>
            <a:pPr algn="l" indent="0" marL="0">
              <a:buNone/>
            </a:pPr>
            <a:r>
              <a:rPr lang="en-US" sz="6032" spc="-332" kern="0" dirty="0">
                <a:solidFill>
                  <a:srgbClr val="17191E"/>
                </a:solidFill>
                <a:latin typeface="Albert Sans Medium" pitchFamily="34" charset="0"/>
                <a:ea typeface="Albert Sans Medium" pitchFamily="34" charset="-122"/>
                <a:cs typeface="Albert Sans Medium" pitchFamily="34" charset="-120"/>
              </a:rPr>
              <a:t>A task. A place. </a:t>
            </a:r>
            <a:endParaRPr lang="en-US" sz="6032" dirty="0"/>
          </a:p>
        </p:txBody>
      </p:sp>
      <p:sp>
        <p:nvSpPr>
          <p:cNvPr id="8" name="Editable text 6: A next step."/>
          <p:cNvSpPr/>
          <p:nvPr/>
        </p:nvSpPr>
        <p:spPr>
          <a:xfrm>
            <a:off x="5517207" y="1320084"/>
            <a:ext cx="4131693" cy="1072534"/>
          </a:xfrm>
          <a:prstGeom prst="rect">
            <a:avLst/>
          </a:prstGeom>
          <a:noFill/>
          <a:ln/>
        </p:spPr>
        <p:txBody>
          <a:bodyPr wrap="none" lIns="0" tIns="0" rIns="0" bIns="0" rtlCol="0" anchor="t"/>
          <a:lstStyle/>
          <a:p>
            <a:pPr algn="l" indent="0" marL="0">
              <a:buNone/>
            </a:pPr>
            <a:r>
              <a:rPr lang="en-US" sz="6032" spc="-332" kern="0" dirty="0">
                <a:solidFill>
                  <a:srgbClr val="3C4ED6"/>
                </a:solidFill>
                <a:latin typeface="Albert Sans Medium" pitchFamily="34" charset="0"/>
                <a:ea typeface="Albert Sans Medium" pitchFamily="34" charset="-122"/>
                <a:cs typeface="Albert Sans Medium" pitchFamily="34" charset="-120"/>
              </a:rPr>
              <a:t>A next step.</a:t>
            </a:r>
            <a:endParaRPr lang="en-US" sz="6032" dirty="0"/>
          </a:p>
        </p:txBody>
      </p:sp>
      <p:sp>
        <p:nvSpPr>
          <p:cNvPr id="9" name="Editable text 7: The interface is organized around the work staff need t"/>
          <p:cNvSpPr/>
          <p:nvPr/>
        </p:nvSpPr>
        <p:spPr>
          <a:xfrm>
            <a:off x="594271" y="2383245"/>
            <a:ext cx="11433817"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The interface is organized around the work staff need to do, rather than the structure of the underlying data.</a:t>
            </a:r>
            <a:endParaRPr lang="en-US" sz="1799" dirty="0"/>
          </a:p>
        </p:txBody>
      </p:sp>
      <p:sp>
        <p:nvSpPr>
          <p:cNvPr id="10" name="Editable text 8: 1"/>
          <p:cNvSpPr/>
          <p:nvPr/>
        </p:nvSpPr>
        <p:spPr>
          <a:xfrm>
            <a:off x="7857976" y="3669254"/>
            <a:ext cx="179981" cy="291636"/>
          </a:xfrm>
          <a:prstGeom prst="rect">
            <a:avLst/>
          </a:prstGeom>
          <a:noFill/>
          <a:ln/>
        </p:spPr>
        <p:txBody>
          <a:bodyPr wrap="none" lIns="0" tIns="0" rIns="0" bIns="0" rtlCol="0" anchor="t"/>
          <a:lstStyle/>
          <a:p>
            <a:pPr algn="l" indent="0" marL="0">
              <a:buNone/>
            </a:pPr>
            <a:r>
              <a:rPr lang="en-US" sz="1640" dirty="0">
                <a:solidFill>
                  <a:srgbClr val="FFFFFF"/>
                </a:solidFill>
                <a:latin typeface="Albert Sans Medium" pitchFamily="34" charset="0"/>
                <a:ea typeface="Albert Sans Medium" pitchFamily="34" charset="-122"/>
                <a:cs typeface="Albert Sans Medium" pitchFamily="34" charset="-120"/>
              </a:rPr>
              <a:t>1</a:t>
            </a:r>
            <a:endParaRPr lang="en-US" sz="1640" dirty="0"/>
          </a:p>
        </p:txBody>
      </p:sp>
      <p:sp>
        <p:nvSpPr>
          <p:cNvPr id="11" name="Editable text 9: Start simply"/>
          <p:cNvSpPr/>
          <p:nvPr/>
        </p:nvSpPr>
        <p:spPr>
          <a:xfrm>
            <a:off x="8293894" y="3576928"/>
            <a:ext cx="1438353"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Start simply</a:t>
            </a:r>
            <a:endParaRPr lang="en-US" sz="2011" dirty="0"/>
          </a:p>
        </p:txBody>
      </p:sp>
      <p:sp>
        <p:nvSpPr>
          <p:cNvPr id="12" name="Editable text 10: Three clear entry points: internet, skills, or devices."/>
          <p:cNvSpPr/>
          <p:nvPr/>
        </p:nvSpPr>
        <p:spPr>
          <a:xfrm>
            <a:off x="8293894" y="3936087"/>
            <a:ext cx="4483274"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Three clear entry points: internet, skills, or devices.</a:t>
            </a:r>
            <a:endParaRPr lang="en-US" sz="1481" dirty="0"/>
          </a:p>
        </p:txBody>
      </p:sp>
      <p:sp>
        <p:nvSpPr>
          <p:cNvPr id="13" name="Editable text 11: 2"/>
          <p:cNvSpPr/>
          <p:nvPr/>
        </p:nvSpPr>
        <p:spPr>
          <a:xfrm>
            <a:off x="7828359" y="4507454"/>
            <a:ext cx="239142" cy="291636"/>
          </a:xfrm>
          <a:prstGeom prst="rect">
            <a:avLst/>
          </a:prstGeom>
          <a:noFill/>
          <a:ln/>
        </p:spPr>
        <p:txBody>
          <a:bodyPr wrap="none" lIns="0" tIns="0" rIns="0" bIns="0" rtlCol="0" anchor="t"/>
          <a:lstStyle/>
          <a:p>
            <a:pPr algn="l" indent="0" marL="0">
              <a:buNone/>
            </a:pPr>
            <a:r>
              <a:rPr lang="en-US" sz="1640" dirty="0">
                <a:solidFill>
                  <a:srgbClr val="FFFFFF"/>
                </a:solidFill>
                <a:latin typeface="Albert Sans Medium" pitchFamily="34" charset="0"/>
                <a:ea typeface="Albert Sans Medium" pitchFamily="34" charset="-122"/>
                <a:cs typeface="Albert Sans Medium" pitchFamily="34" charset="-120"/>
              </a:rPr>
              <a:t>2</a:t>
            </a:r>
            <a:endParaRPr lang="en-US" sz="1640" dirty="0"/>
          </a:p>
        </p:txBody>
      </p:sp>
      <p:sp>
        <p:nvSpPr>
          <p:cNvPr id="14" name="Editable text 12: Make it local"/>
          <p:cNvSpPr/>
          <p:nvPr/>
        </p:nvSpPr>
        <p:spPr>
          <a:xfrm>
            <a:off x="8293894" y="4415128"/>
            <a:ext cx="1514722"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Make it local</a:t>
            </a:r>
            <a:endParaRPr lang="en-US" sz="2011" dirty="0"/>
          </a:p>
        </p:txBody>
      </p:sp>
      <p:sp>
        <p:nvSpPr>
          <p:cNvPr id="15" name="Editable text 13: An address guides the search toward relevant local reso"/>
          <p:cNvSpPr/>
          <p:nvPr/>
        </p:nvSpPr>
        <p:spPr>
          <a:xfrm>
            <a:off x="8293894" y="4774287"/>
            <a:ext cx="5434786"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An address guides the search toward relevant local resources.</a:t>
            </a:r>
            <a:endParaRPr lang="en-US" sz="1481" dirty="0"/>
          </a:p>
        </p:txBody>
      </p:sp>
      <p:sp>
        <p:nvSpPr>
          <p:cNvPr id="16" name="Editable text 14: 3"/>
          <p:cNvSpPr/>
          <p:nvPr/>
        </p:nvSpPr>
        <p:spPr>
          <a:xfrm>
            <a:off x="7828508" y="5345654"/>
            <a:ext cx="238934" cy="291636"/>
          </a:xfrm>
          <a:prstGeom prst="rect">
            <a:avLst/>
          </a:prstGeom>
          <a:noFill/>
          <a:ln/>
        </p:spPr>
        <p:txBody>
          <a:bodyPr wrap="none" lIns="0" tIns="0" rIns="0" bIns="0" rtlCol="0" anchor="t"/>
          <a:lstStyle/>
          <a:p>
            <a:pPr algn="l" indent="0" marL="0">
              <a:buNone/>
            </a:pPr>
            <a:r>
              <a:rPr lang="en-US" sz="1640" dirty="0">
                <a:solidFill>
                  <a:srgbClr val="FFFFFF"/>
                </a:solidFill>
                <a:latin typeface="Albert Sans Medium" pitchFamily="34" charset="0"/>
                <a:ea typeface="Albert Sans Medium" pitchFamily="34" charset="-122"/>
                <a:cs typeface="Albert Sans Medium" pitchFamily="34" charset="-120"/>
              </a:rPr>
              <a:t>3</a:t>
            </a:r>
            <a:endParaRPr lang="en-US" sz="1640" dirty="0"/>
          </a:p>
        </p:txBody>
      </p:sp>
      <p:sp>
        <p:nvSpPr>
          <p:cNvPr id="17" name="Editable text 15: Move forward"/>
          <p:cNvSpPr/>
          <p:nvPr/>
        </p:nvSpPr>
        <p:spPr>
          <a:xfrm>
            <a:off x="8293894" y="5253328"/>
            <a:ext cx="1655056"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Move forward</a:t>
            </a:r>
            <a:endParaRPr lang="en-US" sz="2011" dirty="0"/>
          </a:p>
        </p:txBody>
      </p:sp>
      <p:sp>
        <p:nvSpPr>
          <p:cNvPr id="18" name="Editable text 16: Show options and provider contacts that support a refer"/>
          <p:cNvSpPr/>
          <p:nvPr/>
        </p:nvSpPr>
        <p:spPr>
          <a:xfrm>
            <a:off x="8293894" y="5612487"/>
            <a:ext cx="5184588"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Show options and provider contacts that support a referral.</a:t>
            </a:r>
            <a:endParaRPr lang="en-US" sz="1481" dirty="0"/>
          </a:p>
        </p:txBody>
      </p:sp>
      <p:sp>
        <p:nvSpPr>
          <p:cNvPr id="19" name="Editable text 17: 4"/>
          <p:cNvSpPr/>
          <p:nvPr/>
        </p:nvSpPr>
        <p:spPr>
          <a:xfrm>
            <a:off x="7822555" y="6183854"/>
            <a:ext cx="250807" cy="291636"/>
          </a:xfrm>
          <a:prstGeom prst="rect">
            <a:avLst/>
          </a:prstGeom>
          <a:noFill/>
          <a:ln/>
        </p:spPr>
        <p:txBody>
          <a:bodyPr wrap="none" lIns="0" tIns="0" rIns="0" bIns="0" rtlCol="0" anchor="t"/>
          <a:lstStyle/>
          <a:p>
            <a:pPr algn="l" indent="0" marL="0">
              <a:buNone/>
            </a:pPr>
            <a:r>
              <a:rPr lang="en-US" sz="1640" dirty="0">
                <a:solidFill>
                  <a:srgbClr val="FFFFFF"/>
                </a:solidFill>
                <a:latin typeface="Albert Sans Medium" pitchFamily="34" charset="0"/>
                <a:ea typeface="Albert Sans Medium" pitchFamily="34" charset="-122"/>
                <a:cs typeface="Albert Sans Medium" pitchFamily="34" charset="-120"/>
              </a:rPr>
              <a:t>4</a:t>
            </a:r>
            <a:endParaRPr lang="en-US" sz="1640" dirty="0"/>
          </a:p>
        </p:txBody>
      </p:sp>
      <p:sp>
        <p:nvSpPr>
          <p:cNvPr id="20" name="Editable text 18: Design for access"/>
          <p:cNvSpPr/>
          <p:nvPr/>
        </p:nvSpPr>
        <p:spPr>
          <a:xfrm>
            <a:off x="8293894" y="6091528"/>
            <a:ext cx="2086885"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Design for access</a:t>
            </a:r>
            <a:endParaRPr lang="en-US" sz="2011" dirty="0"/>
          </a:p>
        </p:txBody>
      </p:sp>
      <p:sp>
        <p:nvSpPr>
          <p:cNvPr id="21" name="Editable text 19: English / Español plus one responsive web experience."/>
          <p:cNvSpPr/>
          <p:nvPr/>
        </p:nvSpPr>
        <p:spPr>
          <a:xfrm>
            <a:off x="8293894" y="6450687"/>
            <a:ext cx="4791976"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English / Español plus one responsive web experience.</a:t>
            </a:r>
            <a:endParaRPr lang="en-US" sz="1481" dirty="0"/>
          </a:p>
        </p:txBody>
      </p:sp>
      <p:sp>
        <p:nvSpPr>
          <p:cNvPr id="22" name="Editable text 20: Case study 01 · Clark County Digital Equity Assistant"/>
          <p:cNvSpPr/>
          <p:nvPr/>
        </p:nvSpPr>
        <p:spPr>
          <a:xfrm>
            <a:off x="594271" y="7688980"/>
            <a:ext cx="41197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01 · Clark County Digital Equity Assistant</a:t>
            </a:r>
            <a:endParaRPr lang="en-US" sz="1323" dirty="0"/>
          </a:p>
        </p:txBody>
      </p:sp>
      <p:sp>
        <p:nvSpPr>
          <p:cNvPr id="23" name="Editable text 21: 09 / 18"/>
          <p:cNvSpPr/>
          <p:nvPr/>
        </p:nvSpPr>
        <p:spPr>
          <a:xfrm>
            <a:off x="13524607" y="7688980"/>
            <a:ext cx="603884"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09 / 18</a:t>
            </a:r>
            <a:endParaRPr lang="en-US" sz="1323" dirty="0"/>
          </a:p>
        </p:txBody>
      </p:sp>
      <p:sp>
        <p:nvSpPr>
          <p:cNvPr id="24" name="Editable text 22: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lark County · In context"/>
          <p:cNvSpPr/>
          <p:nvPr/>
        </p:nvSpPr>
        <p:spPr>
          <a:xfrm>
            <a:off x="12131278" y="421405"/>
            <a:ext cx="1997215"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Clark County · In context</a:t>
            </a:r>
            <a:endParaRPr lang="en-US" sz="1323" dirty="0"/>
          </a:p>
        </p:txBody>
      </p:sp>
      <p:sp>
        <p:nvSpPr>
          <p:cNvPr id="6" name="Editable text 4: In context"/>
          <p:cNvSpPr/>
          <p:nvPr/>
        </p:nvSpPr>
        <p:spPr>
          <a:xfrm>
            <a:off x="594271" y="1542121"/>
            <a:ext cx="928356"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In context</a:t>
            </a:r>
            <a:endParaRPr lang="en-US" sz="1429" dirty="0"/>
          </a:p>
        </p:txBody>
      </p:sp>
      <p:sp>
        <p:nvSpPr>
          <p:cNvPr id="7" name="Editable text 5: Support the"/>
          <p:cNvSpPr/>
          <p:nvPr/>
        </p:nvSpPr>
        <p:spPr>
          <a:xfrm>
            <a:off x="594271" y="1902081"/>
            <a:ext cx="3060200" cy="790365"/>
          </a:xfrm>
          <a:prstGeom prst="rect">
            <a:avLst/>
          </a:prstGeom>
          <a:noFill/>
          <a:ln/>
        </p:spPr>
        <p:txBody>
          <a:bodyPr wrap="none" lIns="0" tIns="0" rIns="0" bIns="0" rtlCol="0" anchor="t"/>
          <a:lstStyle/>
          <a:p>
            <a:pPr algn="l" indent="0" marL="0">
              <a:buNone/>
            </a:pPr>
            <a:r>
              <a:rPr lang="en-US" sz="4445" spc="-244" kern="0" dirty="0">
                <a:solidFill>
                  <a:srgbClr val="17191E"/>
                </a:solidFill>
                <a:latin typeface="Albert Sans Medium" pitchFamily="34" charset="0"/>
                <a:ea typeface="Albert Sans Medium" pitchFamily="34" charset="-122"/>
                <a:cs typeface="Albert Sans Medium" pitchFamily="34" charset="-120"/>
              </a:rPr>
              <a:t>Support the</a:t>
            </a:r>
            <a:endParaRPr lang="en-US" sz="4445" dirty="0"/>
          </a:p>
        </p:txBody>
      </p:sp>
      <p:sp>
        <p:nvSpPr>
          <p:cNvPr id="8" name="Editable text 6: conversation."/>
          <p:cNvSpPr/>
          <p:nvPr/>
        </p:nvSpPr>
        <p:spPr>
          <a:xfrm>
            <a:off x="594271" y="2473581"/>
            <a:ext cx="3424851" cy="790365"/>
          </a:xfrm>
          <a:prstGeom prst="rect">
            <a:avLst/>
          </a:prstGeom>
          <a:noFill/>
          <a:ln/>
        </p:spPr>
        <p:txBody>
          <a:bodyPr wrap="none" lIns="0" tIns="0" rIns="0" bIns="0" rtlCol="0" anchor="t"/>
          <a:lstStyle/>
          <a:p>
            <a:pPr algn="l" indent="0" marL="0">
              <a:buNone/>
            </a:pPr>
            <a:r>
              <a:rPr lang="en-US" sz="4445" spc="-244" kern="0" dirty="0">
                <a:solidFill>
                  <a:srgbClr val="3C4ED6"/>
                </a:solidFill>
                <a:latin typeface="Albert Sans Medium" pitchFamily="34" charset="0"/>
                <a:ea typeface="Albert Sans Medium" pitchFamily="34" charset="-122"/>
                <a:cs typeface="Albert Sans Medium" pitchFamily="34" charset="-120"/>
              </a:rPr>
              <a:t>conversation.</a:t>
            </a:r>
            <a:endParaRPr lang="en-US" sz="4445" dirty="0"/>
          </a:p>
        </p:txBody>
      </p:sp>
      <p:sp>
        <p:nvSpPr>
          <p:cNvPr id="9" name="Editable text 7: Staff can guide a resident through focused questions, d"/>
          <p:cNvSpPr/>
          <p:nvPr/>
        </p:nvSpPr>
        <p:spPr>
          <a:xfrm>
            <a:off x="594271" y="3402687"/>
            <a:ext cx="6153023"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Staff can guide a resident through focused questions, discuss relevant</a:t>
            </a:r>
            <a:endParaRPr lang="en-US" sz="1481" dirty="0"/>
          </a:p>
        </p:txBody>
      </p:sp>
      <p:sp>
        <p:nvSpPr>
          <p:cNvPr id="10" name="Editable text 8: options, and make the next step clearer. The product su"/>
          <p:cNvSpPr/>
          <p:nvPr/>
        </p:nvSpPr>
        <p:spPr>
          <a:xfrm>
            <a:off x="594271" y="3678912"/>
            <a:ext cx="6115777"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options, and make the next step clearer. The product supports human</a:t>
            </a:r>
            <a:endParaRPr lang="en-US" sz="1481" dirty="0"/>
          </a:p>
        </p:txBody>
      </p:sp>
      <p:sp>
        <p:nvSpPr>
          <p:cNvPr id="11" name="Editable text 9: judgment rather than replacing it."/>
          <p:cNvSpPr/>
          <p:nvPr/>
        </p:nvSpPr>
        <p:spPr>
          <a:xfrm>
            <a:off x="594271" y="3964662"/>
            <a:ext cx="2993927"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judgment rather than replacing it.</a:t>
            </a:r>
            <a:endParaRPr lang="en-US" sz="1481" dirty="0"/>
          </a:p>
        </p:txBody>
      </p:sp>
      <p:sp>
        <p:nvSpPr>
          <p:cNvPr id="12" name="Editable text 10: Local programs"/>
          <p:cNvSpPr/>
          <p:nvPr/>
        </p:nvSpPr>
        <p:spPr>
          <a:xfrm>
            <a:off x="1414165" y="4459695"/>
            <a:ext cx="1648536"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Local programs</a:t>
            </a:r>
            <a:endParaRPr lang="en-US" sz="1799" dirty="0"/>
          </a:p>
        </p:txBody>
      </p:sp>
      <p:sp>
        <p:nvSpPr>
          <p:cNvPr id="13" name="Editable text 11: Surface relevant resources."/>
          <p:cNvSpPr/>
          <p:nvPr/>
        </p:nvSpPr>
        <p:spPr>
          <a:xfrm>
            <a:off x="1414165" y="4809330"/>
            <a:ext cx="2088142"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Surface relevant resources.</a:t>
            </a:r>
            <a:endParaRPr lang="en-US" sz="1270" dirty="0"/>
          </a:p>
        </p:txBody>
      </p:sp>
      <p:sp>
        <p:nvSpPr>
          <p:cNvPr id="14" name="Editable text 12: Guided questions"/>
          <p:cNvSpPr/>
          <p:nvPr/>
        </p:nvSpPr>
        <p:spPr>
          <a:xfrm>
            <a:off x="1414165" y="5278845"/>
            <a:ext cx="1858708"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Guided questions</a:t>
            </a:r>
            <a:endParaRPr lang="en-US" sz="1799" dirty="0"/>
          </a:p>
        </p:txBody>
      </p:sp>
      <p:sp>
        <p:nvSpPr>
          <p:cNvPr id="15" name="Editable text 13: Turn a need into a usable pathway."/>
          <p:cNvSpPr/>
          <p:nvPr/>
        </p:nvSpPr>
        <p:spPr>
          <a:xfrm>
            <a:off x="1414165" y="5628480"/>
            <a:ext cx="2635017"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Turn a need into a usable pathway.</a:t>
            </a:r>
            <a:endParaRPr lang="en-US" sz="1270" dirty="0"/>
          </a:p>
        </p:txBody>
      </p:sp>
      <p:sp>
        <p:nvSpPr>
          <p:cNvPr id="16" name="Editable text 14: Human judgment"/>
          <p:cNvSpPr/>
          <p:nvPr/>
        </p:nvSpPr>
        <p:spPr>
          <a:xfrm>
            <a:off x="1414165" y="6097995"/>
            <a:ext cx="1833576"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Human judgment</a:t>
            </a:r>
            <a:endParaRPr lang="en-US" sz="1799" dirty="0"/>
          </a:p>
        </p:txBody>
      </p:sp>
      <p:sp>
        <p:nvSpPr>
          <p:cNvPr id="17" name="Editable text 15: Keep staff in control of the referral."/>
          <p:cNvSpPr/>
          <p:nvPr/>
        </p:nvSpPr>
        <p:spPr>
          <a:xfrm>
            <a:off x="1414165" y="6447630"/>
            <a:ext cx="2658556"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Keep staff in control of the referral.</a:t>
            </a:r>
            <a:endParaRPr lang="en-US" sz="1270" dirty="0"/>
          </a:p>
        </p:txBody>
      </p:sp>
      <p:sp>
        <p:nvSpPr>
          <p:cNvPr id="18" name="Editable text 16: Case study 01 · Clark County Digital Equity Assistant"/>
          <p:cNvSpPr/>
          <p:nvPr/>
        </p:nvSpPr>
        <p:spPr>
          <a:xfrm>
            <a:off x="594271" y="7688980"/>
            <a:ext cx="41197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01 · Clark County Digital Equity Assistant</a:t>
            </a:r>
            <a:endParaRPr lang="en-US" sz="1323" dirty="0"/>
          </a:p>
        </p:txBody>
      </p:sp>
      <p:sp>
        <p:nvSpPr>
          <p:cNvPr id="19" name="Editable text 17: 10 / 18"/>
          <p:cNvSpPr/>
          <p:nvPr/>
        </p:nvSpPr>
        <p:spPr>
          <a:xfrm>
            <a:off x="13573869" y="7688980"/>
            <a:ext cx="55462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10 / 18</a:t>
            </a:r>
            <a:endParaRPr lang="en-US" sz="1323" dirty="0"/>
          </a:p>
        </p:txBody>
      </p:sp>
      <p:sp>
        <p:nvSpPr>
          <p:cNvPr id="20" name="Editable text 18: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
        <p:nvSpPr>
          <p:cNvPr id="21" name="Editable text 19: Illustrative stock photo · actual interface"/>
          <p:cNvSpPr/>
          <p:nvPr/>
        </p:nvSpPr>
        <p:spPr>
          <a:xfrm>
            <a:off x="7061895" y="6447763"/>
            <a:ext cx="2653212"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Illustrative stock photo · actual interface</a:t>
            </a:r>
            <a:endParaRPr lang="en-US" sz="111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lark County · Responsive by design"/>
          <p:cNvSpPr/>
          <p:nvPr/>
        </p:nvSpPr>
        <p:spPr>
          <a:xfrm>
            <a:off x="11218515" y="421405"/>
            <a:ext cx="291000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Clark County · Responsive by design</a:t>
            </a:r>
            <a:endParaRPr lang="en-US" sz="1323" dirty="0"/>
          </a:p>
        </p:txBody>
      </p:sp>
      <p:sp>
        <p:nvSpPr>
          <p:cNvPr id="6" name="Editable text 4: One responsive web product"/>
          <p:cNvSpPr/>
          <p:nvPr/>
        </p:nvSpPr>
        <p:spPr>
          <a:xfrm>
            <a:off x="594271" y="970621"/>
            <a:ext cx="2503429"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One responsive web product</a:t>
            </a:r>
            <a:endParaRPr lang="en-US" sz="1429" dirty="0"/>
          </a:p>
        </p:txBody>
      </p:sp>
      <p:sp>
        <p:nvSpPr>
          <p:cNvPr id="7" name="Editable text 5: Where the "/>
          <p:cNvSpPr/>
          <p:nvPr/>
        </p:nvSpPr>
        <p:spPr>
          <a:xfrm>
            <a:off x="594271" y="1333638"/>
            <a:ext cx="3038094" cy="827970"/>
          </a:xfrm>
          <a:prstGeom prst="rect">
            <a:avLst/>
          </a:prstGeom>
          <a:noFill/>
          <a:ln/>
        </p:spPr>
        <p:txBody>
          <a:bodyPr wrap="none" lIns="0" tIns="0" rIns="0" bIns="0" rtlCol="0" anchor="t"/>
          <a:lstStyle/>
          <a:p>
            <a:pPr algn="l" indent="0" marL="0">
              <a:buNone/>
            </a:pPr>
            <a:r>
              <a:rPr lang="en-US" sz="4657" spc="-256" kern="0" dirty="0">
                <a:solidFill>
                  <a:srgbClr val="17191E"/>
                </a:solidFill>
                <a:latin typeface="Albert Sans Medium" pitchFamily="34" charset="0"/>
                <a:ea typeface="Albert Sans Medium" pitchFamily="34" charset="-122"/>
                <a:cs typeface="Albert Sans Medium" pitchFamily="34" charset="-120"/>
              </a:rPr>
              <a:t>Where the </a:t>
            </a:r>
            <a:endParaRPr lang="en-US" sz="4657" dirty="0"/>
          </a:p>
        </p:txBody>
      </p:sp>
      <p:sp>
        <p:nvSpPr>
          <p:cNvPr id="8" name="Editable text 6: work happens."/>
          <p:cNvSpPr/>
          <p:nvPr/>
        </p:nvSpPr>
        <p:spPr>
          <a:xfrm>
            <a:off x="3274665" y="1333638"/>
            <a:ext cx="3877706" cy="827970"/>
          </a:xfrm>
          <a:prstGeom prst="rect">
            <a:avLst/>
          </a:prstGeom>
          <a:noFill/>
          <a:ln/>
        </p:spPr>
        <p:txBody>
          <a:bodyPr wrap="none" lIns="0" tIns="0" rIns="0" bIns="0" rtlCol="0" anchor="t"/>
          <a:lstStyle/>
          <a:p>
            <a:pPr algn="l" indent="0" marL="0">
              <a:buNone/>
            </a:pPr>
            <a:r>
              <a:rPr lang="en-US" sz="4657" spc="-256" kern="0" dirty="0">
                <a:solidFill>
                  <a:srgbClr val="3C4ED6"/>
                </a:solidFill>
                <a:latin typeface="Albert Sans Medium" pitchFamily="34" charset="0"/>
                <a:ea typeface="Albert Sans Medium" pitchFamily="34" charset="-122"/>
                <a:cs typeface="Albert Sans Medium" pitchFamily="34" charset="-120"/>
              </a:rPr>
              <a:t>work happens.</a:t>
            </a:r>
            <a:endParaRPr lang="en-US" sz="4657" dirty="0"/>
          </a:p>
        </p:txBody>
      </p:sp>
      <p:sp>
        <p:nvSpPr>
          <p:cNvPr id="9" name="Editable text 7: The same web product works across desktop, tablet, and "/>
          <p:cNvSpPr/>
          <p:nvPr/>
        </p:nvSpPr>
        <p:spPr>
          <a:xfrm>
            <a:off x="594271" y="2202404"/>
            <a:ext cx="13004499" cy="291636"/>
          </a:xfrm>
          <a:prstGeom prst="rect">
            <a:avLst/>
          </a:prstGeom>
          <a:noFill/>
          <a:ln/>
        </p:spPr>
        <p:txBody>
          <a:bodyPr wrap="none" lIns="0" tIns="0" rIns="0" bIns="0" rtlCol="0" anchor="t"/>
          <a:lstStyle/>
          <a:p>
            <a:pPr algn="l" indent="0" marL="0">
              <a:buNone/>
            </a:pPr>
            <a:r>
              <a:rPr lang="en-US" sz="1640" dirty="0">
                <a:solidFill>
                  <a:srgbClr val="646973"/>
                </a:solidFill>
                <a:latin typeface="Albert Sans" pitchFamily="34" charset="0"/>
                <a:ea typeface="Albert Sans" pitchFamily="34" charset="-122"/>
                <a:cs typeface="Albert Sans" pitchFamily="34" charset="-120"/>
              </a:rPr>
              <a:t>The same web product works across desktop, tablet, and phone so staff can use it at a desk, side by side with a resident, or in the field.</a:t>
            </a:r>
            <a:endParaRPr lang="en-US" sz="1640" dirty="0"/>
          </a:p>
        </p:txBody>
      </p:sp>
      <p:sp>
        <p:nvSpPr>
          <p:cNvPr id="10" name="Editable text 8: At the desk"/>
          <p:cNvSpPr/>
          <p:nvPr/>
        </p:nvSpPr>
        <p:spPr>
          <a:xfrm>
            <a:off x="2141786" y="6355170"/>
            <a:ext cx="1331703" cy="319907"/>
          </a:xfrm>
          <a:prstGeom prst="rect">
            <a:avLst/>
          </a:prstGeom>
          <a:noFill/>
          <a:ln/>
        </p:spPr>
        <p:txBody>
          <a:bodyPr wrap="none" lIns="0" tIns="0" rIns="0" bIns="0" rtlCol="0" anchor="t"/>
          <a:lstStyle/>
          <a:p>
            <a:pPr algn="l" indent="0" marL="0">
              <a:buNone/>
            </a:pPr>
            <a:r>
              <a:rPr lang="en-US" sz="1799" dirty="0">
                <a:solidFill>
                  <a:srgbClr val="17191E"/>
                </a:solidFill>
                <a:latin typeface="Albert Sans Medium" pitchFamily="34" charset="0"/>
                <a:ea typeface="Albert Sans Medium" pitchFamily="34" charset="-122"/>
                <a:cs typeface="Albert Sans Medium" pitchFamily="34" charset="-120"/>
              </a:rPr>
              <a:t>At the desk</a:t>
            </a:r>
            <a:endParaRPr lang="en-US" sz="1799" dirty="0"/>
          </a:p>
        </p:txBody>
      </p:sp>
      <p:sp>
        <p:nvSpPr>
          <p:cNvPr id="11" name="Editable text 9: Detailed search and referral work."/>
          <p:cNvSpPr/>
          <p:nvPr/>
        </p:nvSpPr>
        <p:spPr>
          <a:xfrm>
            <a:off x="1453753" y="6688855"/>
            <a:ext cx="267458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Detailed search and referral work.</a:t>
            </a:r>
            <a:endParaRPr lang="en-US" sz="1323" dirty="0"/>
          </a:p>
        </p:txBody>
      </p:sp>
      <p:sp>
        <p:nvSpPr>
          <p:cNvPr id="12" name="Editable text 10: Side by side"/>
          <p:cNvSpPr/>
          <p:nvPr/>
        </p:nvSpPr>
        <p:spPr>
          <a:xfrm>
            <a:off x="6674644" y="6355170"/>
            <a:ext cx="1406635" cy="319907"/>
          </a:xfrm>
          <a:prstGeom prst="rect">
            <a:avLst/>
          </a:prstGeom>
          <a:noFill/>
          <a:ln/>
        </p:spPr>
        <p:txBody>
          <a:bodyPr wrap="none" lIns="0" tIns="0" rIns="0" bIns="0" rtlCol="0" anchor="t"/>
          <a:lstStyle/>
          <a:p>
            <a:pPr algn="l" indent="0" marL="0">
              <a:buNone/>
            </a:pPr>
            <a:r>
              <a:rPr lang="en-US" sz="1799" dirty="0">
                <a:solidFill>
                  <a:srgbClr val="17191E"/>
                </a:solidFill>
                <a:latin typeface="Albert Sans Medium" pitchFamily="34" charset="0"/>
                <a:ea typeface="Albert Sans Medium" pitchFamily="34" charset="-122"/>
                <a:cs typeface="Albert Sans Medium" pitchFamily="34" charset="-120"/>
              </a:rPr>
              <a:t>Side by side</a:t>
            </a:r>
            <a:endParaRPr lang="en-US" sz="1799" dirty="0"/>
          </a:p>
        </p:txBody>
      </p:sp>
      <p:sp>
        <p:nvSpPr>
          <p:cNvPr id="13" name="Editable text 11: Shared conversation with a resident."/>
          <p:cNvSpPr/>
          <p:nvPr/>
        </p:nvSpPr>
        <p:spPr>
          <a:xfrm>
            <a:off x="5918299" y="6688855"/>
            <a:ext cx="288611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Shared conversation with a resident.</a:t>
            </a:r>
            <a:endParaRPr lang="en-US" sz="1323" dirty="0"/>
          </a:p>
        </p:txBody>
      </p:sp>
      <p:sp>
        <p:nvSpPr>
          <p:cNvPr id="14" name="Editable text 12: In the community"/>
          <p:cNvSpPr/>
          <p:nvPr/>
        </p:nvSpPr>
        <p:spPr>
          <a:xfrm>
            <a:off x="10964466" y="6355170"/>
            <a:ext cx="1967484" cy="319907"/>
          </a:xfrm>
          <a:prstGeom prst="rect">
            <a:avLst/>
          </a:prstGeom>
          <a:noFill/>
          <a:ln/>
        </p:spPr>
        <p:txBody>
          <a:bodyPr wrap="none" lIns="0" tIns="0" rIns="0" bIns="0" rtlCol="0" anchor="t"/>
          <a:lstStyle/>
          <a:p>
            <a:pPr algn="l" indent="0" marL="0">
              <a:buNone/>
            </a:pPr>
            <a:r>
              <a:rPr lang="en-US" sz="1799" dirty="0">
                <a:solidFill>
                  <a:srgbClr val="17191E"/>
                </a:solidFill>
                <a:latin typeface="Albert Sans Medium" pitchFamily="34" charset="0"/>
                <a:ea typeface="Albert Sans Medium" pitchFamily="34" charset="-122"/>
                <a:cs typeface="Albert Sans Medium" pitchFamily="34" charset="-120"/>
              </a:rPr>
              <a:t>In the community</a:t>
            </a:r>
            <a:endParaRPr lang="en-US" sz="1799" dirty="0"/>
          </a:p>
        </p:txBody>
      </p:sp>
      <p:sp>
        <p:nvSpPr>
          <p:cNvPr id="15" name="Editable text 13: Portable access during outreach."/>
          <p:cNvSpPr/>
          <p:nvPr/>
        </p:nvSpPr>
        <p:spPr>
          <a:xfrm>
            <a:off x="10621417" y="6688855"/>
            <a:ext cx="262036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Portable access during outreach.</a:t>
            </a:r>
            <a:endParaRPr lang="en-US" sz="1323" dirty="0"/>
          </a:p>
        </p:txBody>
      </p:sp>
      <p:sp>
        <p:nvSpPr>
          <p:cNvPr id="16" name="Editable text 14: Build standard: responsive layout · keyboard usability "/>
          <p:cNvSpPr/>
          <p:nvPr/>
        </p:nvSpPr>
        <p:spPr>
          <a:xfrm>
            <a:off x="594271" y="7133563"/>
            <a:ext cx="6579779"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Build standard: responsive layout · keyboard usability · readable contrast · English / Español interface.</a:t>
            </a:r>
            <a:endParaRPr lang="en-US" sz="1111" dirty="0"/>
          </a:p>
        </p:txBody>
      </p:sp>
      <p:sp>
        <p:nvSpPr>
          <p:cNvPr id="17" name="Editable text 15: Case study 01 · Clark County Digital Equity Assistant"/>
          <p:cNvSpPr/>
          <p:nvPr/>
        </p:nvSpPr>
        <p:spPr>
          <a:xfrm>
            <a:off x="594271" y="7688980"/>
            <a:ext cx="41197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01 · Clark County Digital Equity Assistant</a:t>
            </a:r>
            <a:endParaRPr lang="en-US" sz="1323" dirty="0"/>
          </a:p>
        </p:txBody>
      </p:sp>
      <p:sp>
        <p:nvSpPr>
          <p:cNvPr id="18" name="Editable text 16: 11 / 18"/>
          <p:cNvSpPr/>
          <p:nvPr/>
        </p:nvSpPr>
        <p:spPr>
          <a:xfrm>
            <a:off x="13628043" y="7688980"/>
            <a:ext cx="500449"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11 / 18</a:t>
            </a:r>
            <a:endParaRPr lang="en-US" sz="1323" dirty="0"/>
          </a:p>
        </p:txBody>
      </p:sp>
      <p:sp>
        <p:nvSpPr>
          <p:cNvPr id="19" name="Editable text 17: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lark County · Data foundation"/>
          <p:cNvSpPr/>
          <p:nvPr/>
        </p:nvSpPr>
        <p:spPr>
          <a:xfrm>
            <a:off x="11660832" y="421405"/>
            <a:ext cx="2467640"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Clark County · Data foundation</a:t>
            </a:r>
            <a:endParaRPr lang="en-US" sz="1323" dirty="0"/>
          </a:p>
        </p:txBody>
      </p:sp>
      <p:sp>
        <p:nvSpPr>
          <p:cNvPr id="6" name="Editable text 4: Data foundation"/>
          <p:cNvSpPr/>
          <p:nvPr/>
        </p:nvSpPr>
        <p:spPr>
          <a:xfrm>
            <a:off x="594271" y="970621"/>
            <a:ext cx="1433256"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Data foundation</a:t>
            </a:r>
            <a:endParaRPr lang="en-US" sz="1429" dirty="0"/>
          </a:p>
        </p:txBody>
      </p:sp>
      <p:sp>
        <p:nvSpPr>
          <p:cNvPr id="7" name="Editable text 5: A living service directory"/>
          <p:cNvSpPr/>
          <p:nvPr/>
        </p:nvSpPr>
        <p:spPr>
          <a:xfrm>
            <a:off x="594271" y="1333638"/>
            <a:ext cx="6310744" cy="827970"/>
          </a:xfrm>
          <a:prstGeom prst="rect">
            <a:avLst/>
          </a:prstGeom>
          <a:noFill/>
          <a:ln/>
        </p:spPr>
        <p:txBody>
          <a:bodyPr wrap="none" lIns="0" tIns="0" rIns="0" bIns="0" rtlCol="0" anchor="t"/>
          <a:lstStyle/>
          <a:p>
            <a:pPr algn="l" indent="0" marL="0">
              <a:buNone/>
            </a:pPr>
            <a:r>
              <a:rPr lang="en-US" sz="4657" spc="-256" kern="0" dirty="0">
                <a:solidFill>
                  <a:srgbClr val="17191E"/>
                </a:solidFill>
                <a:latin typeface="Albert Sans Medium" pitchFamily="34" charset="0"/>
                <a:ea typeface="Albert Sans Medium" pitchFamily="34" charset="-122"/>
                <a:cs typeface="Albert Sans Medium" pitchFamily="34" charset="-120"/>
              </a:rPr>
              <a:t>A living service directory</a:t>
            </a:r>
            <a:endParaRPr lang="en-US" sz="4657" dirty="0"/>
          </a:p>
        </p:txBody>
      </p:sp>
      <p:sp>
        <p:nvSpPr>
          <p:cNvPr id="8" name="Editable text 6: needs governance."/>
          <p:cNvSpPr/>
          <p:nvPr/>
        </p:nvSpPr>
        <p:spPr>
          <a:xfrm>
            <a:off x="594271" y="1943238"/>
            <a:ext cx="4935366" cy="827970"/>
          </a:xfrm>
          <a:prstGeom prst="rect">
            <a:avLst/>
          </a:prstGeom>
          <a:noFill/>
          <a:ln/>
        </p:spPr>
        <p:txBody>
          <a:bodyPr wrap="none" lIns="0" tIns="0" rIns="0" bIns="0" rtlCol="0" anchor="t"/>
          <a:lstStyle/>
          <a:p>
            <a:pPr algn="l" indent="0" marL="0">
              <a:buNone/>
            </a:pPr>
            <a:r>
              <a:rPr lang="en-US" sz="4657" spc="-256" kern="0" dirty="0">
                <a:solidFill>
                  <a:srgbClr val="3C4ED6"/>
                </a:solidFill>
                <a:latin typeface="Albert Sans Medium" pitchFamily="34" charset="0"/>
                <a:ea typeface="Albert Sans Medium" pitchFamily="34" charset="-122"/>
                <a:cs typeface="Albert Sans Medium" pitchFamily="34" charset="-120"/>
              </a:rPr>
              <a:t>needs governance.</a:t>
            </a:r>
            <a:endParaRPr lang="en-US" sz="4657" dirty="0"/>
          </a:p>
        </p:txBody>
      </p:sp>
      <p:sp>
        <p:nvSpPr>
          <p:cNvPr id="9" name="Editable text 7: The product is only as useful as the information behind"/>
          <p:cNvSpPr/>
          <p:nvPr/>
        </p:nvSpPr>
        <p:spPr>
          <a:xfrm>
            <a:off x="594271" y="2802345"/>
            <a:ext cx="13288866"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The product is only as useful as the information behind it. The operating model defines what gets stored, who validates it, and</a:t>
            </a:r>
            <a:endParaRPr lang="en-US" sz="1799" dirty="0"/>
          </a:p>
        </p:txBody>
      </p:sp>
      <p:sp>
        <p:nvSpPr>
          <p:cNvPr id="10" name="Editable text 8: how it stays current."/>
          <p:cNvSpPr/>
          <p:nvPr/>
        </p:nvSpPr>
        <p:spPr>
          <a:xfrm>
            <a:off x="594271" y="3145245"/>
            <a:ext cx="2232927"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how it stays current.</a:t>
            </a:r>
            <a:endParaRPr lang="en-US" sz="1799" dirty="0"/>
          </a:p>
        </p:txBody>
      </p:sp>
      <p:sp>
        <p:nvSpPr>
          <p:cNvPr id="11" name="Editable text 9: Source"/>
          <p:cNvSpPr/>
          <p:nvPr/>
        </p:nvSpPr>
        <p:spPr>
          <a:xfrm>
            <a:off x="791914" y="5037487"/>
            <a:ext cx="863953"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Source</a:t>
            </a:r>
            <a:endParaRPr lang="en-US" sz="1905" dirty="0"/>
          </a:p>
        </p:txBody>
      </p:sp>
      <p:sp>
        <p:nvSpPr>
          <p:cNvPr id="12" name="Editable text 10: Program records, service"/>
          <p:cNvSpPr/>
          <p:nvPr/>
        </p:nvSpPr>
        <p:spPr>
          <a:xfrm>
            <a:off x="791914" y="5536330"/>
            <a:ext cx="2033336"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Program records, service</a:t>
            </a:r>
            <a:endParaRPr lang="en-US" sz="1323" dirty="0"/>
          </a:p>
        </p:txBody>
      </p:sp>
      <p:sp>
        <p:nvSpPr>
          <p:cNvPr id="13" name="Editable text 11: categories, provider details, and"/>
          <p:cNvSpPr/>
          <p:nvPr/>
        </p:nvSpPr>
        <p:spPr>
          <a:xfrm>
            <a:off x="791914" y="5764930"/>
            <a:ext cx="2570386"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categories, provider details, and</a:t>
            </a:r>
            <a:endParaRPr lang="en-US" sz="1323" dirty="0"/>
          </a:p>
        </p:txBody>
      </p:sp>
      <p:sp>
        <p:nvSpPr>
          <p:cNvPr id="14" name="Editable text 12: geography."/>
          <p:cNvSpPr/>
          <p:nvPr/>
        </p:nvSpPr>
        <p:spPr>
          <a:xfrm>
            <a:off x="791914" y="5993530"/>
            <a:ext cx="95449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geography.</a:t>
            </a:r>
            <a:endParaRPr lang="en-US" sz="1323" dirty="0"/>
          </a:p>
        </p:txBody>
      </p:sp>
      <p:sp>
        <p:nvSpPr>
          <p:cNvPr id="15" name="Editable text 13: Structure"/>
          <p:cNvSpPr/>
          <p:nvPr/>
        </p:nvSpPr>
        <p:spPr>
          <a:xfrm>
            <a:off x="4199334" y="5037487"/>
            <a:ext cx="1088106"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Structure</a:t>
            </a:r>
            <a:endParaRPr lang="en-US" sz="1905" dirty="0"/>
          </a:p>
        </p:txBody>
      </p:sp>
      <p:sp>
        <p:nvSpPr>
          <p:cNvPr id="16" name="Editable text 14: Common fields and definitions so"/>
          <p:cNvSpPr/>
          <p:nvPr/>
        </p:nvSpPr>
        <p:spPr>
          <a:xfrm>
            <a:off x="4199334" y="5536330"/>
            <a:ext cx="2672796"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Common fields and definitions so</a:t>
            </a:r>
            <a:endParaRPr lang="en-US" sz="1323" dirty="0"/>
          </a:p>
        </p:txBody>
      </p:sp>
      <p:sp>
        <p:nvSpPr>
          <p:cNvPr id="17" name="Editable text 15: resources can be compared."/>
          <p:cNvSpPr/>
          <p:nvPr/>
        </p:nvSpPr>
        <p:spPr>
          <a:xfrm>
            <a:off x="4199334" y="5764930"/>
            <a:ext cx="228729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resources can be compared.</a:t>
            </a:r>
            <a:endParaRPr lang="en-US" sz="1323" dirty="0"/>
          </a:p>
        </p:txBody>
      </p:sp>
      <p:sp>
        <p:nvSpPr>
          <p:cNvPr id="18" name="Editable text 16: Validate"/>
          <p:cNvSpPr/>
          <p:nvPr/>
        </p:nvSpPr>
        <p:spPr>
          <a:xfrm>
            <a:off x="7606903" y="5037487"/>
            <a:ext cx="969197"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Validate</a:t>
            </a:r>
            <a:endParaRPr lang="en-US" sz="1905" dirty="0"/>
          </a:p>
        </p:txBody>
      </p:sp>
      <p:sp>
        <p:nvSpPr>
          <p:cNvPr id="19" name="Editable text 17: Providers confirm availability and"/>
          <p:cNvSpPr/>
          <p:nvPr/>
        </p:nvSpPr>
        <p:spPr>
          <a:xfrm>
            <a:off x="7606903" y="5536330"/>
            <a:ext cx="263871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Providers confirm availability and</a:t>
            </a:r>
            <a:endParaRPr lang="en-US" sz="1323" dirty="0"/>
          </a:p>
        </p:txBody>
      </p:sp>
      <p:sp>
        <p:nvSpPr>
          <p:cNvPr id="20" name="Editable text 18: eligibility; staff can flag issues."/>
          <p:cNvSpPr/>
          <p:nvPr/>
        </p:nvSpPr>
        <p:spPr>
          <a:xfrm>
            <a:off x="7606903" y="5764930"/>
            <a:ext cx="242579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eligibility; staff can flag issues.</a:t>
            </a:r>
            <a:endParaRPr lang="en-US" sz="1323" dirty="0"/>
          </a:p>
        </p:txBody>
      </p:sp>
      <p:sp>
        <p:nvSpPr>
          <p:cNvPr id="21" name="Editable text 19: Steward"/>
          <p:cNvSpPr/>
          <p:nvPr/>
        </p:nvSpPr>
        <p:spPr>
          <a:xfrm>
            <a:off x="11014323" y="5037487"/>
            <a:ext cx="981488"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Steward</a:t>
            </a:r>
            <a:endParaRPr lang="en-US" sz="1905" dirty="0"/>
          </a:p>
        </p:txBody>
      </p:sp>
      <p:sp>
        <p:nvSpPr>
          <p:cNvPr id="22" name="Editable text 20: Named ownership and update paths"/>
          <p:cNvSpPr/>
          <p:nvPr/>
        </p:nvSpPr>
        <p:spPr>
          <a:xfrm>
            <a:off x="11014323" y="5536330"/>
            <a:ext cx="287742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Named ownership and update paths</a:t>
            </a:r>
            <a:endParaRPr lang="en-US" sz="1323" dirty="0"/>
          </a:p>
        </p:txBody>
      </p:sp>
      <p:sp>
        <p:nvSpPr>
          <p:cNvPr id="23" name="Editable text 21: keep the directory usable."/>
          <p:cNvSpPr/>
          <p:nvPr/>
        </p:nvSpPr>
        <p:spPr>
          <a:xfrm>
            <a:off x="11014323" y="5764930"/>
            <a:ext cx="208196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keep the directory usable.</a:t>
            </a:r>
            <a:endParaRPr lang="en-US" sz="1323" dirty="0"/>
          </a:p>
        </p:txBody>
      </p:sp>
      <p:sp>
        <p:nvSpPr>
          <p:cNvPr id="24" name="Editable text 22: The principle"/>
          <p:cNvSpPr/>
          <p:nvPr/>
        </p:nvSpPr>
        <p:spPr>
          <a:xfrm>
            <a:off x="805309" y="6787296"/>
            <a:ext cx="1156167" cy="244564"/>
          </a:xfrm>
          <a:prstGeom prst="rect">
            <a:avLst/>
          </a:prstGeom>
          <a:noFill/>
          <a:ln/>
        </p:spPr>
        <p:txBody>
          <a:bodyPr wrap="none" lIns="0" tIns="0" rIns="0" bIns="0" rtlCol="0" anchor="t"/>
          <a:lstStyle/>
          <a:p>
            <a:pPr algn="l" indent="0" marL="0">
              <a:buNone/>
            </a:pPr>
            <a:r>
              <a:rPr lang="en-US" sz="1376" dirty="0">
                <a:solidFill>
                  <a:srgbClr val="3C4ED6"/>
                </a:solidFill>
                <a:latin typeface="Albert Sans SemiBold" pitchFamily="34" charset="0"/>
                <a:ea typeface="Albert Sans SemiBold" pitchFamily="34" charset="-122"/>
                <a:cs typeface="Albert Sans SemiBold" pitchFamily="34" charset="-120"/>
              </a:rPr>
              <a:t>The principle</a:t>
            </a:r>
            <a:endParaRPr lang="en-US" sz="1376" dirty="0"/>
          </a:p>
        </p:txBody>
      </p:sp>
      <p:sp>
        <p:nvSpPr>
          <p:cNvPr id="25" name="Editable text 23:  The tool supports referrals. It does not assert that a"/>
          <p:cNvSpPr/>
          <p:nvPr/>
        </p:nvSpPr>
        <p:spPr>
          <a:xfrm>
            <a:off x="1959471" y="6787296"/>
            <a:ext cx="9047478"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 The tool supports referrals. It does not assert that a resident is eligible or that a provider has current availability.</a:t>
            </a:r>
            <a:endParaRPr lang="en-US" sz="1376" dirty="0"/>
          </a:p>
        </p:txBody>
      </p:sp>
      <p:sp>
        <p:nvSpPr>
          <p:cNvPr id="26" name="Editable text 24: Case study 01 · Clark County Digital Equity Assistant"/>
          <p:cNvSpPr/>
          <p:nvPr/>
        </p:nvSpPr>
        <p:spPr>
          <a:xfrm>
            <a:off x="594271" y="7688980"/>
            <a:ext cx="41197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01 · Clark County Digital Equity Assistant</a:t>
            </a:r>
            <a:endParaRPr lang="en-US" sz="1323" dirty="0"/>
          </a:p>
        </p:txBody>
      </p:sp>
      <p:sp>
        <p:nvSpPr>
          <p:cNvPr id="27" name="Editable text 25: 12 / 18"/>
          <p:cNvSpPr/>
          <p:nvPr/>
        </p:nvSpPr>
        <p:spPr>
          <a:xfrm>
            <a:off x="13578483" y="7688980"/>
            <a:ext cx="55000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12 / 18</a:t>
            </a:r>
            <a:endParaRPr lang="en-US" sz="1323" dirty="0"/>
          </a:p>
        </p:txBody>
      </p:sp>
      <p:sp>
        <p:nvSpPr>
          <p:cNvPr id="28" name="Editable text 26: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
        <p:nvSpPr>
          <p:cNvPr id="29" name="Editable text 27: 01"/>
          <p:cNvSpPr/>
          <p:nvPr/>
        </p:nvSpPr>
        <p:spPr>
          <a:xfrm>
            <a:off x="791914" y="3932860"/>
            <a:ext cx="302130" cy="282169"/>
          </a:xfrm>
          <a:prstGeom prst="rect">
            <a:avLst/>
          </a:prstGeom>
          <a:noFill/>
          <a:ln/>
        </p:spPr>
        <p:txBody>
          <a:bodyPr wrap="none" lIns="0" tIns="0" rIns="0" bIns="0" rtlCol="0" anchor="t"/>
          <a:lstStyle/>
          <a:p>
            <a:pPr algn="l" indent="0" marL="0">
              <a:buNone/>
            </a:pPr>
            <a:r>
              <a:rPr lang="en-US" sz="1587" dirty="0">
                <a:solidFill>
                  <a:srgbClr val="3C4ED6"/>
                </a:solidFill>
                <a:latin typeface="Albert Sans Medium" pitchFamily="34" charset="0"/>
                <a:ea typeface="Albert Sans Medium" pitchFamily="34" charset="-122"/>
                <a:cs typeface="Albert Sans Medium" pitchFamily="34" charset="-120"/>
              </a:rPr>
              <a:t>01</a:t>
            </a:r>
            <a:endParaRPr lang="en-US" sz="1587" dirty="0"/>
          </a:p>
        </p:txBody>
      </p:sp>
      <p:sp>
        <p:nvSpPr>
          <p:cNvPr id="30" name="Editable text 28: 02"/>
          <p:cNvSpPr/>
          <p:nvPr/>
        </p:nvSpPr>
        <p:spPr>
          <a:xfrm>
            <a:off x="4199334" y="3932860"/>
            <a:ext cx="359371" cy="282169"/>
          </a:xfrm>
          <a:prstGeom prst="rect">
            <a:avLst/>
          </a:prstGeom>
          <a:noFill/>
          <a:ln/>
        </p:spPr>
        <p:txBody>
          <a:bodyPr wrap="none" lIns="0" tIns="0" rIns="0" bIns="0" rtlCol="0" anchor="t"/>
          <a:lstStyle/>
          <a:p>
            <a:pPr algn="l" indent="0" marL="0">
              <a:buNone/>
            </a:pPr>
            <a:r>
              <a:rPr lang="en-US" sz="1587" dirty="0">
                <a:solidFill>
                  <a:srgbClr val="3C4ED6"/>
                </a:solidFill>
                <a:latin typeface="Albert Sans Medium" pitchFamily="34" charset="0"/>
                <a:ea typeface="Albert Sans Medium" pitchFamily="34" charset="-122"/>
                <a:cs typeface="Albert Sans Medium" pitchFamily="34" charset="-120"/>
              </a:rPr>
              <a:t>02</a:t>
            </a:r>
            <a:endParaRPr lang="en-US" sz="1587" dirty="0"/>
          </a:p>
        </p:txBody>
      </p:sp>
      <p:sp>
        <p:nvSpPr>
          <p:cNvPr id="31" name="Editable text 29: 03"/>
          <p:cNvSpPr/>
          <p:nvPr/>
        </p:nvSpPr>
        <p:spPr>
          <a:xfrm>
            <a:off x="7606903" y="3932860"/>
            <a:ext cx="359169" cy="282169"/>
          </a:xfrm>
          <a:prstGeom prst="rect">
            <a:avLst/>
          </a:prstGeom>
          <a:noFill/>
          <a:ln/>
        </p:spPr>
        <p:txBody>
          <a:bodyPr wrap="none" lIns="0" tIns="0" rIns="0" bIns="0" rtlCol="0" anchor="t"/>
          <a:lstStyle/>
          <a:p>
            <a:pPr algn="l" indent="0" marL="0">
              <a:buNone/>
            </a:pPr>
            <a:r>
              <a:rPr lang="en-US" sz="1587" dirty="0">
                <a:solidFill>
                  <a:srgbClr val="3C4ED6"/>
                </a:solidFill>
                <a:latin typeface="Albert Sans Medium" pitchFamily="34" charset="0"/>
                <a:ea typeface="Albert Sans Medium" pitchFamily="34" charset="-122"/>
                <a:cs typeface="Albert Sans Medium" pitchFamily="34" charset="-120"/>
              </a:rPr>
              <a:t>03</a:t>
            </a:r>
            <a:endParaRPr lang="en-US" sz="1587" dirty="0"/>
          </a:p>
        </p:txBody>
      </p:sp>
      <p:sp>
        <p:nvSpPr>
          <p:cNvPr id="32" name="Editable text 30: 04"/>
          <p:cNvSpPr/>
          <p:nvPr/>
        </p:nvSpPr>
        <p:spPr>
          <a:xfrm>
            <a:off x="11014323" y="3932860"/>
            <a:ext cx="370657" cy="282169"/>
          </a:xfrm>
          <a:prstGeom prst="rect">
            <a:avLst/>
          </a:prstGeom>
          <a:noFill/>
          <a:ln/>
        </p:spPr>
        <p:txBody>
          <a:bodyPr wrap="none" lIns="0" tIns="0" rIns="0" bIns="0" rtlCol="0" anchor="t"/>
          <a:lstStyle/>
          <a:p>
            <a:pPr algn="l" indent="0" marL="0">
              <a:buNone/>
            </a:pPr>
            <a:r>
              <a:rPr lang="en-US" sz="1587" dirty="0">
                <a:solidFill>
                  <a:srgbClr val="3C4ED6"/>
                </a:solidFill>
                <a:latin typeface="Albert Sans Medium" pitchFamily="34" charset="0"/>
                <a:ea typeface="Albert Sans Medium" pitchFamily="34" charset="-122"/>
                <a:cs typeface="Albert Sans Medium" pitchFamily="34" charset="-120"/>
              </a:rPr>
              <a:t>04</a:t>
            </a:r>
            <a:endParaRPr lang="en-US" sz="1587"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ase study 02 · MHM ecosystem"/>
          <p:cNvSpPr/>
          <p:nvPr/>
        </p:nvSpPr>
        <p:spPr>
          <a:xfrm>
            <a:off x="11499503" y="421405"/>
            <a:ext cx="2629024"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02 · MHM ecosystem</a:t>
            </a:r>
            <a:endParaRPr lang="en-US" sz="1323" dirty="0"/>
          </a:p>
        </p:txBody>
      </p:sp>
      <p:sp>
        <p:nvSpPr>
          <p:cNvPr id="6" name="Editable text 4: Case study 02 · MHM ecosystem"/>
          <p:cNvSpPr/>
          <p:nvPr/>
        </p:nvSpPr>
        <p:spPr>
          <a:xfrm>
            <a:off x="594271" y="1180171"/>
            <a:ext cx="2856512"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Case study 02 · MHM ecosystem</a:t>
            </a:r>
            <a:endParaRPr lang="en-US" sz="1429" dirty="0"/>
          </a:p>
        </p:txBody>
      </p:sp>
      <p:sp>
        <p:nvSpPr>
          <p:cNvPr id="7" name="Editable text 5: See the network."/>
          <p:cNvSpPr/>
          <p:nvPr/>
        </p:nvSpPr>
        <p:spPr>
          <a:xfrm>
            <a:off x="594271" y="1533487"/>
            <a:ext cx="4687806" cy="884377"/>
          </a:xfrm>
          <a:prstGeom prst="rect">
            <a:avLst/>
          </a:prstGeom>
          <a:noFill/>
          <a:ln/>
        </p:spPr>
        <p:txBody>
          <a:bodyPr wrap="none" lIns="0" tIns="0" rIns="0" bIns="0" rtlCol="0" anchor="t"/>
          <a:lstStyle/>
          <a:p>
            <a:pPr algn="l" indent="0" marL="0">
              <a:buNone/>
            </a:pPr>
            <a:r>
              <a:rPr lang="en-US" sz="4974" spc="-274" kern="0" dirty="0">
                <a:solidFill>
                  <a:srgbClr val="17191E"/>
                </a:solidFill>
                <a:latin typeface="Albert Sans Medium" pitchFamily="34" charset="0"/>
                <a:ea typeface="Albert Sans Medium" pitchFamily="34" charset="-122"/>
                <a:cs typeface="Albert Sans Medium" pitchFamily="34" charset="-120"/>
              </a:rPr>
              <a:t>See the network.</a:t>
            </a:r>
            <a:endParaRPr lang="en-US" sz="4974" dirty="0"/>
          </a:p>
        </p:txBody>
      </p:sp>
      <p:sp>
        <p:nvSpPr>
          <p:cNvPr id="8" name="Editable text 6: See the opportunity."/>
          <p:cNvSpPr/>
          <p:nvPr/>
        </p:nvSpPr>
        <p:spPr>
          <a:xfrm>
            <a:off x="594271" y="2181187"/>
            <a:ext cx="5584193" cy="884377"/>
          </a:xfrm>
          <a:prstGeom prst="rect">
            <a:avLst/>
          </a:prstGeom>
          <a:noFill/>
          <a:ln/>
        </p:spPr>
        <p:txBody>
          <a:bodyPr wrap="none" lIns="0" tIns="0" rIns="0" bIns="0" rtlCol="0" anchor="t"/>
          <a:lstStyle/>
          <a:p>
            <a:pPr algn="l" indent="0" marL="0">
              <a:buNone/>
            </a:pPr>
            <a:r>
              <a:rPr lang="en-US" sz="4974" spc="-274" kern="0" dirty="0">
                <a:solidFill>
                  <a:srgbClr val="3C4ED6"/>
                </a:solidFill>
                <a:latin typeface="Albert Sans Medium" pitchFamily="34" charset="0"/>
                <a:ea typeface="Albert Sans Medium" pitchFamily="34" charset="-122"/>
                <a:cs typeface="Albert Sans Medium" pitchFamily="34" charset="-120"/>
              </a:rPr>
              <a:t>See the opportunity.</a:t>
            </a:r>
            <a:endParaRPr lang="en-US" sz="4974" dirty="0"/>
          </a:p>
        </p:txBody>
      </p:sp>
      <p:sp>
        <p:nvSpPr>
          <p:cNvPr id="9" name="Editable text 7: Ecosystem intelligence "/>
          <p:cNvSpPr/>
          <p:nvPr/>
        </p:nvSpPr>
        <p:spPr>
          <a:xfrm>
            <a:off x="594271" y="3101121"/>
            <a:ext cx="1997941"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Ecosystem intelligence </a:t>
            </a:r>
            <a:endParaRPr lang="en-US" sz="1376" dirty="0"/>
          </a:p>
        </p:txBody>
      </p:sp>
      <p:sp>
        <p:nvSpPr>
          <p:cNvPr id="10" name="Editable text 8: |"/>
          <p:cNvSpPr/>
          <p:nvPr/>
        </p:nvSpPr>
        <p:spPr>
          <a:xfrm>
            <a:off x="2548533" y="3101121"/>
            <a:ext cx="145690" cy="244564"/>
          </a:xfrm>
          <a:prstGeom prst="rect">
            <a:avLst/>
          </a:prstGeom>
          <a:noFill/>
          <a:ln/>
        </p:spPr>
        <p:txBody>
          <a:bodyPr wrap="none" lIns="0" tIns="0" rIns="0" bIns="0" rtlCol="0" anchor="t"/>
          <a:lstStyle/>
          <a:p>
            <a:pPr algn="l" indent="0" marL="0">
              <a:buNone/>
            </a:pPr>
            <a:r>
              <a:rPr lang="en-US" sz="1376" dirty="0">
                <a:solidFill>
                  <a:srgbClr val="3C4ED6"/>
                </a:solidFill>
                <a:latin typeface="Albert Sans" pitchFamily="34" charset="0"/>
                <a:ea typeface="Albert Sans" pitchFamily="34" charset="-122"/>
                <a:cs typeface="Albert Sans" pitchFamily="34" charset="-120"/>
              </a:rPr>
              <a:t>|</a:t>
            </a:r>
            <a:endParaRPr lang="en-US" sz="1376" dirty="0"/>
          </a:p>
        </p:txBody>
      </p:sp>
      <p:sp>
        <p:nvSpPr>
          <p:cNvPr id="11" name="Editable text 9:  Regional grantee &amp;amp; organization network"/>
          <p:cNvSpPr/>
          <p:nvPr/>
        </p:nvSpPr>
        <p:spPr>
          <a:xfrm>
            <a:off x="2650629" y="3101121"/>
            <a:ext cx="3402428"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 Regional grantee &amp; organization network</a:t>
            </a:r>
            <a:endParaRPr lang="en-US" sz="1376" dirty="0"/>
          </a:p>
        </p:txBody>
      </p:sp>
      <p:sp>
        <p:nvSpPr>
          <p:cNvPr id="12" name="Editable text 10: MHM’s ecosystem tool turns a regional set of"/>
          <p:cNvSpPr/>
          <p:nvPr/>
        </p:nvSpPr>
        <p:spPr>
          <a:xfrm>
            <a:off x="594271" y="3583395"/>
            <a:ext cx="4848933"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MHM’s ecosystem tool turns a regional set of</a:t>
            </a:r>
            <a:endParaRPr lang="en-US" sz="1799" dirty="0"/>
          </a:p>
        </p:txBody>
      </p:sp>
      <p:sp>
        <p:nvSpPr>
          <p:cNvPr id="13" name="Editable text 11: organizations, grants, services, and relationships into"/>
          <p:cNvSpPr/>
          <p:nvPr/>
        </p:nvSpPr>
        <p:spPr>
          <a:xfrm>
            <a:off x="594271" y="3926295"/>
            <a:ext cx="5983209"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organizations, grants, services, and relationships into an</a:t>
            </a:r>
            <a:endParaRPr lang="en-US" sz="1799" dirty="0"/>
          </a:p>
        </p:txBody>
      </p:sp>
      <p:sp>
        <p:nvSpPr>
          <p:cNvPr id="14" name="Editable text 12: interactive view program teams can explore."/>
          <p:cNvSpPr/>
          <p:nvPr/>
        </p:nvSpPr>
        <p:spPr>
          <a:xfrm>
            <a:off x="594271" y="4269195"/>
            <a:ext cx="4768052"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interactive view program teams can explore.</a:t>
            </a:r>
            <a:endParaRPr lang="en-US" sz="1799" dirty="0"/>
          </a:p>
        </p:txBody>
      </p:sp>
      <p:sp>
        <p:nvSpPr>
          <p:cNvPr id="15" name="Editable text 13: Organizations"/>
          <p:cNvSpPr/>
          <p:nvPr/>
        </p:nvSpPr>
        <p:spPr>
          <a:xfrm>
            <a:off x="1266230" y="4952028"/>
            <a:ext cx="1386653"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Organizations</a:t>
            </a:r>
            <a:endParaRPr lang="en-US" sz="1587" dirty="0"/>
          </a:p>
        </p:txBody>
      </p:sp>
      <p:sp>
        <p:nvSpPr>
          <p:cNvPr id="16" name="Editable text 14: Connections"/>
          <p:cNvSpPr/>
          <p:nvPr/>
        </p:nvSpPr>
        <p:spPr>
          <a:xfrm>
            <a:off x="1266230" y="5552103"/>
            <a:ext cx="1283477"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Connections</a:t>
            </a:r>
            <a:endParaRPr lang="en-US" sz="1587" dirty="0"/>
          </a:p>
        </p:txBody>
      </p:sp>
      <p:sp>
        <p:nvSpPr>
          <p:cNvPr id="17" name="Editable text 15: Services"/>
          <p:cNvSpPr/>
          <p:nvPr/>
        </p:nvSpPr>
        <p:spPr>
          <a:xfrm>
            <a:off x="1266230" y="6152178"/>
            <a:ext cx="892340"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Services</a:t>
            </a:r>
            <a:endParaRPr lang="en-US" sz="1587" dirty="0"/>
          </a:p>
        </p:txBody>
      </p:sp>
      <p:sp>
        <p:nvSpPr>
          <p:cNvPr id="18" name="Editable text 16: Funding"/>
          <p:cNvSpPr/>
          <p:nvPr/>
        </p:nvSpPr>
        <p:spPr>
          <a:xfrm>
            <a:off x="1266230" y="6752253"/>
            <a:ext cx="865543"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Funding</a:t>
            </a:r>
            <a:endParaRPr lang="en-US" sz="1587" dirty="0"/>
          </a:p>
        </p:txBody>
      </p:sp>
      <p:sp>
        <p:nvSpPr>
          <p:cNvPr id="19" name="Editable text 17: Case study 02 · MHM ecosystem intelligence"/>
          <p:cNvSpPr/>
          <p:nvPr/>
        </p:nvSpPr>
        <p:spPr>
          <a:xfrm>
            <a:off x="594271" y="7688980"/>
            <a:ext cx="356641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02 · MHM ecosystem intelligence</a:t>
            </a:r>
            <a:endParaRPr lang="en-US" sz="1323" dirty="0"/>
          </a:p>
        </p:txBody>
      </p:sp>
      <p:sp>
        <p:nvSpPr>
          <p:cNvPr id="20" name="Editable text 18: 13 / 18"/>
          <p:cNvSpPr/>
          <p:nvPr/>
        </p:nvSpPr>
        <p:spPr>
          <a:xfrm>
            <a:off x="13578929" y="7688980"/>
            <a:ext cx="54956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13 / 18</a:t>
            </a:r>
            <a:endParaRPr lang="en-US" sz="1323" dirty="0"/>
          </a:p>
        </p:txBody>
      </p:sp>
      <p:sp>
        <p:nvSpPr>
          <p:cNvPr id="21" name="Editable text 19: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MHM · Why this solution"/>
          <p:cNvSpPr/>
          <p:nvPr/>
        </p:nvSpPr>
        <p:spPr>
          <a:xfrm>
            <a:off x="12173396" y="421405"/>
            <a:ext cx="1955110"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MHM · Why this solution</a:t>
            </a:r>
            <a:endParaRPr lang="en-US" sz="1323" dirty="0"/>
          </a:p>
        </p:txBody>
      </p:sp>
      <p:sp>
        <p:nvSpPr>
          <p:cNvPr id="6" name="Editable text 4: The problem &amp;amp; approach"/>
          <p:cNvSpPr/>
          <p:nvPr/>
        </p:nvSpPr>
        <p:spPr>
          <a:xfrm>
            <a:off x="594271" y="970621"/>
            <a:ext cx="2175085"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The problem &amp; approach</a:t>
            </a:r>
            <a:endParaRPr lang="en-US" sz="1429" dirty="0"/>
          </a:p>
        </p:txBody>
      </p:sp>
      <p:sp>
        <p:nvSpPr>
          <p:cNvPr id="7" name="Editable text 5: See the relationships,"/>
          <p:cNvSpPr/>
          <p:nvPr/>
        </p:nvSpPr>
        <p:spPr>
          <a:xfrm>
            <a:off x="594271" y="1333638"/>
            <a:ext cx="5482413" cy="827970"/>
          </a:xfrm>
          <a:prstGeom prst="rect">
            <a:avLst/>
          </a:prstGeom>
          <a:noFill/>
          <a:ln/>
        </p:spPr>
        <p:txBody>
          <a:bodyPr wrap="none" lIns="0" tIns="0" rIns="0" bIns="0" rtlCol="0" anchor="t"/>
          <a:lstStyle/>
          <a:p>
            <a:pPr algn="l" indent="0" marL="0">
              <a:buNone/>
            </a:pPr>
            <a:r>
              <a:rPr lang="en-US" sz="4657" spc="-256" kern="0" dirty="0">
                <a:solidFill>
                  <a:srgbClr val="17191E"/>
                </a:solidFill>
                <a:latin typeface="Albert Sans Medium" pitchFamily="34" charset="0"/>
                <a:ea typeface="Albert Sans Medium" pitchFamily="34" charset="-122"/>
                <a:cs typeface="Albert Sans Medium" pitchFamily="34" charset="-120"/>
              </a:rPr>
              <a:t>See the relationships,</a:t>
            </a:r>
            <a:endParaRPr lang="en-US" sz="4657" dirty="0"/>
          </a:p>
        </p:txBody>
      </p:sp>
      <p:sp>
        <p:nvSpPr>
          <p:cNvPr id="8" name="Editable text 6: not just the records."/>
          <p:cNvSpPr/>
          <p:nvPr/>
        </p:nvSpPr>
        <p:spPr>
          <a:xfrm>
            <a:off x="594271" y="1943238"/>
            <a:ext cx="5125206" cy="827970"/>
          </a:xfrm>
          <a:prstGeom prst="rect">
            <a:avLst/>
          </a:prstGeom>
          <a:noFill/>
          <a:ln/>
        </p:spPr>
        <p:txBody>
          <a:bodyPr wrap="none" lIns="0" tIns="0" rIns="0" bIns="0" rtlCol="0" anchor="t"/>
          <a:lstStyle/>
          <a:p>
            <a:pPr algn="l" indent="0" marL="0">
              <a:buNone/>
            </a:pPr>
            <a:r>
              <a:rPr lang="en-US" sz="4657" spc="-256" kern="0" dirty="0">
                <a:solidFill>
                  <a:srgbClr val="3C4ED6"/>
                </a:solidFill>
                <a:latin typeface="Albert Sans Medium" pitchFamily="34" charset="0"/>
                <a:ea typeface="Albert Sans Medium" pitchFamily="34" charset="-122"/>
                <a:cs typeface="Albert Sans Medium" pitchFamily="34" charset="-120"/>
              </a:rPr>
              <a:t>not just the records.</a:t>
            </a:r>
            <a:endParaRPr lang="en-US" sz="4657" dirty="0"/>
          </a:p>
        </p:txBody>
      </p:sp>
      <p:sp>
        <p:nvSpPr>
          <p:cNvPr id="9" name="Editable text 7: The problem"/>
          <p:cNvSpPr/>
          <p:nvPr/>
        </p:nvSpPr>
        <p:spPr>
          <a:xfrm>
            <a:off x="845641" y="3354619"/>
            <a:ext cx="1628828" cy="376314"/>
          </a:xfrm>
          <a:prstGeom prst="rect">
            <a:avLst/>
          </a:prstGeom>
          <a:noFill/>
          <a:ln/>
        </p:spPr>
        <p:txBody>
          <a:bodyPr wrap="none" lIns="0" tIns="0" rIns="0" bIns="0" rtlCol="0" anchor="t"/>
          <a:lstStyle/>
          <a:p>
            <a:pPr algn="l" indent="0" marL="0">
              <a:buNone/>
            </a:pPr>
            <a:r>
              <a:rPr lang="en-US" sz="2116" spc="-74" kern="0" dirty="0">
                <a:solidFill>
                  <a:srgbClr val="3C4ED6"/>
                </a:solidFill>
                <a:latin typeface="Albert Sans Medium" pitchFamily="34" charset="0"/>
                <a:ea typeface="Albert Sans Medium" pitchFamily="34" charset="-122"/>
                <a:cs typeface="Albert Sans Medium" pitchFamily="34" charset="-120"/>
              </a:rPr>
              <a:t>The problem</a:t>
            </a:r>
            <a:endParaRPr lang="en-US" sz="2116" dirty="0"/>
          </a:p>
        </p:txBody>
      </p:sp>
      <p:sp>
        <p:nvSpPr>
          <p:cNvPr id="10" name="Editable text 8: Understanding a regional ecosystem means seeing who"/>
          <p:cNvSpPr/>
          <p:nvPr/>
        </p:nvSpPr>
        <p:spPr>
          <a:xfrm>
            <a:off x="845641" y="3777263"/>
            <a:ext cx="5092198"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Understanding a regional ecosystem means seeing who</a:t>
            </a:r>
            <a:endParaRPr lang="en-US" sz="1534" dirty="0"/>
          </a:p>
        </p:txBody>
      </p:sp>
      <p:sp>
        <p:nvSpPr>
          <p:cNvPr id="11" name="Editable text 9: provides which services, where they work, how funding"/>
          <p:cNvSpPr/>
          <p:nvPr/>
        </p:nvSpPr>
        <p:spPr>
          <a:xfrm>
            <a:off x="845641" y="4063013"/>
            <a:ext cx="5039009"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provides which services, where they work, how funding</a:t>
            </a:r>
            <a:endParaRPr lang="en-US" sz="1534" dirty="0"/>
          </a:p>
        </p:txBody>
      </p:sp>
      <p:sp>
        <p:nvSpPr>
          <p:cNvPr id="12" name="Editable text 10: flows, and how organizations connect."/>
          <p:cNvSpPr/>
          <p:nvPr/>
        </p:nvSpPr>
        <p:spPr>
          <a:xfrm>
            <a:off x="845641" y="4339238"/>
            <a:ext cx="3503244"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flows, and how organizations connect.</a:t>
            </a:r>
            <a:endParaRPr lang="en-US" sz="1534" dirty="0"/>
          </a:p>
        </p:txBody>
      </p:sp>
      <p:sp>
        <p:nvSpPr>
          <p:cNvPr id="13" name="Editable text 11: Why this solution"/>
          <p:cNvSpPr/>
          <p:nvPr/>
        </p:nvSpPr>
        <p:spPr>
          <a:xfrm>
            <a:off x="845641" y="5478694"/>
            <a:ext cx="2136814" cy="376314"/>
          </a:xfrm>
          <a:prstGeom prst="rect">
            <a:avLst/>
          </a:prstGeom>
          <a:noFill/>
          <a:ln/>
        </p:spPr>
        <p:txBody>
          <a:bodyPr wrap="none" lIns="0" tIns="0" rIns="0" bIns="0" rtlCol="0" anchor="t"/>
          <a:lstStyle/>
          <a:p>
            <a:pPr algn="l" indent="0" marL="0">
              <a:buNone/>
            </a:pPr>
            <a:r>
              <a:rPr lang="en-US" sz="2116" spc="-74" kern="0" dirty="0">
                <a:solidFill>
                  <a:srgbClr val="3C4ED6"/>
                </a:solidFill>
                <a:latin typeface="Albert Sans Medium" pitchFamily="34" charset="0"/>
                <a:ea typeface="Albert Sans Medium" pitchFamily="34" charset="-122"/>
                <a:cs typeface="Albert Sans Medium" pitchFamily="34" charset="-120"/>
              </a:rPr>
              <a:t>Why this solution</a:t>
            </a:r>
            <a:endParaRPr lang="en-US" sz="2116" dirty="0"/>
          </a:p>
        </p:txBody>
      </p:sp>
      <p:sp>
        <p:nvSpPr>
          <p:cNvPr id="14" name="Editable text 12: An interactive network makes those relationships visibl"/>
          <p:cNvSpPr/>
          <p:nvPr/>
        </p:nvSpPr>
        <p:spPr>
          <a:xfrm>
            <a:off x="845641" y="5910863"/>
            <a:ext cx="5149248"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An interactive network makes those relationships visible.</a:t>
            </a:r>
            <a:endParaRPr lang="en-US" sz="1534" dirty="0"/>
          </a:p>
        </p:txBody>
      </p:sp>
      <p:sp>
        <p:nvSpPr>
          <p:cNvPr id="15" name="Editable text 13: Filters and organization details connect the wider pict"/>
          <p:cNvSpPr/>
          <p:nvPr/>
        </p:nvSpPr>
        <p:spPr>
          <a:xfrm>
            <a:off x="845641" y="6187088"/>
            <a:ext cx="5194664"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Filters and organization details connect the wider picture</a:t>
            </a:r>
            <a:endParaRPr lang="en-US" sz="1534" dirty="0"/>
          </a:p>
        </p:txBody>
      </p:sp>
      <p:sp>
        <p:nvSpPr>
          <p:cNvPr id="16" name="Editable text 14: to funding, reported reach, and service focus."/>
          <p:cNvSpPr/>
          <p:nvPr/>
        </p:nvSpPr>
        <p:spPr>
          <a:xfrm>
            <a:off x="845641" y="6472838"/>
            <a:ext cx="4183157"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to funding, reported reach, and service focus.</a:t>
            </a:r>
            <a:endParaRPr lang="en-US" sz="1534" dirty="0"/>
          </a:p>
        </p:txBody>
      </p:sp>
      <p:sp>
        <p:nvSpPr>
          <p:cNvPr id="17" name="Editable text 15: Supports exploration. Available data is a partial opera"/>
          <p:cNvSpPr/>
          <p:nvPr/>
        </p:nvSpPr>
        <p:spPr>
          <a:xfrm>
            <a:off x="594271" y="7133563"/>
            <a:ext cx="5581347"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Supports exploration. Available data is a partial operating picture, not audited impact.</a:t>
            </a:r>
            <a:endParaRPr lang="en-US" sz="1111" dirty="0"/>
          </a:p>
        </p:txBody>
      </p:sp>
      <p:sp>
        <p:nvSpPr>
          <p:cNvPr id="18" name="Editable text 16: Case study 02 · MHM ecosystem intelligence"/>
          <p:cNvSpPr/>
          <p:nvPr/>
        </p:nvSpPr>
        <p:spPr>
          <a:xfrm>
            <a:off x="594271" y="7688980"/>
            <a:ext cx="356641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02 · MHM ecosystem intelligence</a:t>
            </a:r>
            <a:endParaRPr lang="en-US" sz="1323" dirty="0"/>
          </a:p>
        </p:txBody>
      </p:sp>
      <p:sp>
        <p:nvSpPr>
          <p:cNvPr id="19" name="Editable text 17: 14 / 18"/>
          <p:cNvSpPr/>
          <p:nvPr/>
        </p:nvSpPr>
        <p:spPr>
          <a:xfrm>
            <a:off x="13569404" y="7688980"/>
            <a:ext cx="559087"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14 / 18</a:t>
            </a:r>
            <a:endParaRPr lang="en-US" sz="1323" dirty="0"/>
          </a:p>
        </p:txBody>
      </p:sp>
      <p:sp>
        <p:nvSpPr>
          <p:cNvPr id="20" name="Editable text 18: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MHM · Data model"/>
          <p:cNvSpPr/>
          <p:nvPr/>
        </p:nvSpPr>
        <p:spPr>
          <a:xfrm>
            <a:off x="12606635" y="421405"/>
            <a:ext cx="1521935"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MHM · Data model</a:t>
            </a:r>
            <a:endParaRPr lang="en-US" sz="1323" dirty="0"/>
          </a:p>
        </p:txBody>
      </p:sp>
      <p:sp>
        <p:nvSpPr>
          <p:cNvPr id="6" name="Editable text 4: The interface sits on a relational model"/>
          <p:cNvSpPr/>
          <p:nvPr/>
        </p:nvSpPr>
        <p:spPr>
          <a:xfrm>
            <a:off x="594271" y="970621"/>
            <a:ext cx="3341066"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The interface sits on a relational model</a:t>
            </a:r>
            <a:endParaRPr lang="en-US" sz="1429" dirty="0"/>
          </a:p>
        </p:txBody>
      </p:sp>
      <p:sp>
        <p:nvSpPr>
          <p:cNvPr id="7" name="Editable text 5: A data model built for"/>
          <p:cNvSpPr/>
          <p:nvPr/>
        </p:nvSpPr>
        <p:spPr>
          <a:xfrm>
            <a:off x="594271" y="1333638"/>
            <a:ext cx="5553968" cy="827970"/>
          </a:xfrm>
          <a:prstGeom prst="rect">
            <a:avLst/>
          </a:prstGeom>
          <a:noFill/>
          <a:ln/>
        </p:spPr>
        <p:txBody>
          <a:bodyPr wrap="none" lIns="0" tIns="0" rIns="0" bIns="0" rtlCol="0" anchor="t"/>
          <a:lstStyle/>
          <a:p>
            <a:pPr algn="l" indent="0" marL="0">
              <a:buNone/>
            </a:pPr>
            <a:r>
              <a:rPr lang="en-US" sz="4657" spc="-256" kern="0" dirty="0">
                <a:solidFill>
                  <a:srgbClr val="17191E"/>
                </a:solidFill>
                <a:latin typeface="Albert Sans Medium" pitchFamily="34" charset="0"/>
                <a:ea typeface="Albert Sans Medium" pitchFamily="34" charset="-122"/>
                <a:cs typeface="Albert Sans Medium" pitchFamily="34" charset="-120"/>
              </a:rPr>
              <a:t>A data model built for</a:t>
            </a:r>
            <a:endParaRPr lang="en-US" sz="4657" dirty="0"/>
          </a:p>
        </p:txBody>
      </p:sp>
      <p:sp>
        <p:nvSpPr>
          <p:cNvPr id="8" name="Editable text 6: ecosystem questions."/>
          <p:cNvSpPr/>
          <p:nvPr/>
        </p:nvSpPr>
        <p:spPr>
          <a:xfrm>
            <a:off x="594271" y="1943238"/>
            <a:ext cx="5617242" cy="827970"/>
          </a:xfrm>
          <a:prstGeom prst="rect">
            <a:avLst/>
          </a:prstGeom>
          <a:noFill/>
          <a:ln/>
        </p:spPr>
        <p:txBody>
          <a:bodyPr wrap="none" lIns="0" tIns="0" rIns="0" bIns="0" rtlCol="0" anchor="t"/>
          <a:lstStyle/>
          <a:p>
            <a:pPr algn="l" indent="0" marL="0">
              <a:buNone/>
            </a:pPr>
            <a:r>
              <a:rPr lang="en-US" sz="4657" spc="-256" kern="0" dirty="0">
                <a:solidFill>
                  <a:srgbClr val="3C4ED6"/>
                </a:solidFill>
                <a:latin typeface="Albert Sans Medium" pitchFamily="34" charset="0"/>
                <a:ea typeface="Albert Sans Medium" pitchFamily="34" charset="-122"/>
                <a:cs typeface="Albert Sans Medium" pitchFamily="34" charset="-120"/>
              </a:rPr>
              <a:t>ecosystem questions.</a:t>
            </a:r>
            <a:endParaRPr lang="en-US" sz="4657" dirty="0"/>
          </a:p>
        </p:txBody>
      </p:sp>
      <p:sp>
        <p:nvSpPr>
          <p:cNvPr id="9" name="Editable text 7: The tool connects different kinds of evidence so users "/>
          <p:cNvSpPr/>
          <p:nvPr/>
        </p:nvSpPr>
        <p:spPr>
          <a:xfrm>
            <a:off x="594271" y="2802345"/>
            <a:ext cx="12827384"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The tool connects different kinds of evidence so users can move from a regional pattern to the organizations and records</a:t>
            </a:r>
            <a:endParaRPr lang="en-US" sz="1799" dirty="0"/>
          </a:p>
        </p:txBody>
      </p:sp>
      <p:sp>
        <p:nvSpPr>
          <p:cNvPr id="10" name="Editable text 8: behind it."/>
          <p:cNvSpPr/>
          <p:nvPr/>
        </p:nvSpPr>
        <p:spPr>
          <a:xfrm>
            <a:off x="594271" y="3145245"/>
            <a:ext cx="1105519"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behind it.</a:t>
            </a:r>
            <a:endParaRPr lang="en-US" sz="1799" dirty="0"/>
          </a:p>
        </p:txBody>
      </p:sp>
      <p:sp>
        <p:nvSpPr>
          <p:cNvPr id="11" name="Editable text 9: Organization"/>
          <p:cNvSpPr/>
          <p:nvPr/>
        </p:nvSpPr>
        <p:spPr>
          <a:xfrm>
            <a:off x="6486079" y="4294361"/>
            <a:ext cx="1813326" cy="395116"/>
          </a:xfrm>
          <a:prstGeom prst="rect">
            <a:avLst/>
          </a:prstGeom>
          <a:noFill/>
          <a:ln/>
        </p:spPr>
        <p:txBody>
          <a:bodyPr wrap="none" lIns="0" tIns="0" rIns="0" bIns="0" rtlCol="0" anchor="t"/>
          <a:lstStyle/>
          <a:p>
            <a:pPr algn="l" indent="0" marL="0">
              <a:buNone/>
            </a:pPr>
            <a:r>
              <a:rPr lang="en-US" sz="2222" dirty="0">
                <a:solidFill>
                  <a:srgbClr val="FFFFFF"/>
                </a:solidFill>
                <a:latin typeface="Albert Sans Medium" pitchFamily="34" charset="0"/>
                <a:ea typeface="Albert Sans Medium" pitchFamily="34" charset="-122"/>
                <a:cs typeface="Albert Sans Medium" pitchFamily="34" charset="-120"/>
              </a:rPr>
              <a:t>Organization</a:t>
            </a:r>
            <a:endParaRPr lang="en-US" sz="2222" dirty="0"/>
          </a:p>
        </p:txBody>
      </p:sp>
      <p:sp>
        <p:nvSpPr>
          <p:cNvPr id="12" name="Editable text 10: This structure supports regional filters, organization "/>
          <p:cNvSpPr/>
          <p:nvPr/>
        </p:nvSpPr>
        <p:spPr>
          <a:xfrm>
            <a:off x="594271" y="7543138"/>
            <a:ext cx="5880715"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This structure supports regional filters, organization detail views, and relationship analysis.</a:t>
            </a:r>
            <a:endParaRPr lang="en-US" sz="1111" dirty="0"/>
          </a:p>
        </p:txBody>
      </p:sp>
      <p:sp>
        <p:nvSpPr>
          <p:cNvPr id="13" name="Editable text 11: Case study 02 · MHM ecosystem intelligence"/>
          <p:cNvSpPr/>
          <p:nvPr/>
        </p:nvSpPr>
        <p:spPr>
          <a:xfrm>
            <a:off x="594271" y="7688980"/>
            <a:ext cx="356641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02 · MHM ecosystem intelligence</a:t>
            </a:r>
            <a:endParaRPr lang="en-US" sz="1323" dirty="0"/>
          </a:p>
        </p:txBody>
      </p:sp>
      <p:sp>
        <p:nvSpPr>
          <p:cNvPr id="14" name="Editable text 12: 15 / 18"/>
          <p:cNvSpPr/>
          <p:nvPr/>
        </p:nvSpPr>
        <p:spPr>
          <a:xfrm>
            <a:off x="13574613" y="7688980"/>
            <a:ext cx="55387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15 / 18</a:t>
            </a:r>
            <a:endParaRPr lang="en-US" sz="1323" dirty="0"/>
          </a:p>
        </p:txBody>
      </p:sp>
      <p:sp>
        <p:nvSpPr>
          <p:cNvPr id="15" name="Editable text 13: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
        <p:nvSpPr>
          <p:cNvPr id="16" name="Editable text 14: The record at the center"/>
          <p:cNvSpPr/>
          <p:nvPr/>
        </p:nvSpPr>
        <p:spPr>
          <a:xfrm>
            <a:off x="6450062" y="4730029"/>
            <a:ext cx="1815030" cy="216294"/>
          </a:xfrm>
          <a:prstGeom prst="rect">
            <a:avLst/>
          </a:prstGeom>
          <a:noFill/>
          <a:ln/>
        </p:spPr>
        <p:txBody>
          <a:bodyPr wrap="none" lIns="0" tIns="0" rIns="0" bIns="0" rtlCol="0" anchor="t"/>
          <a:lstStyle/>
          <a:p>
            <a:pPr algn="l" indent="0" marL="0">
              <a:buNone/>
            </a:pPr>
            <a:r>
              <a:rPr lang="en-US" sz="1216" dirty="0">
                <a:solidFill>
                  <a:srgbClr val="FFFFFF"/>
                </a:solidFill>
                <a:latin typeface="Albert Sans" pitchFamily="34" charset="0"/>
                <a:ea typeface="Albert Sans" pitchFamily="34" charset="-122"/>
                <a:cs typeface="Albert Sans" pitchFamily="34" charset="-120"/>
              </a:rPr>
              <a:t>The record at the center</a:t>
            </a:r>
            <a:endParaRPr lang="en-US" sz="1216" dirty="0"/>
          </a:p>
        </p:txBody>
      </p:sp>
      <p:sp>
        <p:nvSpPr>
          <p:cNvPr id="17" name="Editable text 15: Region"/>
          <p:cNvSpPr/>
          <p:nvPr/>
        </p:nvSpPr>
        <p:spPr>
          <a:xfrm>
            <a:off x="1549598" y="6479129"/>
            <a:ext cx="748815"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Region</a:t>
            </a:r>
            <a:endParaRPr lang="en-US" sz="1640" dirty="0"/>
          </a:p>
        </p:txBody>
      </p:sp>
      <p:sp>
        <p:nvSpPr>
          <p:cNvPr id="18" name="Editable text 16: Where it operates"/>
          <p:cNvSpPr/>
          <p:nvPr/>
        </p:nvSpPr>
        <p:spPr>
          <a:xfrm>
            <a:off x="1227832" y="6920779"/>
            <a:ext cx="1355599"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Where it operates</a:t>
            </a:r>
            <a:endParaRPr lang="en-US" sz="1216" dirty="0"/>
          </a:p>
        </p:txBody>
      </p:sp>
      <p:sp>
        <p:nvSpPr>
          <p:cNvPr id="19" name="Editable text 17: Service type"/>
          <p:cNvSpPr/>
          <p:nvPr/>
        </p:nvSpPr>
        <p:spPr>
          <a:xfrm>
            <a:off x="4033242" y="6479129"/>
            <a:ext cx="1233500"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Service type</a:t>
            </a:r>
            <a:endParaRPr lang="en-US" sz="1640" dirty="0"/>
          </a:p>
        </p:txBody>
      </p:sp>
      <p:sp>
        <p:nvSpPr>
          <p:cNvPr id="20" name="Editable text 18: What it provides"/>
          <p:cNvSpPr/>
          <p:nvPr/>
        </p:nvSpPr>
        <p:spPr>
          <a:xfrm>
            <a:off x="4005560" y="6920779"/>
            <a:ext cx="1251941"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What it provides</a:t>
            </a:r>
            <a:endParaRPr lang="en-US" sz="1216" dirty="0"/>
          </a:p>
        </p:txBody>
      </p:sp>
      <p:sp>
        <p:nvSpPr>
          <p:cNvPr id="21" name="Editable text 19: Grant"/>
          <p:cNvSpPr/>
          <p:nvPr/>
        </p:nvSpPr>
        <p:spPr>
          <a:xfrm>
            <a:off x="7065169" y="6479129"/>
            <a:ext cx="621790"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Grant</a:t>
            </a:r>
            <a:endParaRPr lang="en-US" sz="1640" dirty="0"/>
          </a:p>
        </p:txBody>
      </p:sp>
      <p:sp>
        <p:nvSpPr>
          <p:cNvPr id="22" name="Editable text 20: Funding + period"/>
          <p:cNvSpPr/>
          <p:nvPr/>
        </p:nvSpPr>
        <p:spPr>
          <a:xfrm>
            <a:off x="6702921" y="6920779"/>
            <a:ext cx="1309257"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Funding + period</a:t>
            </a:r>
            <a:endParaRPr lang="en-US" sz="1216" dirty="0"/>
          </a:p>
        </p:txBody>
      </p:sp>
      <p:sp>
        <p:nvSpPr>
          <p:cNvPr id="23" name="Editable text 21: Relationship"/>
          <p:cNvSpPr/>
          <p:nvPr/>
        </p:nvSpPr>
        <p:spPr>
          <a:xfrm>
            <a:off x="9496127" y="6479129"/>
            <a:ext cx="1211851"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Relationship</a:t>
            </a:r>
            <a:endParaRPr lang="en-US" sz="1640" dirty="0"/>
          </a:p>
        </p:txBody>
      </p:sp>
      <p:sp>
        <p:nvSpPr>
          <p:cNvPr id="24" name="Editable text 22: Who it connects to"/>
          <p:cNvSpPr/>
          <p:nvPr/>
        </p:nvSpPr>
        <p:spPr>
          <a:xfrm>
            <a:off x="9367540" y="6920779"/>
            <a:ext cx="1431916"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Who it connects to</a:t>
            </a:r>
            <a:endParaRPr lang="en-US" sz="1216" dirty="0"/>
          </a:p>
        </p:txBody>
      </p:sp>
      <p:sp>
        <p:nvSpPr>
          <p:cNvPr id="25" name="Editable text 23: Reported reach"/>
          <p:cNvSpPr/>
          <p:nvPr/>
        </p:nvSpPr>
        <p:spPr>
          <a:xfrm>
            <a:off x="12076956" y="6479129"/>
            <a:ext cx="1502291"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Reported reach</a:t>
            </a:r>
            <a:endParaRPr lang="en-US" sz="1640" dirty="0"/>
          </a:p>
        </p:txBody>
      </p:sp>
      <p:sp>
        <p:nvSpPr>
          <p:cNvPr id="26" name="Editable text 24: What is reported"/>
          <p:cNvSpPr/>
          <p:nvPr/>
        </p:nvSpPr>
        <p:spPr>
          <a:xfrm>
            <a:off x="12172057" y="6920779"/>
            <a:ext cx="1274962"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What is reported</a:t>
            </a:r>
            <a:endParaRPr lang="en-US" sz="1216"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MHM · Product experience"/>
          <p:cNvSpPr/>
          <p:nvPr/>
        </p:nvSpPr>
        <p:spPr>
          <a:xfrm>
            <a:off x="11992570" y="421405"/>
            <a:ext cx="2135905"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MHM · Product experience</a:t>
            </a:r>
            <a:endParaRPr lang="en-US" sz="1323" dirty="0"/>
          </a:p>
        </p:txBody>
      </p:sp>
      <p:sp>
        <p:nvSpPr>
          <p:cNvPr id="6" name="Editable text 4: From ecosystem to organization"/>
          <p:cNvSpPr/>
          <p:nvPr/>
        </p:nvSpPr>
        <p:spPr>
          <a:xfrm>
            <a:off x="594271" y="970621"/>
            <a:ext cx="2801168"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From ecosystem to organization</a:t>
            </a:r>
            <a:endParaRPr lang="en-US" sz="1429" dirty="0"/>
          </a:p>
        </p:txBody>
      </p:sp>
      <p:sp>
        <p:nvSpPr>
          <p:cNvPr id="7" name="Editable text 5: Explore. Focus. "/>
          <p:cNvSpPr/>
          <p:nvPr/>
        </p:nvSpPr>
        <p:spPr>
          <a:xfrm>
            <a:off x="594271" y="1333638"/>
            <a:ext cx="4092435" cy="827970"/>
          </a:xfrm>
          <a:prstGeom prst="rect">
            <a:avLst/>
          </a:prstGeom>
          <a:noFill/>
          <a:ln/>
        </p:spPr>
        <p:txBody>
          <a:bodyPr wrap="none" lIns="0" tIns="0" rIns="0" bIns="0" rtlCol="0" anchor="t"/>
          <a:lstStyle/>
          <a:p>
            <a:pPr algn="l" indent="0" marL="0">
              <a:buNone/>
            </a:pPr>
            <a:r>
              <a:rPr lang="en-US" sz="4657" spc="-256" kern="0" dirty="0">
                <a:solidFill>
                  <a:srgbClr val="17191E"/>
                </a:solidFill>
                <a:latin typeface="Albert Sans Medium" pitchFamily="34" charset="0"/>
                <a:ea typeface="Albert Sans Medium" pitchFamily="34" charset="-122"/>
                <a:cs typeface="Albert Sans Medium" pitchFamily="34" charset="-120"/>
              </a:rPr>
              <a:t>Explore. Focus. </a:t>
            </a:r>
            <a:endParaRPr lang="en-US" sz="4657" dirty="0"/>
          </a:p>
        </p:txBody>
      </p:sp>
      <p:sp>
        <p:nvSpPr>
          <p:cNvPr id="8" name="Editable text 6: Understand."/>
          <p:cNvSpPr/>
          <p:nvPr/>
        </p:nvSpPr>
        <p:spPr>
          <a:xfrm>
            <a:off x="4328964" y="1333638"/>
            <a:ext cx="3293525" cy="827970"/>
          </a:xfrm>
          <a:prstGeom prst="rect">
            <a:avLst/>
          </a:prstGeom>
          <a:noFill/>
          <a:ln/>
        </p:spPr>
        <p:txBody>
          <a:bodyPr wrap="none" lIns="0" tIns="0" rIns="0" bIns="0" rtlCol="0" anchor="t"/>
          <a:lstStyle/>
          <a:p>
            <a:pPr algn="l" indent="0" marL="0">
              <a:buNone/>
            </a:pPr>
            <a:r>
              <a:rPr lang="en-US" sz="4657" spc="-256" kern="0" dirty="0">
                <a:solidFill>
                  <a:srgbClr val="3C4ED6"/>
                </a:solidFill>
                <a:latin typeface="Albert Sans Medium" pitchFamily="34" charset="0"/>
                <a:ea typeface="Albert Sans Medium" pitchFamily="34" charset="-122"/>
                <a:cs typeface="Albert Sans Medium" pitchFamily="34" charset="-120"/>
              </a:rPr>
              <a:t>Understand.</a:t>
            </a:r>
            <a:endParaRPr lang="en-US" sz="4657" dirty="0"/>
          </a:p>
        </p:txBody>
      </p:sp>
      <p:sp>
        <p:nvSpPr>
          <p:cNvPr id="9" name="Editable text 7: Users can filter the network, select an organization, a"/>
          <p:cNvSpPr/>
          <p:nvPr/>
        </p:nvSpPr>
        <p:spPr>
          <a:xfrm>
            <a:off x="594271" y="2202270"/>
            <a:ext cx="13335239"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Users can filter the network, select an organization, and review grant context, reported reach, and connections without leaving</a:t>
            </a:r>
            <a:endParaRPr lang="en-US" sz="1799" dirty="0"/>
          </a:p>
        </p:txBody>
      </p:sp>
      <p:sp>
        <p:nvSpPr>
          <p:cNvPr id="10" name="Editable text 8: the workflow."/>
          <p:cNvSpPr/>
          <p:nvPr/>
        </p:nvSpPr>
        <p:spPr>
          <a:xfrm>
            <a:off x="594271" y="2545170"/>
            <a:ext cx="1506905"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the workflow.</a:t>
            </a:r>
            <a:endParaRPr lang="en-US" sz="1799" dirty="0"/>
          </a:p>
        </p:txBody>
      </p:sp>
      <p:sp>
        <p:nvSpPr>
          <p:cNvPr id="11" name="Editable text 9: 1"/>
          <p:cNvSpPr/>
          <p:nvPr/>
        </p:nvSpPr>
        <p:spPr>
          <a:xfrm>
            <a:off x="8896499" y="4040729"/>
            <a:ext cx="179981" cy="291636"/>
          </a:xfrm>
          <a:prstGeom prst="rect">
            <a:avLst/>
          </a:prstGeom>
          <a:noFill/>
          <a:ln/>
        </p:spPr>
        <p:txBody>
          <a:bodyPr wrap="none" lIns="0" tIns="0" rIns="0" bIns="0" rtlCol="0" anchor="t"/>
          <a:lstStyle/>
          <a:p>
            <a:pPr algn="l" indent="0" marL="0">
              <a:buNone/>
            </a:pPr>
            <a:r>
              <a:rPr lang="en-US" sz="1640" dirty="0">
                <a:solidFill>
                  <a:srgbClr val="FFFFFF"/>
                </a:solidFill>
                <a:latin typeface="Albert Sans Medium" pitchFamily="34" charset="0"/>
                <a:ea typeface="Albert Sans Medium" pitchFamily="34" charset="-122"/>
                <a:cs typeface="Albert Sans Medium" pitchFamily="34" charset="-120"/>
              </a:rPr>
              <a:t>1</a:t>
            </a:r>
            <a:endParaRPr lang="en-US" sz="1640" dirty="0"/>
          </a:p>
        </p:txBody>
      </p:sp>
      <p:sp>
        <p:nvSpPr>
          <p:cNvPr id="12" name="Editable text 10: Explore"/>
          <p:cNvSpPr/>
          <p:nvPr/>
        </p:nvSpPr>
        <p:spPr>
          <a:xfrm>
            <a:off x="9332416" y="3938878"/>
            <a:ext cx="970017"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Explore</a:t>
            </a:r>
            <a:endParaRPr lang="en-US" sz="2011" dirty="0"/>
          </a:p>
        </p:txBody>
      </p:sp>
      <p:sp>
        <p:nvSpPr>
          <p:cNvPr id="13" name="Editable text 11: Compare regional relationships across the network."/>
          <p:cNvSpPr/>
          <p:nvPr/>
        </p:nvSpPr>
        <p:spPr>
          <a:xfrm>
            <a:off x="9332416" y="4307562"/>
            <a:ext cx="4536142"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Compare regional relationships across the network.</a:t>
            </a:r>
            <a:endParaRPr lang="en-US" sz="1481" dirty="0"/>
          </a:p>
        </p:txBody>
      </p:sp>
      <p:sp>
        <p:nvSpPr>
          <p:cNvPr id="14" name="Editable text 12: 2"/>
          <p:cNvSpPr/>
          <p:nvPr/>
        </p:nvSpPr>
        <p:spPr>
          <a:xfrm>
            <a:off x="8866882" y="4878929"/>
            <a:ext cx="239142" cy="291636"/>
          </a:xfrm>
          <a:prstGeom prst="rect">
            <a:avLst/>
          </a:prstGeom>
          <a:noFill/>
          <a:ln/>
        </p:spPr>
        <p:txBody>
          <a:bodyPr wrap="none" lIns="0" tIns="0" rIns="0" bIns="0" rtlCol="0" anchor="t"/>
          <a:lstStyle/>
          <a:p>
            <a:pPr algn="l" indent="0" marL="0">
              <a:buNone/>
            </a:pPr>
            <a:r>
              <a:rPr lang="en-US" sz="1640" dirty="0">
                <a:solidFill>
                  <a:srgbClr val="FFFFFF"/>
                </a:solidFill>
                <a:latin typeface="Albert Sans Medium" pitchFamily="34" charset="0"/>
                <a:ea typeface="Albert Sans Medium" pitchFamily="34" charset="-122"/>
                <a:cs typeface="Albert Sans Medium" pitchFamily="34" charset="-120"/>
              </a:rPr>
              <a:t>2</a:t>
            </a:r>
            <a:endParaRPr lang="en-US" sz="1640" dirty="0"/>
          </a:p>
        </p:txBody>
      </p:sp>
      <p:sp>
        <p:nvSpPr>
          <p:cNvPr id="15" name="Editable text 13: Focus"/>
          <p:cNvSpPr/>
          <p:nvPr/>
        </p:nvSpPr>
        <p:spPr>
          <a:xfrm>
            <a:off x="9332416" y="4777078"/>
            <a:ext cx="795024"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Focus</a:t>
            </a:r>
            <a:endParaRPr lang="en-US" sz="2011" dirty="0"/>
          </a:p>
        </p:txBody>
      </p:sp>
      <p:sp>
        <p:nvSpPr>
          <p:cNvPr id="16" name="Editable text 14: Filter by service type and grantee status."/>
          <p:cNvSpPr/>
          <p:nvPr/>
        </p:nvSpPr>
        <p:spPr>
          <a:xfrm>
            <a:off x="9332416" y="5145762"/>
            <a:ext cx="3619429"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Filter by service type and grantee status.</a:t>
            </a:r>
            <a:endParaRPr lang="en-US" sz="1481" dirty="0"/>
          </a:p>
        </p:txBody>
      </p:sp>
      <p:sp>
        <p:nvSpPr>
          <p:cNvPr id="17" name="Editable text 15: 3"/>
          <p:cNvSpPr/>
          <p:nvPr/>
        </p:nvSpPr>
        <p:spPr>
          <a:xfrm>
            <a:off x="8867031" y="5717129"/>
            <a:ext cx="238934" cy="291636"/>
          </a:xfrm>
          <a:prstGeom prst="rect">
            <a:avLst/>
          </a:prstGeom>
          <a:noFill/>
          <a:ln/>
        </p:spPr>
        <p:txBody>
          <a:bodyPr wrap="none" lIns="0" tIns="0" rIns="0" bIns="0" rtlCol="0" anchor="t"/>
          <a:lstStyle/>
          <a:p>
            <a:pPr algn="l" indent="0" marL="0">
              <a:buNone/>
            </a:pPr>
            <a:r>
              <a:rPr lang="en-US" sz="1640" dirty="0">
                <a:solidFill>
                  <a:srgbClr val="FFFFFF"/>
                </a:solidFill>
                <a:latin typeface="Albert Sans Medium" pitchFamily="34" charset="0"/>
                <a:ea typeface="Albert Sans Medium" pitchFamily="34" charset="-122"/>
                <a:cs typeface="Albert Sans Medium" pitchFamily="34" charset="-120"/>
              </a:rPr>
              <a:t>3</a:t>
            </a:r>
            <a:endParaRPr lang="en-US" sz="1640" dirty="0"/>
          </a:p>
        </p:txBody>
      </p:sp>
      <p:sp>
        <p:nvSpPr>
          <p:cNvPr id="18" name="Editable text 16: Understand"/>
          <p:cNvSpPr/>
          <p:nvPr/>
        </p:nvSpPr>
        <p:spPr>
          <a:xfrm>
            <a:off x="9332416" y="5615278"/>
            <a:ext cx="1418467"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Understand</a:t>
            </a:r>
            <a:endParaRPr lang="en-US" sz="2011" dirty="0"/>
          </a:p>
        </p:txBody>
      </p:sp>
      <p:sp>
        <p:nvSpPr>
          <p:cNvPr id="19" name="Editable text 17: Open an organization to see the records behind the"/>
          <p:cNvSpPr/>
          <p:nvPr/>
        </p:nvSpPr>
        <p:spPr>
          <a:xfrm>
            <a:off x="9332416" y="5983962"/>
            <a:ext cx="4557395"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Open an organization to see the records behind the</a:t>
            </a:r>
            <a:endParaRPr lang="en-US" sz="1481" dirty="0"/>
          </a:p>
        </p:txBody>
      </p:sp>
      <p:sp>
        <p:nvSpPr>
          <p:cNvPr id="20" name="Editable text 18: node."/>
          <p:cNvSpPr/>
          <p:nvPr/>
        </p:nvSpPr>
        <p:spPr>
          <a:xfrm>
            <a:off x="9332416" y="6241137"/>
            <a:ext cx="579033"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node.</a:t>
            </a:r>
            <a:endParaRPr lang="en-US" sz="1481" dirty="0"/>
          </a:p>
        </p:txBody>
      </p:sp>
      <p:sp>
        <p:nvSpPr>
          <p:cNvPr id="21" name="Editable text 19: Case study 02 · MHM ecosystem intelligence"/>
          <p:cNvSpPr/>
          <p:nvPr/>
        </p:nvSpPr>
        <p:spPr>
          <a:xfrm>
            <a:off x="594271" y="7688980"/>
            <a:ext cx="356641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02 · MHM ecosystem intelligence</a:t>
            </a:r>
            <a:endParaRPr lang="en-US" sz="1323" dirty="0"/>
          </a:p>
        </p:txBody>
      </p:sp>
      <p:sp>
        <p:nvSpPr>
          <p:cNvPr id="22" name="Editable text 20: 16 / 18"/>
          <p:cNvSpPr/>
          <p:nvPr/>
        </p:nvSpPr>
        <p:spPr>
          <a:xfrm>
            <a:off x="13578929" y="7688980"/>
            <a:ext cx="54956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16 / 18</a:t>
            </a:r>
            <a:endParaRPr lang="en-US" sz="1323" dirty="0"/>
          </a:p>
        </p:txBody>
      </p:sp>
      <p:sp>
        <p:nvSpPr>
          <p:cNvPr id="23" name="Editable text 21: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MHM · In context"/>
          <p:cNvSpPr/>
          <p:nvPr/>
        </p:nvSpPr>
        <p:spPr>
          <a:xfrm>
            <a:off x="12734181" y="421405"/>
            <a:ext cx="139436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MHM · In context</a:t>
            </a:r>
            <a:endParaRPr lang="en-US" sz="1323" dirty="0"/>
          </a:p>
        </p:txBody>
      </p:sp>
      <p:sp>
        <p:nvSpPr>
          <p:cNvPr id="6" name="Editable text 4: A shared picture for better discussion"/>
          <p:cNvSpPr/>
          <p:nvPr/>
        </p:nvSpPr>
        <p:spPr>
          <a:xfrm>
            <a:off x="594271" y="1656421"/>
            <a:ext cx="3242159"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A shared picture for better discussion</a:t>
            </a:r>
            <a:endParaRPr lang="en-US" sz="1429" dirty="0"/>
          </a:p>
        </p:txBody>
      </p:sp>
      <p:sp>
        <p:nvSpPr>
          <p:cNvPr id="7" name="Editable text 5: Designed for exploration,"/>
          <p:cNvSpPr/>
          <p:nvPr/>
        </p:nvSpPr>
        <p:spPr>
          <a:xfrm>
            <a:off x="594271" y="2016381"/>
            <a:ext cx="6124281" cy="790365"/>
          </a:xfrm>
          <a:prstGeom prst="rect">
            <a:avLst/>
          </a:prstGeom>
          <a:noFill/>
          <a:ln/>
        </p:spPr>
        <p:txBody>
          <a:bodyPr wrap="none" lIns="0" tIns="0" rIns="0" bIns="0" rtlCol="0" anchor="t"/>
          <a:lstStyle/>
          <a:p>
            <a:pPr algn="l" indent="0" marL="0">
              <a:buNone/>
            </a:pPr>
            <a:r>
              <a:rPr lang="en-US" sz="4445" spc="-244" kern="0" dirty="0">
                <a:solidFill>
                  <a:srgbClr val="17191E"/>
                </a:solidFill>
                <a:latin typeface="Albert Sans Medium" pitchFamily="34" charset="0"/>
                <a:ea typeface="Albert Sans Medium" pitchFamily="34" charset="-122"/>
                <a:cs typeface="Albert Sans Medium" pitchFamily="34" charset="-120"/>
              </a:rPr>
              <a:t>Designed for exploration,</a:t>
            </a:r>
            <a:endParaRPr lang="en-US" sz="4445" dirty="0"/>
          </a:p>
        </p:txBody>
      </p:sp>
      <p:sp>
        <p:nvSpPr>
          <p:cNvPr id="8" name="Editable text 6: not automated decisions."/>
          <p:cNvSpPr/>
          <p:nvPr/>
        </p:nvSpPr>
        <p:spPr>
          <a:xfrm>
            <a:off x="594271" y="2597406"/>
            <a:ext cx="6166558" cy="790365"/>
          </a:xfrm>
          <a:prstGeom prst="rect">
            <a:avLst/>
          </a:prstGeom>
          <a:noFill/>
          <a:ln/>
        </p:spPr>
        <p:txBody>
          <a:bodyPr wrap="none" lIns="0" tIns="0" rIns="0" bIns="0" rtlCol="0" anchor="t"/>
          <a:lstStyle/>
          <a:p>
            <a:pPr algn="l" indent="0" marL="0">
              <a:buNone/>
            </a:pPr>
            <a:r>
              <a:rPr lang="en-US" sz="4445" spc="-244" kern="0" dirty="0">
                <a:solidFill>
                  <a:srgbClr val="3C4ED6"/>
                </a:solidFill>
                <a:latin typeface="Albert Sans Medium" pitchFamily="34" charset="0"/>
                <a:ea typeface="Albert Sans Medium" pitchFamily="34" charset="-122"/>
                <a:cs typeface="Albert Sans Medium" pitchFamily="34" charset="-120"/>
              </a:rPr>
              <a:t>not automated decisions.</a:t>
            </a:r>
            <a:endParaRPr lang="en-US" sz="4445" dirty="0"/>
          </a:p>
        </p:txBody>
      </p:sp>
      <p:sp>
        <p:nvSpPr>
          <p:cNvPr id="9" name="Editable text 7: The network helps teams ask better questions. It should"/>
          <p:cNvSpPr/>
          <p:nvPr/>
        </p:nvSpPr>
        <p:spPr>
          <a:xfrm>
            <a:off x="594271" y="3516987"/>
            <a:ext cx="5516990"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The network helps teams ask better questions. It should inform</a:t>
            </a:r>
            <a:endParaRPr lang="en-US" sz="1481" dirty="0"/>
          </a:p>
        </p:txBody>
      </p:sp>
      <p:sp>
        <p:nvSpPr>
          <p:cNvPr id="10" name="Editable text 8: discussion, coordination, and follow-up rather than aut"/>
          <p:cNvSpPr/>
          <p:nvPr/>
        </p:nvSpPr>
        <p:spPr>
          <a:xfrm>
            <a:off x="594271" y="3802737"/>
            <a:ext cx="6082856"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discussion, coordination, and follow-up rather than automate funding</a:t>
            </a:r>
            <a:endParaRPr lang="en-US" sz="1481" dirty="0"/>
          </a:p>
        </p:txBody>
      </p:sp>
      <p:sp>
        <p:nvSpPr>
          <p:cNvPr id="11" name="Editable text 9: or performance judgments."/>
          <p:cNvSpPr/>
          <p:nvPr/>
        </p:nvSpPr>
        <p:spPr>
          <a:xfrm>
            <a:off x="594271" y="4088487"/>
            <a:ext cx="2458914" cy="263366"/>
          </a:xfrm>
          <a:prstGeom prst="rect">
            <a:avLst/>
          </a:prstGeom>
          <a:noFill/>
          <a:ln/>
        </p:spPr>
        <p:txBody>
          <a:bodyPr wrap="none" lIns="0" tIns="0" rIns="0" bIns="0" rtlCol="0" anchor="t"/>
          <a:lstStyle/>
          <a:p>
            <a:pPr algn="l" indent="0" marL="0">
              <a:buNone/>
            </a:pPr>
            <a:r>
              <a:rPr lang="en-US" sz="1481" dirty="0">
                <a:solidFill>
                  <a:srgbClr val="646973"/>
                </a:solidFill>
                <a:latin typeface="Albert Sans" pitchFamily="34" charset="0"/>
                <a:ea typeface="Albert Sans" pitchFamily="34" charset="-122"/>
                <a:cs typeface="Albert Sans" pitchFamily="34" charset="-120"/>
              </a:rPr>
              <a:t>or performance judgments.</a:t>
            </a:r>
            <a:endParaRPr lang="en-US" sz="1481" dirty="0"/>
          </a:p>
        </p:txBody>
      </p:sp>
      <p:sp>
        <p:nvSpPr>
          <p:cNvPr id="12" name="Editable text 10: Find partners"/>
          <p:cNvSpPr/>
          <p:nvPr/>
        </p:nvSpPr>
        <p:spPr>
          <a:xfrm>
            <a:off x="1225897" y="4586845"/>
            <a:ext cx="1342536" cy="300971"/>
          </a:xfrm>
          <a:prstGeom prst="rect">
            <a:avLst/>
          </a:prstGeom>
          <a:noFill/>
          <a:ln/>
        </p:spPr>
        <p:txBody>
          <a:bodyPr wrap="none" lIns="0" tIns="0" rIns="0" bIns="0" rtlCol="0" anchor="t"/>
          <a:lstStyle/>
          <a:p>
            <a:pPr algn="l" indent="0" marL="0">
              <a:buNone/>
            </a:pPr>
            <a:r>
              <a:rPr lang="en-US" sz="1693" spc="-59" kern="0" dirty="0">
                <a:solidFill>
                  <a:srgbClr val="17191E"/>
                </a:solidFill>
                <a:latin typeface="Albert Sans Medium" pitchFamily="34" charset="0"/>
                <a:ea typeface="Albert Sans Medium" pitchFamily="34" charset="-122"/>
                <a:cs typeface="Albert Sans Medium" pitchFamily="34" charset="-120"/>
              </a:rPr>
              <a:t>Find partners</a:t>
            </a:r>
            <a:endParaRPr lang="en-US" sz="1693" dirty="0"/>
          </a:p>
        </p:txBody>
      </p:sp>
      <p:sp>
        <p:nvSpPr>
          <p:cNvPr id="13" name="Editable text 11: Identify organizations"/>
          <p:cNvSpPr/>
          <p:nvPr/>
        </p:nvSpPr>
        <p:spPr>
          <a:xfrm>
            <a:off x="1225897" y="4904580"/>
            <a:ext cx="1676349"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Identify organizations</a:t>
            </a:r>
            <a:endParaRPr lang="en-US" sz="1270" dirty="0"/>
          </a:p>
        </p:txBody>
      </p:sp>
      <p:sp>
        <p:nvSpPr>
          <p:cNvPr id="14" name="Editable text 12: connected to the same"/>
          <p:cNvSpPr/>
          <p:nvPr/>
        </p:nvSpPr>
        <p:spPr>
          <a:xfrm>
            <a:off x="1225897" y="5123655"/>
            <a:ext cx="1800787"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connected to the same</a:t>
            </a:r>
            <a:endParaRPr lang="en-US" sz="1270" dirty="0"/>
          </a:p>
        </p:txBody>
      </p:sp>
      <p:sp>
        <p:nvSpPr>
          <p:cNvPr id="15" name="Editable text 13: service area or network."/>
          <p:cNvSpPr/>
          <p:nvPr/>
        </p:nvSpPr>
        <p:spPr>
          <a:xfrm>
            <a:off x="1225897" y="5333205"/>
            <a:ext cx="1856850"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service area or network.</a:t>
            </a:r>
            <a:endParaRPr lang="en-US" sz="1270" dirty="0"/>
          </a:p>
        </p:txBody>
      </p:sp>
      <p:sp>
        <p:nvSpPr>
          <p:cNvPr id="16" name="Editable text 14: See concentration"/>
          <p:cNvSpPr/>
          <p:nvPr/>
        </p:nvSpPr>
        <p:spPr>
          <a:xfrm>
            <a:off x="4378970" y="4586845"/>
            <a:ext cx="1800057" cy="300971"/>
          </a:xfrm>
          <a:prstGeom prst="rect">
            <a:avLst/>
          </a:prstGeom>
          <a:noFill/>
          <a:ln/>
        </p:spPr>
        <p:txBody>
          <a:bodyPr wrap="none" lIns="0" tIns="0" rIns="0" bIns="0" rtlCol="0" anchor="t"/>
          <a:lstStyle/>
          <a:p>
            <a:pPr algn="l" indent="0" marL="0">
              <a:buNone/>
            </a:pPr>
            <a:r>
              <a:rPr lang="en-US" sz="1693" spc="-59" kern="0" dirty="0">
                <a:solidFill>
                  <a:srgbClr val="17191E"/>
                </a:solidFill>
                <a:latin typeface="Albert Sans Medium" pitchFamily="34" charset="0"/>
                <a:ea typeface="Albert Sans Medium" pitchFamily="34" charset="-122"/>
                <a:cs typeface="Albert Sans Medium" pitchFamily="34" charset="-120"/>
              </a:rPr>
              <a:t>See concentration</a:t>
            </a:r>
            <a:endParaRPr lang="en-US" sz="1693" dirty="0"/>
          </a:p>
        </p:txBody>
      </p:sp>
      <p:sp>
        <p:nvSpPr>
          <p:cNvPr id="17" name="Editable text 15: Spot where services, grantees,"/>
          <p:cNvSpPr/>
          <p:nvPr/>
        </p:nvSpPr>
        <p:spPr>
          <a:xfrm>
            <a:off x="4378970" y="4904580"/>
            <a:ext cx="2354899"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Spot where services, grantees,</a:t>
            </a:r>
            <a:endParaRPr lang="en-US" sz="1270" dirty="0"/>
          </a:p>
        </p:txBody>
      </p:sp>
      <p:sp>
        <p:nvSpPr>
          <p:cNvPr id="18" name="Editable text 16: or relationships cluster."/>
          <p:cNvSpPr/>
          <p:nvPr/>
        </p:nvSpPr>
        <p:spPr>
          <a:xfrm>
            <a:off x="4378970" y="5123655"/>
            <a:ext cx="1806241"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or relationships cluster.</a:t>
            </a:r>
            <a:endParaRPr lang="en-US" sz="1270" dirty="0"/>
          </a:p>
        </p:txBody>
      </p:sp>
      <p:sp>
        <p:nvSpPr>
          <p:cNvPr id="19" name="Editable text 17: Investigate gaps"/>
          <p:cNvSpPr/>
          <p:nvPr/>
        </p:nvSpPr>
        <p:spPr>
          <a:xfrm>
            <a:off x="1225897" y="5682220"/>
            <a:ext cx="1628131" cy="300971"/>
          </a:xfrm>
          <a:prstGeom prst="rect">
            <a:avLst/>
          </a:prstGeom>
          <a:noFill/>
          <a:ln/>
        </p:spPr>
        <p:txBody>
          <a:bodyPr wrap="none" lIns="0" tIns="0" rIns="0" bIns="0" rtlCol="0" anchor="t"/>
          <a:lstStyle/>
          <a:p>
            <a:pPr algn="l" indent="0" marL="0">
              <a:buNone/>
            </a:pPr>
            <a:r>
              <a:rPr lang="en-US" sz="1693" spc="-59" kern="0" dirty="0">
                <a:solidFill>
                  <a:srgbClr val="17191E"/>
                </a:solidFill>
                <a:latin typeface="Albert Sans Medium" pitchFamily="34" charset="0"/>
                <a:ea typeface="Albert Sans Medium" pitchFamily="34" charset="-122"/>
                <a:cs typeface="Albert Sans Medium" pitchFamily="34" charset="-120"/>
              </a:rPr>
              <a:t>Investigate gaps</a:t>
            </a:r>
            <a:endParaRPr lang="en-US" sz="1693" dirty="0"/>
          </a:p>
        </p:txBody>
      </p:sp>
      <p:sp>
        <p:nvSpPr>
          <p:cNvPr id="20" name="Editable text 18: Frame questions about"/>
          <p:cNvSpPr/>
          <p:nvPr/>
        </p:nvSpPr>
        <p:spPr>
          <a:xfrm>
            <a:off x="1225897" y="6009480"/>
            <a:ext cx="1793679"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Frame questions about</a:t>
            </a:r>
            <a:endParaRPr lang="en-US" sz="1270" dirty="0"/>
          </a:p>
        </p:txBody>
      </p:sp>
      <p:sp>
        <p:nvSpPr>
          <p:cNvPr id="21" name="Editable text 19: missing or weakly connected"/>
          <p:cNvSpPr/>
          <p:nvPr/>
        </p:nvSpPr>
        <p:spPr>
          <a:xfrm>
            <a:off x="1225897" y="6219030"/>
            <a:ext cx="2234040"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missing or weakly connected</a:t>
            </a:r>
            <a:endParaRPr lang="en-US" sz="1270" dirty="0"/>
          </a:p>
        </p:txBody>
      </p:sp>
      <p:sp>
        <p:nvSpPr>
          <p:cNvPr id="22" name="Editable text 20: capacity."/>
          <p:cNvSpPr/>
          <p:nvPr/>
        </p:nvSpPr>
        <p:spPr>
          <a:xfrm>
            <a:off x="1225897" y="6428580"/>
            <a:ext cx="748255"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capacity.</a:t>
            </a:r>
            <a:endParaRPr lang="en-US" sz="1270" dirty="0"/>
          </a:p>
        </p:txBody>
      </p:sp>
      <p:sp>
        <p:nvSpPr>
          <p:cNvPr id="23" name="Editable text 21: Ground discussion"/>
          <p:cNvSpPr/>
          <p:nvPr/>
        </p:nvSpPr>
        <p:spPr>
          <a:xfrm>
            <a:off x="4378970" y="5682220"/>
            <a:ext cx="1837451" cy="300971"/>
          </a:xfrm>
          <a:prstGeom prst="rect">
            <a:avLst/>
          </a:prstGeom>
          <a:noFill/>
          <a:ln/>
        </p:spPr>
        <p:txBody>
          <a:bodyPr wrap="none" lIns="0" tIns="0" rIns="0" bIns="0" rtlCol="0" anchor="t"/>
          <a:lstStyle/>
          <a:p>
            <a:pPr algn="l" indent="0" marL="0">
              <a:buNone/>
            </a:pPr>
            <a:r>
              <a:rPr lang="en-US" sz="1693" spc="-59" kern="0" dirty="0">
                <a:solidFill>
                  <a:srgbClr val="17191E"/>
                </a:solidFill>
                <a:latin typeface="Albert Sans Medium" pitchFamily="34" charset="0"/>
                <a:ea typeface="Albert Sans Medium" pitchFamily="34" charset="-122"/>
                <a:cs typeface="Albert Sans Medium" pitchFamily="34" charset="-120"/>
              </a:rPr>
              <a:t>Ground discussion</a:t>
            </a:r>
            <a:endParaRPr lang="en-US" sz="1693" dirty="0"/>
          </a:p>
        </p:txBody>
      </p:sp>
      <p:sp>
        <p:nvSpPr>
          <p:cNvPr id="24" name="Editable text 22: Move from an abstract picture"/>
          <p:cNvSpPr/>
          <p:nvPr/>
        </p:nvSpPr>
        <p:spPr>
          <a:xfrm>
            <a:off x="4378970" y="6009480"/>
            <a:ext cx="2322844"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Move from an abstract picture</a:t>
            </a:r>
            <a:endParaRPr lang="en-US" sz="1270" dirty="0"/>
          </a:p>
        </p:txBody>
      </p:sp>
      <p:sp>
        <p:nvSpPr>
          <p:cNvPr id="25" name="Editable text 23: to specific organizations."/>
          <p:cNvSpPr/>
          <p:nvPr/>
        </p:nvSpPr>
        <p:spPr>
          <a:xfrm>
            <a:off x="4378970" y="6219030"/>
            <a:ext cx="1931802"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to specific organizations.</a:t>
            </a:r>
            <a:endParaRPr lang="en-US" sz="1270" dirty="0"/>
          </a:p>
        </p:txBody>
      </p:sp>
      <p:sp>
        <p:nvSpPr>
          <p:cNvPr id="26" name="Editable text 24: Case study 02 · MHM ecosystem intelligence"/>
          <p:cNvSpPr/>
          <p:nvPr/>
        </p:nvSpPr>
        <p:spPr>
          <a:xfrm>
            <a:off x="594271" y="7688980"/>
            <a:ext cx="3566412"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Case study 02 · MHM ecosystem intelligence</a:t>
            </a:r>
            <a:endParaRPr lang="en-US" sz="1323" dirty="0"/>
          </a:p>
        </p:txBody>
      </p:sp>
      <p:sp>
        <p:nvSpPr>
          <p:cNvPr id="27" name="Editable text 25: 17 / 18"/>
          <p:cNvSpPr/>
          <p:nvPr/>
        </p:nvSpPr>
        <p:spPr>
          <a:xfrm>
            <a:off x="13586073" y="7688980"/>
            <a:ext cx="54241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17 / 18</a:t>
            </a:r>
            <a:endParaRPr lang="en-US" sz="1323" dirty="0"/>
          </a:p>
        </p:txBody>
      </p:sp>
      <p:sp>
        <p:nvSpPr>
          <p:cNvPr id="28" name="Editable text 26: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
        <p:nvSpPr>
          <p:cNvPr id="29" name="Editable text 27: Illustrative stock photo · shared exploration"/>
          <p:cNvSpPr/>
          <p:nvPr/>
        </p:nvSpPr>
        <p:spPr>
          <a:xfrm>
            <a:off x="7061895" y="6447763"/>
            <a:ext cx="2850104"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Illustrative stock photo · shared exploration</a:t>
            </a:r>
            <a:endParaRPr lang="en-US" sz="111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offering"/>
          <p:cNvSpPr/>
          <p:nvPr/>
        </p:nvSpPr>
        <p:spPr>
          <a:xfrm>
            <a:off x="13102382" y="421405"/>
            <a:ext cx="1026240"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Our offering</a:t>
            </a:r>
            <a:endParaRPr lang="en-US" sz="1323" dirty="0"/>
          </a:p>
        </p:txBody>
      </p:sp>
      <p:sp>
        <p:nvSpPr>
          <p:cNvPr id="6" name="Editable text 4: Our offering"/>
          <p:cNvSpPr/>
          <p:nvPr/>
        </p:nvSpPr>
        <p:spPr>
          <a:xfrm>
            <a:off x="594271" y="1894546"/>
            <a:ext cx="1110511"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offering</a:t>
            </a:r>
            <a:endParaRPr lang="en-US" sz="1429" dirty="0"/>
          </a:p>
        </p:txBody>
      </p:sp>
      <p:sp>
        <p:nvSpPr>
          <p:cNvPr id="7" name="Editable text 5: Two tools."/>
          <p:cNvSpPr/>
          <p:nvPr/>
        </p:nvSpPr>
        <p:spPr>
          <a:xfrm>
            <a:off x="594271" y="2234217"/>
            <a:ext cx="3812532" cy="1129074"/>
          </a:xfrm>
          <a:prstGeom prst="rect">
            <a:avLst/>
          </a:prstGeom>
          <a:noFill/>
          <a:ln/>
        </p:spPr>
        <p:txBody>
          <a:bodyPr wrap="none" lIns="0" tIns="0" rIns="0" bIns="0" rtlCol="0" anchor="t"/>
          <a:lstStyle/>
          <a:p>
            <a:pPr algn="l" indent="0" marL="0">
              <a:buNone/>
            </a:pPr>
            <a:r>
              <a:rPr lang="en-US" sz="6350" spc="-349" kern="0" dirty="0">
                <a:solidFill>
                  <a:srgbClr val="17191E"/>
                </a:solidFill>
                <a:latin typeface="Albert Sans Medium" pitchFamily="34" charset="0"/>
                <a:ea typeface="Albert Sans Medium" pitchFamily="34" charset="-122"/>
                <a:cs typeface="Albert Sans Medium" pitchFamily="34" charset="-120"/>
              </a:rPr>
              <a:t>Two tools.</a:t>
            </a:r>
            <a:endParaRPr lang="en-US" sz="6350" dirty="0"/>
          </a:p>
        </p:txBody>
      </p:sp>
      <p:sp>
        <p:nvSpPr>
          <p:cNvPr id="8" name="Editable text 6: A broader"/>
          <p:cNvSpPr/>
          <p:nvPr/>
        </p:nvSpPr>
        <p:spPr>
          <a:xfrm>
            <a:off x="594271" y="3053367"/>
            <a:ext cx="3774576" cy="1129074"/>
          </a:xfrm>
          <a:prstGeom prst="rect">
            <a:avLst/>
          </a:prstGeom>
          <a:noFill/>
          <a:ln/>
        </p:spPr>
        <p:txBody>
          <a:bodyPr wrap="none" lIns="0" tIns="0" rIns="0" bIns="0" rtlCol="0" anchor="t"/>
          <a:lstStyle/>
          <a:p>
            <a:pPr algn="l" indent="0" marL="0">
              <a:buNone/>
            </a:pPr>
            <a:r>
              <a:rPr lang="en-US" sz="6350" spc="-349" kern="0" dirty="0">
                <a:solidFill>
                  <a:srgbClr val="3C4ED6"/>
                </a:solidFill>
                <a:latin typeface="Albert Sans Medium" pitchFamily="34" charset="0"/>
                <a:ea typeface="Albert Sans Medium" pitchFamily="34" charset="-122"/>
                <a:cs typeface="Albert Sans Medium" pitchFamily="34" charset="-120"/>
              </a:rPr>
              <a:t>A broader</a:t>
            </a:r>
            <a:endParaRPr lang="en-US" sz="6350" dirty="0"/>
          </a:p>
        </p:txBody>
      </p:sp>
      <p:sp>
        <p:nvSpPr>
          <p:cNvPr id="9" name="Editable text 7: capability."/>
          <p:cNvSpPr/>
          <p:nvPr/>
        </p:nvSpPr>
        <p:spPr>
          <a:xfrm>
            <a:off x="594271" y="3882042"/>
            <a:ext cx="3769790" cy="1129074"/>
          </a:xfrm>
          <a:prstGeom prst="rect">
            <a:avLst/>
          </a:prstGeom>
          <a:noFill/>
          <a:ln/>
        </p:spPr>
        <p:txBody>
          <a:bodyPr wrap="none" lIns="0" tIns="0" rIns="0" bIns="0" rtlCol="0" anchor="t"/>
          <a:lstStyle/>
          <a:p>
            <a:pPr algn="l" indent="0" marL="0">
              <a:buNone/>
            </a:pPr>
            <a:r>
              <a:rPr lang="en-US" sz="6350" spc="-349" kern="0" dirty="0">
                <a:solidFill>
                  <a:srgbClr val="3C4ED6"/>
                </a:solidFill>
                <a:latin typeface="Albert Sans Medium" pitchFamily="34" charset="0"/>
                <a:ea typeface="Albert Sans Medium" pitchFamily="34" charset="-122"/>
                <a:cs typeface="Albert Sans Medium" pitchFamily="34" charset="-120"/>
              </a:rPr>
              <a:t>capability.</a:t>
            </a:r>
            <a:endParaRPr lang="en-US" sz="6350" dirty="0"/>
          </a:p>
        </p:txBody>
      </p:sp>
      <p:sp>
        <p:nvSpPr>
          <p:cNvPr id="10" name="Editable text 8: Clark County and MHM show different product patterns bu"/>
          <p:cNvSpPr/>
          <p:nvPr/>
        </p:nvSpPr>
        <p:spPr>
          <a:xfrm>
            <a:off x="594271" y="5009178"/>
            <a:ext cx="5711538" cy="282169"/>
          </a:xfrm>
          <a:prstGeom prst="rect">
            <a:avLst/>
          </a:prstGeom>
          <a:noFill/>
          <a:ln/>
        </p:spPr>
        <p:txBody>
          <a:bodyPr wrap="none" lIns="0" tIns="0" rIns="0" bIns="0" rtlCol="0" anchor="t"/>
          <a:lstStyle/>
          <a:p>
            <a:pPr algn="l" indent="0" marL="0">
              <a:buNone/>
            </a:pPr>
            <a:r>
              <a:rPr lang="en-US" sz="1587" dirty="0">
                <a:solidFill>
                  <a:srgbClr val="646973"/>
                </a:solidFill>
                <a:latin typeface="Albert Sans" pitchFamily="34" charset="0"/>
                <a:ea typeface="Albert Sans" pitchFamily="34" charset="-122"/>
                <a:cs typeface="Albert Sans" pitchFamily="34" charset="-120"/>
              </a:rPr>
              <a:t>Clark County and MHM show different product patterns built</a:t>
            </a:r>
            <a:endParaRPr lang="en-US" sz="1587" dirty="0"/>
          </a:p>
        </p:txBody>
      </p:sp>
      <p:sp>
        <p:nvSpPr>
          <p:cNvPr id="11" name="Editable text 9: from one studio capability: domain expertise, data desi"/>
          <p:cNvSpPr/>
          <p:nvPr/>
        </p:nvSpPr>
        <p:spPr>
          <a:xfrm>
            <a:off x="594271" y="5313978"/>
            <a:ext cx="5470322" cy="282169"/>
          </a:xfrm>
          <a:prstGeom prst="rect">
            <a:avLst/>
          </a:prstGeom>
          <a:noFill/>
          <a:ln/>
        </p:spPr>
        <p:txBody>
          <a:bodyPr wrap="none" lIns="0" tIns="0" rIns="0" bIns="0" rtlCol="0" anchor="t"/>
          <a:lstStyle/>
          <a:p>
            <a:pPr algn="l" indent="0" marL="0">
              <a:buNone/>
            </a:pPr>
            <a:r>
              <a:rPr lang="en-US" sz="1587" dirty="0">
                <a:solidFill>
                  <a:srgbClr val="646973"/>
                </a:solidFill>
                <a:latin typeface="Albert Sans" pitchFamily="34" charset="0"/>
                <a:ea typeface="Albert Sans" pitchFamily="34" charset="-122"/>
                <a:cs typeface="Albert Sans" pitchFamily="34" charset="-120"/>
              </a:rPr>
              <a:t>from one studio capability: domain expertise, data design,</a:t>
            </a:r>
            <a:endParaRPr lang="en-US" sz="1587" dirty="0"/>
          </a:p>
        </p:txBody>
      </p:sp>
      <p:sp>
        <p:nvSpPr>
          <p:cNvPr id="12" name="Editable text 10: frontend delivery, QA, and responsible implementation."/>
          <p:cNvSpPr/>
          <p:nvPr/>
        </p:nvSpPr>
        <p:spPr>
          <a:xfrm>
            <a:off x="594271" y="5618778"/>
            <a:ext cx="5207547" cy="282169"/>
          </a:xfrm>
          <a:prstGeom prst="rect">
            <a:avLst/>
          </a:prstGeom>
          <a:noFill/>
          <a:ln/>
        </p:spPr>
        <p:txBody>
          <a:bodyPr wrap="none" lIns="0" tIns="0" rIns="0" bIns="0" rtlCol="0" anchor="t"/>
          <a:lstStyle/>
          <a:p>
            <a:pPr algn="l" indent="0" marL="0">
              <a:buNone/>
            </a:pPr>
            <a:r>
              <a:rPr lang="en-US" sz="1587" dirty="0">
                <a:solidFill>
                  <a:srgbClr val="646973"/>
                </a:solidFill>
                <a:latin typeface="Albert Sans" pitchFamily="34" charset="0"/>
                <a:ea typeface="Albert Sans" pitchFamily="34" charset="-122"/>
                <a:cs typeface="Albert Sans" pitchFamily="34" charset="-120"/>
              </a:rPr>
              <a:t>frontend delivery, QA, and responsible implementation.</a:t>
            </a:r>
            <a:endParaRPr lang="en-US" sz="1587" dirty="0"/>
          </a:p>
        </p:txBody>
      </p:sp>
      <p:sp>
        <p:nvSpPr>
          <p:cNvPr id="13" name="Editable text 11: Custom products. Expertly built."/>
          <p:cNvSpPr/>
          <p:nvPr/>
        </p:nvSpPr>
        <p:spPr>
          <a:xfrm>
            <a:off x="1104900" y="6120413"/>
            <a:ext cx="2981917" cy="272834"/>
          </a:xfrm>
          <a:prstGeom prst="rect">
            <a:avLst/>
          </a:prstGeom>
          <a:noFill/>
          <a:ln/>
        </p:spPr>
        <p:txBody>
          <a:bodyPr wrap="none" lIns="0" tIns="0" rIns="0" bIns="0" rtlCol="0" anchor="t"/>
          <a:lstStyle/>
          <a:p>
            <a:pPr algn="l" indent="0" marL="0">
              <a:buNone/>
            </a:pPr>
            <a:r>
              <a:rPr lang="en-US" sz="1534" dirty="0">
                <a:solidFill>
                  <a:srgbClr val="3C4ED6"/>
                </a:solidFill>
                <a:latin typeface="Albert Sans" pitchFamily="34" charset="0"/>
                <a:ea typeface="Albert Sans" pitchFamily="34" charset="-122"/>
                <a:cs typeface="Albert Sans" pitchFamily="34" charset="-120"/>
              </a:rPr>
              <a:t>Custom products. Expertly built.</a:t>
            </a:r>
            <a:endParaRPr lang="en-US" sz="1534" dirty="0"/>
          </a:p>
        </p:txBody>
      </p:sp>
      <p:sp>
        <p:nvSpPr>
          <p:cNvPr id="14" name="Editable text 12: Guided service navigation"/>
          <p:cNvSpPr/>
          <p:nvPr/>
        </p:nvSpPr>
        <p:spPr>
          <a:xfrm>
            <a:off x="7030343" y="2919703"/>
            <a:ext cx="2999510"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Guided service navigation</a:t>
            </a:r>
            <a:endParaRPr lang="en-US" sz="2011" dirty="0"/>
          </a:p>
        </p:txBody>
      </p:sp>
      <p:sp>
        <p:nvSpPr>
          <p:cNvPr id="15" name="Editable text 13: When people need to move from a"/>
          <p:cNvSpPr/>
          <p:nvPr/>
        </p:nvSpPr>
        <p:spPr>
          <a:xfrm>
            <a:off x="7030343" y="3456646"/>
            <a:ext cx="3000184"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When people need to move from a</a:t>
            </a:r>
            <a:endParaRPr lang="en-US" sz="1429" dirty="0"/>
          </a:p>
        </p:txBody>
      </p:sp>
      <p:sp>
        <p:nvSpPr>
          <p:cNvPr id="16" name="Editable text 14: need and place to a practical next"/>
          <p:cNvSpPr/>
          <p:nvPr/>
        </p:nvSpPr>
        <p:spPr>
          <a:xfrm>
            <a:off x="7030343" y="3713821"/>
            <a:ext cx="2916907"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need and place to a practical next</a:t>
            </a:r>
            <a:endParaRPr lang="en-US" sz="1429" dirty="0"/>
          </a:p>
        </p:txBody>
      </p:sp>
      <p:sp>
        <p:nvSpPr>
          <p:cNvPr id="17" name="Editable text 15: step across fragmented programs."/>
          <p:cNvSpPr/>
          <p:nvPr/>
        </p:nvSpPr>
        <p:spPr>
          <a:xfrm>
            <a:off x="7030343" y="3961471"/>
            <a:ext cx="2969879"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step across fragmented programs.</a:t>
            </a:r>
            <a:endParaRPr lang="en-US" sz="1429" dirty="0"/>
          </a:p>
        </p:txBody>
      </p:sp>
      <p:sp>
        <p:nvSpPr>
          <p:cNvPr id="18" name="Editable text 16: Public agencies · service networks · digital"/>
          <p:cNvSpPr/>
          <p:nvPr/>
        </p:nvSpPr>
        <p:spPr>
          <a:xfrm>
            <a:off x="7030343" y="4739554"/>
            <a:ext cx="3073293"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Public agencies · service networks · digital</a:t>
            </a:r>
            <a:endParaRPr lang="en-US" sz="1216" dirty="0"/>
          </a:p>
        </p:txBody>
      </p:sp>
      <p:sp>
        <p:nvSpPr>
          <p:cNvPr id="19" name="Editable text 17: opportunity programs"/>
          <p:cNvSpPr/>
          <p:nvPr/>
        </p:nvSpPr>
        <p:spPr>
          <a:xfrm>
            <a:off x="7030343" y="4939579"/>
            <a:ext cx="1636450"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opportunity programs</a:t>
            </a:r>
            <a:endParaRPr lang="en-US" sz="1216" dirty="0"/>
          </a:p>
        </p:txBody>
      </p:sp>
      <p:sp>
        <p:nvSpPr>
          <p:cNvPr id="20" name="Editable text 18: Ecosystem intelligence"/>
          <p:cNvSpPr/>
          <p:nvPr/>
        </p:nvSpPr>
        <p:spPr>
          <a:xfrm>
            <a:off x="10759678" y="2919703"/>
            <a:ext cx="2674178" cy="357511"/>
          </a:xfrm>
          <a:prstGeom prst="rect">
            <a:avLst/>
          </a:prstGeom>
          <a:noFill/>
          <a:ln/>
        </p:spPr>
        <p:txBody>
          <a:bodyPr wrap="none" lIns="0" tIns="0" rIns="0" bIns="0" rtlCol="0" anchor="t"/>
          <a:lstStyle/>
          <a:p>
            <a:pPr algn="l" indent="0" marL="0">
              <a:buNone/>
            </a:pPr>
            <a:r>
              <a:rPr lang="en-US" sz="2011" spc="-70" kern="0" dirty="0">
                <a:solidFill>
                  <a:srgbClr val="17191E"/>
                </a:solidFill>
                <a:latin typeface="Albert Sans Medium" pitchFamily="34" charset="0"/>
                <a:ea typeface="Albert Sans Medium" pitchFamily="34" charset="-122"/>
                <a:cs typeface="Albert Sans Medium" pitchFamily="34" charset="-120"/>
              </a:rPr>
              <a:t>Ecosystem intelligence</a:t>
            </a:r>
            <a:endParaRPr lang="en-US" sz="2011" dirty="0"/>
          </a:p>
        </p:txBody>
      </p:sp>
      <p:sp>
        <p:nvSpPr>
          <p:cNvPr id="21" name="Editable text 19: When teams need a shared view of"/>
          <p:cNvSpPr/>
          <p:nvPr/>
        </p:nvSpPr>
        <p:spPr>
          <a:xfrm>
            <a:off x="10759678" y="3456646"/>
            <a:ext cx="3017419"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When teams need a shared view of</a:t>
            </a:r>
            <a:endParaRPr lang="en-US" sz="1429" dirty="0"/>
          </a:p>
        </p:txBody>
      </p:sp>
      <p:sp>
        <p:nvSpPr>
          <p:cNvPr id="22" name="Editable text 20: organizations, relationships,"/>
          <p:cNvSpPr/>
          <p:nvPr/>
        </p:nvSpPr>
        <p:spPr>
          <a:xfrm>
            <a:off x="10759678" y="3713821"/>
            <a:ext cx="2415099"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organizations, relationships,</a:t>
            </a:r>
            <a:endParaRPr lang="en-US" sz="1429" dirty="0"/>
          </a:p>
        </p:txBody>
      </p:sp>
      <p:sp>
        <p:nvSpPr>
          <p:cNvPr id="23" name="Editable text 21: funding, services, or regional"/>
          <p:cNvSpPr/>
          <p:nvPr/>
        </p:nvSpPr>
        <p:spPr>
          <a:xfrm>
            <a:off x="10759678" y="3961471"/>
            <a:ext cx="2506535"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funding, services, or regional</a:t>
            </a:r>
            <a:endParaRPr lang="en-US" sz="1429" dirty="0"/>
          </a:p>
        </p:txBody>
      </p:sp>
      <p:sp>
        <p:nvSpPr>
          <p:cNvPr id="24" name="Editable text 22: capacity."/>
          <p:cNvSpPr/>
          <p:nvPr/>
        </p:nvSpPr>
        <p:spPr>
          <a:xfrm>
            <a:off x="10759678" y="4218646"/>
            <a:ext cx="842178" cy="254032"/>
          </a:xfrm>
          <a:prstGeom prst="rect">
            <a:avLst/>
          </a:prstGeom>
          <a:noFill/>
          <a:ln/>
        </p:spPr>
        <p:txBody>
          <a:bodyPr wrap="none" lIns="0" tIns="0" rIns="0" bIns="0" rtlCol="0" anchor="t"/>
          <a:lstStyle/>
          <a:p>
            <a:pPr algn="l" indent="0" marL="0">
              <a:buNone/>
            </a:pPr>
            <a:r>
              <a:rPr lang="en-US" sz="1429" dirty="0">
                <a:solidFill>
                  <a:srgbClr val="646973"/>
                </a:solidFill>
                <a:latin typeface="Albert Sans" pitchFamily="34" charset="0"/>
                <a:ea typeface="Albert Sans" pitchFamily="34" charset="-122"/>
                <a:cs typeface="Albert Sans" pitchFamily="34" charset="-120"/>
              </a:rPr>
              <a:t>capacity.</a:t>
            </a:r>
            <a:endParaRPr lang="en-US" sz="1429" dirty="0"/>
          </a:p>
        </p:txBody>
      </p:sp>
      <p:sp>
        <p:nvSpPr>
          <p:cNvPr id="25" name="Editable text 23: Intermediaries · foundations · regional"/>
          <p:cNvSpPr/>
          <p:nvPr/>
        </p:nvSpPr>
        <p:spPr>
          <a:xfrm>
            <a:off x="10759678" y="4739554"/>
            <a:ext cx="2749497"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Intermediaries · foundations · regional</a:t>
            </a:r>
            <a:endParaRPr lang="en-US" sz="1216" dirty="0"/>
          </a:p>
        </p:txBody>
      </p:sp>
      <p:sp>
        <p:nvSpPr>
          <p:cNvPr id="26" name="Editable text 24: collaboratives · networks"/>
          <p:cNvSpPr/>
          <p:nvPr/>
        </p:nvSpPr>
        <p:spPr>
          <a:xfrm>
            <a:off x="10759678" y="4939579"/>
            <a:ext cx="1831715"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collaboratives · networks</a:t>
            </a:r>
            <a:endParaRPr lang="en-US" sz="1216" dirty="0"/>
          </a:p>
        </p:txBody>
      </p:sp>
      <p:sp>
        <p:nvSpPr>
          <p:cNvPr id="27" name="Editable text 25: Bring us the user, the decision, and the operating cont"/>
          <p:cNvSpPr/>
          <p:nvPr/>
        </p:nvSpPr>
        <p:spPr>
          <a:xfrm>
            <a:off x="7544842" y="5806088"/>
            <a:ext cx="5981315" cy="272834"/>
          </a:xfrm>
          <a:prstGeom prst="rect">
            <a:avLst/>
          </a:prstGeom>
          <a:noFill/>
          <a:ln/>
        </p:spPr>
        <p:txBody>
          <a:bodyPr wrap="none" lIns="0" tIns="0" rIns="0" bIns="0" rtlCol="0" anchor="t"/>
          <a:lstStyle/>
          <a:p>
            <a:pPr algn="l" indent="0" marL="0">
              <a:buNone/>
            </a:pPr>
            <a:r>
              <a:rPr lang="en-US" sz="1534" dirty="0">
                <a:solidFill>
                  <a:srgbClr val="FFFFFF"/>
                </a:solidFill>
                <a:latin typeface="Albert Sans" pitchFamily="34" charset="0"/>
                <a:ea typeface="Albert Sans" pitchFamily="34" charset="-122"/>
                <a:cs typeface="Albert Sans" pitchFamily="34" charset="-120"/>
              </a:rPr>
              <a:t>Bring us the user, the decision, and the operating context. We will</a:t>
            </a:r>
            <a:endParaRPr lang="en-US" sz="1534" dirty="0"/>
          </a:p>
        </p:txBody>
      </p:sp>
      <p:sp>
        <p:nvSpPr>
          <p:cNvPr id="28" name="Editable text 26: scope the product around your need."/>
          <p:cNvSpPr/>
          <p:nvPr/>
        </p:nvSpPr>
        <p:spPr>
          <a:xfrm>
            <a:off x="7544842" y="6072788"/>
            <a:ext cx="3423372" cy="272834"/>
          </a:xfrm>
          <a:prstGeom prst="rect">
            <a:avLst/>
          </a:prstGeom>
          <a:noFill/>
          <a:ln/>
        </p:spPr>
        <p:txBody>
          <a:bodyPr wrap="none" lIns="0" tIns="0" rIns="0" bIns="0" rtlCol="0" anchor="t"/>
          <a:lstStyle/>
          <a:p>
            <a:pPr algn="l" indent="0" marL="0">
              <a:buNone/>
            </a:pPr>
            <a:r>
              <a:rPr lang="en-US" sz="1534" dirty="0">
                <a:solidFill>
                  <a:srgbClr val="FFFFFF"/>
                </a:solidFill>
                <a:latin typeface="Albert Sans" pitchFamily="34" charset="0"/>
                <a:ea typeface="Albert Sans" pitchFamily="34" charset="-122"/>
                <a:cs typeface="Albert Sans" pitchFamily="34" charset="-120"/>
              </a:rPr>
              <a:t>scope the product around your need.</a:t>
            </a:r>
            <a:endParaRPr lang="en-US" sz="1534" dirty="0"/>
          </a:p>
        </p:txBody>
      </p:sp>
      <p:sp>
        <p:nvSpPr>
          <p:cNvPr id="29" name="Editable text 27: Explore the chatbot"/>
          <p:cNvSpPr/>
          <p:nvPr/>
        </p:nvSpPr>
        <p:spPr>
          <a:xfrm>
            <a:off x="594271" y="7688980"/>
            <a:ext cx="160538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Explore the chatbot</a:t>
            </a:r>
            <a:endParaRPr lang="en-US" sz="1323" dirty="0"/>
          </a:p>
        </p:txBody>
      </p:sp>
      <p:sp>
        <p:nvSpPr>
          <p:cNvPr id="30" name="Editable text 28: 18 / 18"/>
          <p:cNvSpPr/>
          <p:nvPr/>
        </p:nvSpPr>
        <p:spPr>
          <a:xfrm>
            <a:off x="13573274" y="7688980"/>
            <a:ext cx="555217"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18 / 18</a:t>
            </a:r>
            <a:endParaRPr lang="en-US" sz="1323" dirty="0"/>
          </a:p>
        </p:txBody>
      </p:sp>
      <p:sp>
        <p:nvSpPr>
          <p:cNvPr id="31" name="Editable text 29: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bert Sans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ber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HR&amp;A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HR&amp;A Tech &amp; Society Studio</dc:title>
  <dc:subject>Editable text edition with original layout and embedded fonts</dc:subject>
  <dc:creator>HR&amp;A Tech &amp; Society Studio</dc:creator>
  <cp:lastModifiedBy>HR&amp;A Tech &amp; Society Studio</cp:lastModifiedBy>
  <cp:revision>2</cp:revision>
  <dcterms:created xsi:type="dcterms:W3CDTF">2026-09-21T21:42:29Z</dcterms:created>
  <dcterms:modified xsi:type="dcterms:W3CDTF">2026-09-21T21:42:29Z</dcterms:modified>
</cp:coreProperties>
</file>