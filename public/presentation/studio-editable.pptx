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0"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bert Sans" pitchFamily="34" charset="0"/>
      <p:regular r:id="rIdEditableFont1"/>
    </p:embeddedFont>
    <p:embeddedFont>
      <p:font typeface="Albert Sans Medium" pitchFamily="34" charset="0"/>
      <p:regular r:id="rIdEditableFont2"/>
    </p:embeddedFont>
    <p:embeddedFont>
      <p:font typeface="Albert Sans SemiBold" pitchFamily="34" charset="0"/>
      <p:regular r:id="rIdEditableFont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EditableFont1" Type="http://schemas.openxmlformats.org/officeDocument/2006/relationships/font" Target="fonts/font1.fntdata"/><Relationship Id="rIdEditableFont2" Type="http://schemas.openxmlformats.org/officeDocument/2006/relationships/font" Target="fonts/font2.fntdata"/><Relationship Id="rIdEditableFont3"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The studio
Tech &amp;
Society
Studio.
Custom digital products. Expertly built.
We turn public-interest expertise into custom
digital tools for the people who put it to work.
Built around people.
Studio + Product Systems
01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Our mission
Make
expertise
useful.
We pair policy and program expertise with
data, design, and development to build tools
around your decisions, users, and operating
realities.
Custom fit.
Not off the shelf.
Expert-led.
From discovery onward.
Quality.
Tested against agreed
criteria.
$1.5B+
New York ConnectALL
Investment supported by
HR&amp;A as lead strategic
advisor and program manager.
39
Rhode Island
municipalities
Land-use datasets
standardized with state
planners and Go Consulting
Services.
&gt;35%
U.S. population
Served by HR&amp;A’s broadband
and digital-opportunity
clients.
Program scale, not product impact.
Expertise × Customization × Quality
02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Our advantage
Expertise before code.
We design digital tools from the realities of policy, service delivery, and public-interest operations.
Public-interest fluency
Broadband, digital equity,
policy, and service systems.
Product thinking
Decisions, workflows, and
user tasks.
Data design
Definitions, stewardship,
validation, and updates.
Technical delivery
Modern frontend,
accessibility, QA, and secure
implementation.
Working digital products for real-world use.
Expertise × Customization × Quality
03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Our methodology
Our methodology
Understand. Build. Prove.
An expert-led delivery approach: agree the problem, build with domain experts, and validate before handoff.
Understand
People + purpose
Build
Data + design
Prove
Experts + users
Frontend
Data model
QA
Accessibility
Privacy
Usability
Expertise × Customization × Quality
04 / 10
/
01
Map user tasks, source data, and
constraints.
02
Prototype a workflow around your
program.
03
Test priority tasks; assign update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How we build
Quality is a
design decision.
Useful tools depend on strong data design,
careful QA, and accessible, responsible
implementation.
The data foundation
Records
source the right evidence
Definitions
structure a usable model
Checks
validate with expert judgment
Updates
assign named ownership
The build standard
Accurate
source checks and expert review
Accessible
keyboard, screen reader, contrast
Responsible
privacy, security, clear limits
Useful
real tasks and user testing
Responsive
works across desktop, tablet, and phone
Maintainable
clear ownership and update paths
Accessibility is tested, not assumed.
Expertise × Customization × Quality
05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Our solutions
Proven product patterns.
Adapted to your context.
Guided service navigation
Connect residents or staff to the right
local resource.
Ecosystem intelligence
Understand organizations, relationships,
and service networks.
Decision-support dashboards
Organize evidence for planning,
coordination, and action.
Not a template. A starting pattern customized to your people, evidence, and operating model.
Expertise × Customization × Quality
06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Case study
A clearer
way to
connect.
Guided service navigation | Clark County Digital Equity Assistant
The assistant helps county staff and partners find internet,
training, and device resources for residents.
Internet
Skills
Devices
Responsive web product
English / Español interface
Expertise × Customization × Quality
07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Case study
See the network.
See the opportunity.
Ecosystem intelligence | Regional grantee &amp; organization network
An interactive network tool helps foundations,
intermediaries, and partners understand organizations,
relationships, and areas of service.
Explore organizations
Understand connections
Inform coordination and investment
Expertise × Customization × Quality
08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Our offering
Your context.
Not a template.
We scope the data model, interface, and operating workflow around your
organization, rather than asking your team to adapt to a generic product.
Your people
Tasks · language · access
Your evidence
Data · geography · rules
Your operation
Workflow · ownership ·
updates
Customized by experts for public agencies, nonprofits, and mission-driven networks.
Expertise × Customization × Quality
09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Let’s build
Custom
products.
Expertly built.
What should your expertise
make possible?
Bring a user need and a decision. Together, we scope
the data, product, and quality criteria.
Get this customized by experts for your need.
Explore the chatbot
10 /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The studio"/>
          <p:cNvSpPr/>
          <p:nvPr/>
        </p:nvSpPr>
        <p:spPr>
          <a:xfrm>
            <a:off x="594271" y="1046821"/>
            <a:ext cx="985693"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The studio</a:t>
            </a:r>
            <a:endParaRPr lang="en-US" sz="1429" dirty="0"/>
          </a:p>
        </p:txBody>
      </p:sp>
      <p:sp>
        <p:nvSpPr>
          <p:cNvPr id="6" name="Editable text 4: Tech &amp;amp;"/>
          <p:cNvSpPr/>
          <p:nvPr/>
        </p:nvSpPr>
        <p:spPr>
          <a:xfrm>
            <a:off x="594271" y="1368200"/>
            <a:ext cx="4406459" cy="1787690"/>
          </a:xfrm>
          <a:prstGeom prst="rect">
            <a:avLst/>
          </a:prstGeom>
          <a:noFill/>
          <a:ln/>
        </p:spPr>
        <p:txBody>
          <a:bodyPr wrap="none" lIns="0" tIns="0" rIns="0" bIns="0" rtlCol="0" anchor="t"/>
          <a:lstStyle/>
          <a:p>
            <a:pPr algn="l" indent="0" marL="0">
              <a:buNone/>
            </a:pPr>
            <a:r>
              <a:rPr lang="en-US" sz="10054" spc="-553" kern="0" dirty="0">
                <a:solidFill>
                  <a:srgbClr val="17191E"/>
                </a:solidFill>
                <a:latin typeface="Albert Sans Medium" pitchFamily="34" charset="0"/>
                <a:ea typeface="Albert Sans Medium" pitchFamily="34" charset="-122"/>
                <a:cs typeface="Albert Sans Medium" pitchFamily="34" charset="-120"/>
              </a:rPr>
              <a:t>Tech &amp;</a:t>
            </a:r>
            <a:endParaRPr lang="en-US" sz="10054" dirty="0"/>
          </a:p>
        </p:txBody>
      </p:sp>
      <p:sp>
        <p:nvSpPr>
          <p:cNvPr id="7" name="Editable text 5: Society"/>
          <p:cNvSpPr/>
          <p:nvPr/>
        </p:nvSpPr>
        <p:spPr>
          <a:xfrm>
            <a:off x="594271" y="2673125"/>
            <a:ext cx="4647469" cy="1787690"/>
          </a:xfrm>
          <a:prstGeom prst="rect">
            <a:avLst/>
          </a:prstGeom>
          <a:noFill/>
          <a:ln/>
        </p:spPr>
        <p:txBody>
          <a:bodyPr wrap="none" lIns="0" tIns="0" rIns="0" bIns="0" rtlCol="0" anchor="t"/>
          <a:lstStyle/>
          <a:p>
            <a:pPr algn="l" indent="0" marL="0">
              <a:buNone/>
            </a:pPr>
            <a:r>
              <a:rPr lang="en-US" sz="10054" spc="-553" kern="0" dirty="0">
                <a:solidFill>
                  <a:srgbClr val="17191E"/>
                </a:solidFill>
                <a:latin typeface="Albert Sans Medium" pitchFamily="34" charset="0"/>
                <a:ea typeface="Albert Sans Medium" pitchFamily="34" charset="-122"/>
                <a:cs typeface="Albert Sans Medium" pitchFamily="34" charset="-120"/>
              </a:rPr>
              <a:t>Society</a:t>
            </a:r>
            <a:endParaRPr lang="en-US" sz="10054" dirty="0"/>
          </a:p>
        </p:txBody>
      </p:sp>
      <p:sp>
        <p:nvSpPr>
          <p:cNvPr id="8" name="Editable text 6: Studio."/>
          <p:cNvSpPr/>
          <p:nvPr/>
        </p:nvSpPr>
        <p:spPr>
          <a:xfrm>
            <a:off x="594271" y="3978050"/>
            <a:ext cx="4342137" cy="1787690"/>
          </a:xfrm>
          <a:prstGeom prst="rect">
            <a:avLst/>
          </a:prstGeom>
          <a:noFill/>
          <a:ln/>
        </p:spPr>
        <p:txBody>
          <a:bodyPr wrap="none" lIns="0" tIns="0" rIns="0" bIns="0" rtlCol="0" anchor="t"/>
          <a:lstStyle/>
          <a:p>
            <a:pPr algn="l" indent="0" marL="0">
              <a:buNone/>
            </a:pPr>
            <a:r>
              <a:rPr lang="en-US" sz="10054" spc="-553" kern="0" dirty="0">
                <a:solidFill>
                  <a:srgbClr val="3C4ED6"/>
                </a:solidFill>
                <a:latin typeface="Albert Sans Medium" pitchFamily="34" charset="0"/>
                <a:ea typeface="Albert Sans Medium" pitchFamily="34" charset="-122"/>
                <a:cs typeface="Albert Sans Medium" pitchFamily="34" charset="-120"/>
              </a:rPr>
              <a:t>Studio.</a:t>
            </a:r>
            <a:endParaRPr lang="en-US" sz="10054" dirty="0"/>
          </a:p>
        </p:txBody>
      </p:sp>
      <p:sp>
        <p:nvSpPr>
          <p:cNvPr id="9" name="Editable text 7: Custom digital products. Expertly built."/>
          <p:cNvSpPr/>
          <p:nvPr/>
        </p:nvSpPr>
        <p:spPr>
          <a:xfrm>
            <a:off x="594271" y="5621703"/>
            <a:ext cx="4578699" cy="348044"/>
          </a:xfrm>
          <a:prstGeom prst="rect">
            <a:avLst/>
          </a:prstGeom>
          <a:noFill/>
          <a:ln/>
        </p:spPr>
        <p:txBody>
          <a:bodyPr wrap="none" lIns="0" tIns="0" rIns="0" bIns="0" rtlCol="0" anchor="t"/>
          <a:lstStyle/>
          <a:p>
            <a:pPr algn="l" indent="0" marL="0">
              <a:buNone/>
            </a:pPr>
            <a:r>
              <a:rPr lang="en-US" sz="1958" dirty="0">
                <a:solidFill>
                  <a:srgbClr val="17191E"/>
                </a:solidFill>
                <a:latin typeface="Albert Sans" pitchFamily="34" charset="0"/>
                <a:ea typeface="Albert Sans" pitchFamily="34" charset="-122"/>
                <a:cs typeface="Albert Sans" pitchFamily="34" charset="-120"/>
              </a:rPr>
              <a:t>Custom digital products. Expertly built.</a:t>
            </a:r>
            <a:endParaRPr lang="en-US" sz="1958" dirty="0"/>
          </a:p>
        </p:txBody>
      </p:sp>
      <p:sp>
        <p:nvSpPr>
          <p:cNvPr id="10" name="Editable text 8: We turn public-interest expertise into custom"/>
          <p:cNvSpPr/>
          <p:nvPr/>
        </p:nvSpPr>
        <p:spPr>
          <a:xfrm>
            <a:off x="594271" y="6078945"/>
            <a:ext cx="4915212"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We turn public-interest expertise into custom</a:t>
            </a:r>
            <a:endParaRPr lang="en-US" sz="1799" dirty="0"/>
          </a:p>
        </p:txBody>
      </p:sp>
      <p:sp>
        <p:nvSpPr>
          <p:cNvPr id="11" name="Editable text 9: digital tools for the people who put it to work."/>
          <p:cNvSpPr/>
          <p:nvPr/>
        </p:nvSpPr>
        <p:spPr>
          <a:xfrm>
            <a:off x="594271" y="6421845"/>
            <a:ext cx="4906269"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digital tools for the people who put it to work.</a:t>
            </a:r>
            <a:endParaRPr lang="en-US" sz="1799" dirty="0"/>
          </a:p>
        </p:txBody>
      </p:sp>
      <p:sp>
        <p:nvSpPr>
          <p:cNvPr id="12" name="Editable text 10: Built around people."/>
          <p:cNvSpPr/>
          <p:nvPr/>
        </p:nvSpPr>
        <p:spPr>
          <a:xfrm>
            <a:off x="1104900" y="6968138"/>
            <a:ext cx="1896006" cy="272834"/>
          </a:xfrm>
          <a:prstGeom prst="rect">
            <a:avLst/>
          </a:prstGeom>
          <a:noFill/>
          <a:ln/>
        </p:spPr>
        <p:txBody>
          <a:bodyPr wrap="none" lIns="0" tIns="0" rIns="0" bIns="0" rtlCol="0" anchor="t"/>
          <a:lstStyle/>
          <a:p>
            <a:pPr algn="l" indent="0" marL="0">
              <a:buNone/>
            </a:pPr>
            <a:r>
              <a:rPr lang="en-US" sz="1534" dirty="0">
                <a:solidFill>
                  <a:srgbClr val="3C4ED6"/>
                </a:solidFill>
                <a:latin typeface="Albert Sans" pitchFamily="34" charset="0"/>
                <a:ea typeface="Albert Sans" pitchFamily="34" charset="-122"/>
                <a:cs typeface="Albert Sans" pitchFamily="34" charset="-120"/>
              </a:rPr>
              <a:t>Built around people.</a:t>
            </a:r>
            <a:endParaRPr lang="en-US" sz="1534" dirty="0"/>
          </a:p>
        </p:txBody>
      </p:sp>
      <p:sp>
        <p:nvSpPr>
          <p:cNvPr id="13" name="Editable text 11: Studio + Product Systems"/>
          <p:cNvSpPr/>
          <p:nvPr/>
        </p:nvSpPr>
        <p:spPr>
          <a:xfrm>
            <a:off x="594271" y="7688980"/>
            <a:ext cx="208603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Studio + Product Systems</a:t>
            </a:r>
            <a:endParaRPr lang="en-US" sz="1323" dirty="0"/>
          </a:p>
        </p:txBody>
      </p:sp>
      <p:sp>
        <p:nvSpPr>
          <p:cNvPr id="14" name="Editable text 12: 01 / 10"/>
          <p:cNvSpPr/>
          <p:nvPr/>
        </p:nvSpPr>
        <p:spPr>
          <a:xfrm>
            <a:off x="13574464" y="7688980"/>
            <a:ext cx="55404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01 / 10</a:t>
            </a:r>
            <a:endParaRPr lang="en-US" sz="1323" dirty="0"/>
          </a:p>
        </p:txBody>
      </p:sp>
      <p:sp>
        <p:nvSpPr>
          <p:cNvPr id="15" name="Editable text 13: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Our mission"/>
          <p:cNvSpPr/>
          <p:nvPr/>
        </p:nvSpPr>
        <p:spPr>
          <a:xfrm>
            <a:off x="594271" y="1418296"/>
            <a:ext cx="1101802"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Our mission</a:t>
            </a:r>
            <a:endParaRPr lang="en-US" sz="1429" dirty="0"/>
          </a:p>
        </p:txBody>
      </p:sp>
      <p:sp>
        <p:nvSpPr>
          <p:cNvPr id="6" name="Editable text 4: Make"/>
          <p:cNvSpPr/>
          <p:nvPr/>
        </p:nvSpPr>
        <p:spPr>
          <a:xfrm>
            <a:off x="594271" y="1730769"/>
            <a:ext cx="3307601" cy="1618336"/>
          </a:xfrm>
          <a:prstGeom prst="rect">
            <a:avLst/>
          </a:prstGeom>
          <a:noFill/>
          <a:ln/>
        </p:spPr>
        <p:txBody>
          <a:bodyPr wrap="none" lIns="0" tIns="0" rIns="0" bIns="0" rtlCol="0" anchor="t"/>
          <a:lstStyle/>
          <a:p>
            <a:pPr algn="l" indent="0" marL="0">
              <a:buNone/>
            </a:pPr>
            <a:r>
              <a:rPr lang="en-US" sz="9102" spc="-501" kern="0" dirty="0">
                <a:solidFill>
                  <a:srgbClr val="17191E"/>
                </a:solidFill>
                <a:latin typeface="Albert Sans Medium" pitchFamily="34" charset="0"/>
                <a:ea typeface="Albert Sans Medium" pitchFamily="34" charset="-122"/>
                <a:cs typeface="Albert Sans Medium" pitchFamily="34" charset="-120"/>
              </a:rPr>
              <a:t>Make</a:t>
            </a:r>
            <a:endParaRPr lang="en-US" sz="9102" dirty="0"/>
          </a:p>
        </p:txBody>
      </p:sp>
      <p:sp>
        <p:nvSpPr>
          <p:cNvPr id="7" name="Editable text 5: expertise"/>
          <p:cNvSpPr/>
          <p:nvPr/>
        </p:nvSpPr>
        <p:spPr>
          <a:xfrm>
            <a:off x="594271" y="2902344"/>
            <a:ext cx="5038760" cy="1618336"/>
          </a:xfrm>
          <a:prstGeom prst="rect">
            <a:avLst/>
          </a:prstGeom>
          <a:noFill/>
          <a:ln/>
        </p:spPr>
        <p:txBody>
          <a:bodyPr wrap="none" lIns="0" tIns="0" rIns="0" bIns="0" rtlCol="0" anchor="t"/>
          <a:lstStyle/>
          <a:p>
            <a:pPr algn="l" indent="0" marL="0">
              <a:buNone/>
            </a:pPr>
            <a:r>
              <a:rPr lang="en-US" sz="9102" spc="-501" kern="0" dirty="0">
                <a:solidFill>
                  <a:srgbClr val="17191E"/>
                </a:solidFill>
                <a:latin typeface="Albert Sans Medium" pitchFamily="34" charset="0"/>
                <a:ea typeface="Albert Sans Medium" pitchFamily="34" charset="-122"/>
                <a:cs typeface="Albert Sans Medium" pitchFamily="34" charset="-120"/>
              </a:rPr>
              <a:t>expertise</a:t>
            </a:r>
            <a:endParaRPr lang="en-US" sz="9102" dirty="0"/>
          </a:p>
        </p:txBody>
      </p:sp>
      <p:sp>
        <p:nvSpPr>
          <p:cNvPr id="8" name="Editable text 6: useful."/>
          <p:cNvSpPr/>
          <p:nvPr/>
        </p:nvSpPr>
        <p:spPr>
          <a:xfrm>
            <a:off x="594271" y="4083444"/>
            <a:ext cx="3690929" cy="1618336"/>
          </a:xfrm>
          <a:prstGeom prst="rect">
            <a:avLst/>
          </a:prstGeom>
          <a:noFill/>
          <a:ln/>
        </p:spPr>
        <p:txBody>
          <a:bodyPr wrap="none" lIns="0" tIns="0" rIns="0" bIns="0" rtlCol="0" anchor="t"/>
          <a:lstStyle/>
          <a:p>
            <a:pPr algn="l" indent="0" marL="0">
              <a:buNone/>
            </a:pPr>
            <a:r>
              <a:rPr lang="en-US" sz="9102" spc="-501" kern="0" dirty="0">
                <a:solidFill>
                  <a:srgbClr val="3C4ED6"/>
                </a:solidFill>
                <a:latin typeface="Albert Sans Medium" pitchFamily="34" charset="0"/>
                <a:ea typeface="Albert Sans Medium" pitchFamily="34" charset="-122"/>
                <a:cs typeface="Albert Sans Medium" pitchFamily="34" charset="-120"/>
              </a:rPr>
              <a:t>useful.</a:t>
            </a:r>
            <a:endParaRPr lang="en-US" sz="9102" dirty="0"/>
          </a:p>
        </p:txBody>
      </p:sp>
      <p:sp>
        <p:nvSpPr>
          <p:cNvPr id="9" name="Editable text 7: We pair policy and program expertise with"/>
          <p:cNvSpPr/>
          <p:nvPr/>
        </p:nvSpPr>
        <p:spPr>
          <a:xfrm>
            <a:off x="594271" y="5571020"/>
            <a:ext cx="4433570" cy="310439"/>
          </a:xfrm>
          <a:prstGeom prst="rect">
            <a:avLst/>
          </a:prstGeom>
          <a:noFill/>
          <a:ln/>
        </p:spPr>
        <p:txBody>
          <a:bodyPr wrap="none" lIns="0" tIns="0" rIns="0" bIns="0" rtlCol="0" anchor="t"/>
          <a:lstStyle/>
          <a:p>
            <a:pPr algn="l" indent="0" marL="0">
              <a:buNone/>
            </a:pPr>
            <a:r>
              <a:rPr lang="en-US" sz="1746" dirty="0">
                <a:solidFill>
                  <a:srgbClr val="646973"/>
                </a:solidFill>
                <a:latin typeface="Albert Sans" pitchFamily="34" charset="0"/>
                <a:ea typeface="Albert Sans" pitchFamily="34" charset="-122"/>
                <a:cs typeface="Albert Sans" pitchFamily="34" charset="-120"/>
              </a:rPr>
              <a:t>We pair policy and program expertise with</a:t>
            </a:r>
            <a:endParaRPr lang="en-US" sz="1746" dirty="0"/>
          </a:p>
        </p:txBody>
      </p:sp>
      <p:sp>
        <p:nvSpPr>
          <p:cNvPr id="10" name="Editable text 8: data, design, and development to build tools"/>
          <p:cNvSpPr/>
          <p:nvPr/>
        </p:nvSpPr>
        <p:spPr>
          <a:xfrm>
            <a:off x="594271" y="5904395"/>
            <a:ext cx="4657828" cy="310439"/>
          </a:xfrm>
          <a:prstGeom prst="rect">
            <a:avLst/>
          </a:prstGeom>
          <a:noFill/>
          <a:ln/>
        </p:spPr>
        <p:txBody>
          <a:bodyPr wrap="none" lIns="0" tIns="0" rIns="0" bIns="0" rtlCol="0" anchor="t"/>
          <a:lstStyle/>
          <a:p>
            <a:pPr algn="l" indent="0" marL="0">
              <a:buNone/>
            </a:pPr>
            <a:r>
              <a:rPr lang="en-US" sz="1746" dirty="0">
                <a:solidFill>
                  <a:srgbClr val="646973"/>
                </a:solidFill>
                <a:latin typeface="Albert Sans" pitchFamily="34" charset="0"/>
                <a:ea typeface="Albert Sans" pitchFamily="34" charset="-122"/>
                <a:cs typeface="Albert Sans" pitchFamily="34" charset="-120"/>
              </a:rPr>
              <a:t>data, design, and development to build tools</a:t>
            </a:r>
            <a:endParaRPr lang="en-US" sz="1746" dirty="0"/>
          </a:p>
        </p:txBody>
      </p:sp>
      <p:sp>
        <p:nvSpPr>
          <p:cNvPr id="11" name="Editable text 9: around your decisions, users, and operating"/>
          <p:cNvSpPr/>
          <p:nvPr/>
        </p:nvSpPr>
        <p:spPr>
          <a:xfrm>
            <a:off x="594271" y="6237770"/>
            <a:ext cx="4564550" cy="310439"/>
          </a:xfrm>
          <a:prstGeom prst="rect">
            <a:avLst/>
          </a:prstGeom>
          <a:noFill/>
          <a:ln/>
        </p:spPr>
        <p:txBody>
          <a:bodyPr wrap="none" lIns="0" tIns="0" rIns="0" bIns="0" rtlCol="0" anchor="t"/>
          <a:lstStyle/>
          <a:p>
            <a:pPr algn="l" indent="0" marL="0">
              <a:buNone/>
            </a:pPr>
            <a:r>
              <a:rPr lang="en-US" sz="1746" dirty="0">
                <a:solidFill>
                  <a:srgbClr val="646973"/>
                </a:solidFill>
                <a:latin typeface="Albert Sans" pitchFamily="34" charset="0"/>
                <a:ea typeface="Albert Sans" pitchFamily="34" charset="-122"/>
                <a:cs typeface="Albert Sans" pitchFamily="34" charset="-120"/>
              </a:rPr>
              <a:t>around your decisions, users, and operating</a:t>
            </a:r>
            <a:endParaRPr lang="en-US" sz="1746" dirty="0"/>
          </a:p>
        </p:txBody>
      </p:sp>
      <p:sp>
        <p:nvSpPr>
          <p:cNvPr id="12" name="Editable text 10: realities."/>
          <p:cNvSpPr/>
          <p:nvPr/>
        </p:nvSpPr>
        <p:spPr>
          <a:xfrm>
            <a:off x="594271" y="6571145"/>
            <a:ext cx="966746" cy="310439"/>
          </a:xfrm>
          <a:prstGeom prst="rect">
            <a:avLst/>
          </a:prstGeom>
          <a:noFill/>
          <a:ln/>
        </p:spPr>
        <p:txBody>
          <a:bodyPr wrap="none" lIns="0" tIns="0" rIns="0" bIns="0" rtlCol="0" anchor="t"/>
          <a:lstStyle/>
          <a:p>
            <a:pPr algn="l" indent="0" marL="0">
              <a:buNone/>
            </a:pPr>
            <a:r>
              <a:rPr lang="en-US" sz="1746" dirty="0">
                <a:solidFill>
                  <a:srgbClr val="646973"/>
                </a:solidFill>
                <a:latin typeface="Albert Sans" pitchFamily="34" charset="0"/>
                <a:ea typeface="Albert Sans" pitchFamily="34" charset="-122"/>
                <a:cs typeface="Albert Sans" pitchFamily="34" charset="-120"/>
              </a:rPr>
              <a:t>realities.</a:t>
            </a:r>
            <a:endParaRPr lang="en-US" sz="1746" dirty="0"/>
          </a:p>
        </p:txBody>
      </p:sp>
      <p:sp>
        <p:nvSpPr>
          <p:cNvPr id="13" name="Editable text 11: Custom fit."/>
          <p:cNvSpPr/>
          <p:nvPr/>
        </p:nvSpPr>
        <p:spPr>
          <a:xfrm>
            <a:off x="5909667" y="2322686"/>
            <a:ext cx="1497521" cy="395116"/>
          </a:xfrm>
          <a:prstGeom prst="rect">
            <a:avLst/>
          </a:prstGeom>
          <a:noFill/>
          <a:ln/>
        </p:spPr>
        <p:txBody>
          <a:bodyPr wrap="none" lIns="0" tIns="0" rIns="0" bIns="0" rtlCol="0" anchor="t"/>
          <a:lstStyle/>
          <a:p>
            <a:pPr algn="l" indent="0" marL="0">
              <a:buNone/>
            </a:pPr>
            <a:r>
              <a:rPr lang="en-US" sz="2222" spc="-78" kern="0" dirty="0">
                <a:solidFill>
                  <a:srgbClr val="17191E"/>
                </a:solidFill>
                <a:latin typeface="Albert Sans Medium" pitchFamily="34" charset="0"/>
                <a:ea typeface="Albert Sans Medium" pitchFamily="34" charset="-122"/>
                <a:cs typeface="Albert Sans Medium" pitchFamily="34" charset="-120"/>
              </a:rPr>
              <a:t>Custom fit.</a:t>
            </a:r>
            <a:endParaRPr lang="en-US" sz="2222" dirty="0"/>
          </a:p>
        </p:txBody>
      </p:sp>
      <p:sp>
        <p:nvSpPr>
          <p:cNvPr id="14" name="Editable text 12: Not off the shelf."/>
          <p:cNvSpPr/>
          <p:nvPr/>
        </p:nvSpPr>
        <p:spPr>
          <a:xfrm>
            <a:off x="5909667" y="2777138"/>
            <a:ext cx="1584106"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Not off the shelf.</a:t>
            </a:r>
            <a:endParaRPr lang="en-US" sz="1534" dirty="0"/>
          </a:p>
        </p:txBody>
      </p:sp>
      <p:sp>
        <p:nvSpPr>
          <p:cNvPr id="15" name="Editable text 13: Expert-led."/>
          <p:cNvSpPr/>
          <p:nvPr/>
        </p:nvSpPr>
        <p:spPr>
          <a:xfrm>
            <a:off x="8764935" y="2322686"/>
            <a:ext cx="1516991" cy="395116"/>
          </a:xfrm>
          <a:prstGeom prst="rect">
            <a:avLst/>
          </a:prstGeom>
          <a:noFill/>
          <a:ln/>
        </p:spPr>
        <p:txBody>
          <a:bodyPr wrap="none" lIns="0" tIns="0" rIns="0" bIns="0" rtlCol="0" anchor="t"/>
          <a:lstStyle/>
          <a:p>
            <a:pPr algn="l" indent="0" marL="0">
              <a:buNone/>
            </a:pPr>
            <a:r>
              <a:rPr lang="en-US" sz="2222" spc="-78" kern="0" dirty="0">
                <a:solidFill>
                  <a:srgbClr val="17191E"/>
                </a:solidFill>
                <a:latin typeface="Albert Sans Medium" pitchFamily="34" charset="0"/>
                <a:ea typeface="Albert Sans Medium" pitchFamily="34" charset="-122"/>
                <a:cs typeface="Albert Sans Medium" pitchFamily="34" charset="-120"/>
              </a:rPr>
              <a:t>Expert-led.</a:t>
            </a:r>
            <a:endParaRPr lang="en-US" sz="2222" dirty="0"/>
          </a:p>
        </p:txBody>
      </p:sp>
      <p:sp>
        <p:nvSpPr>
          <p:cNvPr id="16" name="Editable text 14: From discovery onward."/>
          <p:cNvSpPr/>
          <p:nvPr/>
        </p:nvSpPr>
        <p:spPr>
          <a:xfrm>
            <a:off x="8764935" y="2777138"/>
            <a:ext cx="2253302"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From discovery onward.</a:t>
            </a:r>
            <a:endParaRPr lang="en-US" sz="1534" dirty="0"/>
          </a:p>
        </p:txBody>
      </p:sp>
      <p:sp>
        <p:nvSpPr>
          <p:cNvPr id="17" name="Editable text 15: Quality."/>
          <p:cNvSpPr/>
          <p:nvPr/>
        </p:nvSpPr>
        <p:spPr>
          <a:xfrm>
            <a:off x="11620202" y="2322686"/>
            <a:ext cx="1064416" cy="395116"/>
          </a:xfrm>
          <a:prstGeom prst="rect">
            <a:avLst/>
          </a:prstGeom>
          <a:noFill/>
          <a:ln/>
        </p:spPr>
        <p:txBody>
          <a:bodyPr wrap="none" lIns="0" tIns="0" rIns="0" bIns="0" rtlCol="0" anchor="t"/>
          <a:lstStyle/>
          <a:p>
            <a:pPr algn="l" indent="0" marL="0">
              <a:buNone/>
            </a:pPr>
            <a:r>
              <a:rPr lang="en-US" sz="2222" spc="-78" kern="0" dirty="0">
                <a:solidFill>
                  <a:srgbClr val="17191E"/>
                </a:solidFill>
                <a:latin typeface="Albert Sans Medium" pitchFamily="34" charset="0"/>
                <a:ea typeface="Albert Sans Medium" pitchFamily="34" charset="-122"/>
                <a:cs typeface="Albert Sans Medium" pitchFamily="34" charset="-120"/>
              </a:rPr>
              <a:t>Quality.</a:t>
            </a:r>
            <a:endParaRPr lang="en-US" sz="2222" dirty="0"/>
          </a:p>
        </p:txBody>
      </p:sp>
      <p:sp>
        <p:nvSpPr>
          <p:cNvPr id="18" name="Editable text 16: Tested against agreed"/>
          <p:cNvSpPr/>
          <p:nvPr/>
        </p:nvSpPr>
        <p:spPr>
          <a:xfrm>
            <a:off x="11620202" y="2777138"/>
            <a:ext cx="2087340"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Tested against agreed</a:t>
            </a:r>
            <a:endParaRPr lang="en-US" sz="1534" dirty="0"/>
          </a:p>
        </p:txBody>
      </p:sp>
      <p:sp>
        <p:nvSpPr>
          <p:cNvPr id="19" name="Editable text 17: criteria."/>
          <p:cNvSpPr/>
          <p:nvPr/>
        </p:nvSpPr>
        <p:spPr>
          <a:xfrm>
            <a:off x="11620202" y="3053363"/>
            <a:ext cx="783411"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criteria.</a:t>
            </a:r>
            <a:endParaRPr lang="en-US" sz="1534" dirty="0"/>
          </a:p>
        </p:txBody>
      </p:sp>
      <p:sp>
        <p:nvSpPr>
          <p:cNvPr id="20" name="Editable text 18: $1.5B+"/>
          <p:cNvSpPr/>
          <p:nvPr/>
        </p:nvSpPr>
        <p:spPr>
          <a:xfrm>
            <a:off x="5909667" y="3953280"/>
            <a:ext cx="1822053" cy="771430"/>
          </a:xfrm>
          <a:prstGeom prst="rect">
            <a:avLst/>
          </a:prstGeom>
          <a:noFill/>
          <a:ln/>
        </p:spPr>
        <p:txBody>
          <a:bodyPr wrap="none" lIns="0" tIns="0" rIns="0" bIns="0" rtlCol="0" anchor="t"/>
          <a:lstStyle/>
          <a:p>
            <a:pPr algn="l" indent="0" marL="0">
              <a:buNone/>
            </a:pPr>
            <a:r>
              <a:rPr lang="en-US" sz="4339" spc="-260" kern="0" dirty="0">
                <a:solidFill>
                  <a:srgbClr val="3C4ED6"/>
                </a:solidFill>
                <a:latin typeface="Albert Sans Medium" pitchFamily="34" charset="0"/>
                <a:ea typeface="Albert Sans Medium" pitchFamily="34" charset="-122"/>
                <a:cs typeface="Albert Sans Medium" pitchFamily="34" charset="-120"/>
              </a:rPr>
              <a:t>$1.5B+</a:t>
            </a:r>
            <a:endParaRPr lang="en-US" sz="4339" dirty="0"/>
          </a:p>
        </p:txBody>
      </p:sp>
      <p:sp>
        <p:nvSpPr>
          <p:cNvPr id="21" name="Editable text 19: New York ConnectALL"/>
          <p:cNvSpPr/>
          <p:nvPr/>
        </p:nvSpPr>
        <p:spPr>
          <a:xfrm>
            <a:off x="5909667" y="4901213"/>
            <a:ext cx="1997313"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New York ConnectALL</a:t>
            </a:r>
            <a:endParaRPr lang="en-US" sz="1534" dirty="0"/>
          </a:p>
        </p:txBody>
      </p:sp>
      <p:sp>
        <p:nvSpPr>
          <p:cNvPr id="22" name="Editable text 20: Investment supported by"/>
          <p:cNvSpPr/>
          <p:nvPr/>
        </p:nvSpPr>
        <p:spPr>
          <a:xfrm>
            <a:off x="5909667" y="5253904"/>
            <a:ext cx="1857822"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Investment supported by</a:t>
            </a:r>
            <a:endParaRPr lang="en-US" sz="1216" dirty="0"/>
          </a:p>
        </p:txBody>
      </p:sp>
      <p:sp>
        <p:nvSpPr>
          <p:cNvPr id="23" name="Editable text 21: HR&amp;amp;A as lead strategic"/>
          <p:cNvSpPr/>
          <p:nvPr/>
        </p:nvSpPr>
        <p:spPr>
          <a:xfrm>
            <a:off x="5909667" y="5463454"/>
            <a:ext cx="1711068"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HR&amp;A as lead strategic</a:t>
            </a:r>
            <a:endParaRPr lang="en-US" sz="1216" dirty="0"/>
          </a:p>
        </p:txBody>
      </p:sp>
      <p:sp>
        <p:nvSpPr>
          <p:cNvPr id="24" name="Editable text 22: advisor and program manager."/>
          <p:cNvSpPr/>
          <p:nvPr/>
        </p:nvSpPr>
        <p:spPr>
          <a:xfrm>
            <a:off x="5909667" y="5682529"/>
            <a:ext cx="2262719"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advisor and program manager.</a:t>
            </a:r>
            <a:endParaRPr lang="en-US" sz="1216" dirty="0"/>
          </a:p>
        </p:txBody>
      </p:sp>
      <p:sp>
        <p:nvSpPr>
          <p:cNvPr id="25" name="Editable text 23: 39"/>
          <p:cNvSpPr/>
          <p:nvPr/>
        </p:nvSpPr>
        <p:spPr>
          <a:xfrm>
            <a:off x="8764935" y="3953280"/>
            <a:ext cx="933389" cy="771430"/>
          </a:xfrm>
          <a:prstGeom prst="rect">
            <a:avLst/>
          </a:prstGeom>
          <a:noFill/>
          <a:ln/>
        </p:spPr>
        <p:txBody>
          <a:bodyPr wrap="none" lIns="0" tIns="0" rIns="0" bIns="0" rtlCol="0" anchor="t"/>
          <a:lstStyle/>
          <a:p>
            <a:pPr algn="l" indent="0" marL="0">
              <a:buNone/>
            </a:pPr>
            <a:r>
              <a:rPr lang="en-US" sz="4339" spc="-260" kern="0" dirty="0">
                <a:solidFill>
                  <a:srgbClr val="3C4ED6"/>
                </a:solidFill>
                <a:latin typeface="Albert Sans Medium" pitchFamily="34" charset="0"/>
                <a:ea typeface="Albert Sans Medium" pitchFamily="34" charset="-122"/>
                <a:cs typeface="Albert Sans Medium" pitchFamily="34" charset="-120"/>
              </a:rPr>
              <a:t>39</a:t>
            </a:r>
            <a:endParaRPr lang="en-US" sz="4339" dirty="0"/>
          </a:p>
        </p:txBody>
      </p:sp>
      <p:sp>
        <p:nvSpPr>
          <p:cNvPr id="26" name="Editable text 24: Rhode Island"/>
          <p:cNvSpPr/>
          <p:nvPr/>
        </p:nvSpPr>
        <p:spPr>
          <a:xfrm>
            <a:off x="8764935" y="4901213"/>
            <a:ext cx="1182385"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Rhode Island</a:t>
            </a:r>
            <a:endParaRPr lang="en-US" sz="1534" dirty="0"/>
          </a:p>
        </p:txBody>
      </p:sp>
      <p:sp>
        <p:nvSpPr>
          <p:cNvPr id="27" name="Editable text 25: municipalities"/>
          <p:cNvSpPr/>
          <p:nvPr/>
        </p:nvSpPr>
        <p:spPr>
          <a:xfrm>
            <a:off x="8764935" y="5158388"/>
            <a:ext cx="1266336"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municipalities</a:t>
            </a:r>
            <a:endParaRPr lang="en-US" sz="1534" dirty="0"/>
          </a:p>
        </p:txBody>
      </p:sp>
      <p:sp>
        <p:nvSpPr>
          <p:cNvPr id="28" name="Editable text 26: Land-use datasets"/>
          <p:cNvSpPr/>
          <p:nvPr/>
        </p:nvSpPr>
        <p:spPr>
          <a:xfrm>
            <a:off x="8764935" y="5501554"/>
            <a:ext cx="1394838"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Land-use datasets</a:t>
            </a:r>
            <a:endParaRPr lang="en-US" sz="1216" dirty="0"/>
          </a:p>
        </p:txBody>
      </p:sp>
      <p:sp>
        <p:nvSpPr>
          <p:cNvPr id="29" name="Editable text 27: standardized with state"/>
          <p:cNvSpPr/>
          <p:nvPr/>
        </p:nvSpPr>
        <p:spPr>
          <a:xfrm>
            <a:off x="8764935" y="5720629"/>
            <a:ext cx="1734394"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standardized with state</a:t>
            </a:r>
            <a:endParaRPr lang="en-US" sz="1216" dirty="0"/>
          </a:p>
        </p:txBody>
      </p:sp>
      <p:sp>
        <p:nvSpPr>
          <p:cNvPr id="30" name="Editable text 28: planners and Go Consulting"/>
          <p:cNvSpPr/>
          <p:nvPr/>
        </p:nvSpPr>
        <p:spPr>
          <a:xfrm>
            <a:off x="8764935" y="5939704"/>
            <a:ext cx="2054019"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planners and Go Consulting</a:t>
            </a:r>
            <a:endParaRPr lang="en-US" sz="1216" dirty="0"/>
          </a:p>
        </p:txBody>
      </p:sp>
      <p:sp>
        <p:nvSpPr>
          <p:cNvPr id="31" name="Editable text 29: Services."/>
          <p:cNvSpPr/>
          <p:nvPr/>
        </p:nvSpPr>
        <p:spPr>
          <a:xfrm>
            <a:off x="8764935" y="6149254"/>
            <a:ext cx="720363"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Services.</a:t>
            </a:r>
            <a:endParaRPr lang="en-US" sz="1216" dirty="0"/>
          </a:p>
        </p:txBody>
      </p:sp>
      <p:sp>
        <p:nvSpPr>
          <p:cNvPr id="32" name="Editable text 30: &amp;gt;35%"/>
          <p:cNvSpPr/>
          <p:nvPr/>
        </p:nvSpPr>
        <p:spPr>
          <a:xfrm>
            <a:off x="11620202" y="3953280"/>
            <a:ext cx="1582963" cy="771430"/>
          </a:xfrm>
          <a:prstGeom prst="rect">
            <a:avLst/>
          </a:prstGeom>
          <a:noFill/>
          <a:ln/>
        </p:spPr>
        <p:txBody>
          <a:bodyPr wrap="none" lIns="0" tIns="0" rIns="0" bIns="0" rtlCol="0" anchor="t"/>
          <a:lstStyle/>
          <a:p>
            <a:pPr algn="l" indent="0" marL="0">
              <a:buNone/>
            </a:pPr>
            <a:r>
              <a:rPr lang="en-US" sz="4339" spc="-260" kern="0" dirty="0">
                <a:solidFill>
                  <a:srgbClr val="3C4ED6"/>
                </a:solidFill>
                <a:latin typeface="Albert Sans Medium" pitchFamily="34" charset="0"/>
                <a:ea typeface="Albert Sans Medium" pitchFamily="34" charset="-122"/>
                <a:cs typeface="Albert Sans Medium" pitchFamily="34" charset="-120"/>
              </a:rPr>
              <a:t>&gt;35%</a:t>
            </a:r>
            <a:endParaRPr lang="en-US" sz="4339" dirty="0"/>
          </a:p>
        </p:txBody>
      </p:sp>
      <p:sp>
        <p:nvSpPr>
          <p:cNvPr id="33" name="Editable text 31: U.S. population"/>
          <p:cNvSpPr/>
          <p:nvPr/>
        </p:nvSpPr>
        <p:spPr>
          <a:xfrm>
            <a:off x="11620202" y="4901213"/>
            <a:ext cx="1366278"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U.S. population</a:t>
            </a:r>
            <a:endParaRPr lang="en-US" sz="1534" dirty="0"/>
          </a:p>
        </p:txBody>
      </p:sp>
      <p:sp>
        <p:nvSpPr>
          <p:cNvPr id="34" name="Editable text 32: Served by HR&amp;amp;A’s broadband"/>
          <p:cNvSpPr/>
          <p:nvPr/>
        </p:nvSpPr>
        <p:spPr>
          <a:xfrm>
            <a:off x="11620202" y="5253904"/>
            <a:ext cx="2177913"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Served by HR&amp;A’s broadband</a:t>
            </a:r>
            <a:endParaRPr lang="en-US" sz="1216" dirty="0"/>
          </a:p>
        </p:txBody>
      </p:sp>
      <p:sp>
        <p:nvSpPr>
          <p:cNvPr id="35" name="Editable text 33: and digital-opportunity"/>
          <p:cNvSpPr/>
          <p:nvPr/>
        </p:nvSpPr>
        <p:spPr>
          <a:xfrm>
            <a:off x="11620202" y="5463454"/>
            <a:ext cx="1735782"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and digital-opportunity</a:t>
            </a:r>
            <a:endParaRPr lang="en-US" sz="1216" dirty="0"/>
          </a:p>
        </p:txBody>
      </p:sp>
      <p:sp>
        <p:nvSpPr>
          <p:cNvPr id="36" name="Editable text 34: clients."/>
          <p:cNvSpPr/>
          <p:nvPr/>
        </p:nvSpPr>
        <p:spPr>
          <a:xfrm>
            <a:off x="11620202" y="5682529"/>
            <a:ext cx="584109"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clients.</a:t>
            </a:r>
            <a:endParaRPr lang="en-US" sz="1216" dirty="0"/>
          </a:p>
        </p:txBody>
      </p:sp>
      <p:sp>
        <p:nvSpPr>
          <p:cNvPr id="37" name="Editable text 35: Program scale, not product impact."/>
          <p:cNvSpPr/>
          <p:nvPr/>
        </p:nvSpPr>
        <p:spPr>
          <a:xfrm>
            <a:off x="11760547" y="6809713"/>
            <a:ext cx="2353095" cy="197491"/>
          </a:xfrm>
          <a:prstGeom prst="rect">
            <a:avLst/>
          </a:prstGeom>
          <a:noFill/>
          <a:ln/>
        </p:spPr>
        <p:txBody>
          <a:bodyPr wrap="none" lIns="0" tIns="0" rIns="0" bIns="0" rtlCol="0" anchor="t"/>
          <a:lstStyle/>
          <a:p>
            <a:pPr algn="l" indent="0" marL="0">
              <a:buNone/>
            </a:pPr>
            <a:r>
              <a:rPr lang="en-US" sz="1111" dirty="0">
                <a:solidFill>
                  <a:srgbClr val="646973"/>
                </a:solidFill>
                <a:latin typeface="Albert Sans" pitchFamily="34" charset="0"/>
                <a:ea typeface="Albert Sans" pitchFamily="34" charset="-122"/>
                <a:cs typeface="Albert Sans" pitchFamily="34" charset="-120"/>
              </a:rPr>
              <a:t>Program scale, not product impact.</a:t>
            </a:r>
            <a:endParaRPr lang="en-US" sz="1111" dirty="0"/>
          </a:p>
        </p:txBody>
      </p:sp>
      <p:sp>
        <p:nvSpPr>
          <p:cNvPr id="38" name="Editable text 36: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39" name="Editable text 37: 02 / 10"/>
          <p:cNvSpPr/>
          <p:nvPr/>
        </p:nvSpPr>
        <p:spPr>
          <a:xfrm>
            <a:off x="13524905" y="7688980"/>
            <a:ext cx="60360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02 / 10</a:t>
            </a:r>
            <a:endParaRPr lang="en-US" sz="1323" dirty="0"/>
          </a:p>
        </p:txBody>
      </p:sp>
      <p:sp>
        <p:nvSpPr>
          <p:cNvPr id="40" name="Editable text 38: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Our advantage"/>
          <p:cNvSpPr/>
          <p:nvPr/>
        </p:nvSpPr>
        <p:spPr>
          <a:xfrm>
            <a:off x="594271" y="970621"/>
            <a:ext cx="1330754"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Our advantage</a:t>
            </a:r>
            <a:endParaRPr lang="en-US" sz="1429" dirty="0"/>
          </a:p>
        </p:txBody>
      </p:sp>
      <p:sp>
        <p:nvSpPr>
          <p:cNvPr id="6" name="Editable text 4: Expertise "/>
          <p:cNvSpPr/>
          <p:nvPr/>
        </p:nvSpPr>
        <p:spPr>
          <a:xfrm>
            <a:off x="594271" y="1320084"/>
            <a:ext cx="3559671" cy="1072534"/>
          </a:xfrm>
          <a:prstGeom prst="rect">
            <a:avLst/>
          </a:prstGeom>
          <a:noFill/>
          <a:ln/>
        </p:spPr>
        <p:txBody>
          <a:bodyPr wrap="none" lIns="0" tIns="0" rIns="0" bIns="0" rtlCol="0" anchor="t"/>
          <a:lstStyle/>
          <a:p>
            <a:pPr algn="l" indent="0" marL="0">
              <a:buNone/>
            </a:pPr>
            <a:r>
              <a:rPr lang="en-US" sz="6032" spc="-332" kern="0" dirty="0">
                <a:solidFill>
                  <a:srgbClr val="17191E"/>
                </a:solidFill>
                <a:latin typeface="Albert Sans Medium" pitchFamily="34" charset="0"/>
                <a:ea typeface="Albert Sans Medium" pitchFamily="34" charset="-122"/>
                <a:cs typeface="Albert Sans Medium" pitchFamily="34" charset="-120"/>
              </a:rPr>
              <a:t>Expertise </a:t>
            </a:r>
            <a:endParaRPr lang="en-US" sz="6032" dirty="0"/>
          </a:p>
        </p:txBody>
      </p:sp>
      <p:sp>
        <p:nvSpPr>
          <p:cNvPr id="7" name="Editable text 5: before code."/>
          <p:cNvSpPr/>
          <p:nvPr/>
        </p:nvSpPr>
        <p:spPr>
          <a:xfrm>
            <a:off x="3690491" y="1320084"/>
            <a:ext cx="4395971" cy="1072534"/>
          </a:xfrm>
          <a:prstGeom prst="rect">
            <a:avLst/>
          </a:prstGeom>
          <a:noFill/>
          <a:ln/>
        </p:spPr>
        <p:txBody>
          <a:bodyPr wrap="none" lIns="0" tIns="0" rIns="0" bIns="0" rtlCol="0" anchor="t"/>
          <a:lstStyle/>
          <a:p>
            <a:pPr algn="l" indent="0" marL="0">
              <a:buNone/>
            </a:pPr>
            <a:r>
              <a:rPr lang="en-US" sz="6032" spc="-332" kern="0" dirty="0">
                <a:solidFill>
                  <a:srgbClr val="3C4ED6"/>
                </a:solidFill>
                <a:latin typeface="Albert Sans Medium" pitchFamily="34" charset="0"/>
                <a:ea typeface="Albert Sans Medium" pitchFamily="34" charset="-122"/>
                <a:cs typeface="Albert Sans Medium" pitchFamily="34" charset="-120"/>
              </a:rPr>
              <a:t>before code.</a:t>
            </a:r>
            <a:endParaRPr lang="en-US" sz="6032" dirty="0"/>
          </a:p>
        </p:txBody>
      </p:sp>
      <p:sp>
        <p:nvSpPr>
          <p:cNvPr id="8" name="Editable text 6: We design digital tools from the realities of policy, s"/>
          <p:cNvSpPr/>
          <p:nvPr/>
        </p:nvSpPr>
        <p:spPr>
          <a:xfrm>
            <a:off x="594271" y="2383245"/>
            <a:ext cx="10442105"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We design digital tools from the realities of policy, service delivery, and public-interest operations.</a:t>
            </a:r>
            <a:endParaRPr lang="en-US" sz="1799" dirty="0"/>
          </a:p>
        </p:txBody>
      </p:sp>
      <p:sp>
        <p:nvSpPr>
          <p:cNvPr id="9" name="Editable text 7: Public-interest fluency"/>
          <p:cNvSpPr/>
          <p:nvPr/>
        </p:nvSpPr>
        <p:spPr>
          <a:xfrm>
            <a:off x="832247" y="4075462"/>
            <a:ext cx="2474822" cy="338709"/>
          </a:xfrm>
          <a:prstGeom prst="rect">
            <a:avLst/>
          </a:prstGeom>
          <a:noFill/>
          <a:ln/>
        </p:spPr>
        <p:txBody>
          <a:bodyPr wrap="none" lIns="0" tIns="0" rIns="0" bIns="0" rtlCol="0" anchor="t"/>
          <a:lstStyle/>
          <a:p>
            <a:pPr algn="l" indent="0" marL="0">
              <a:buNone/>
            </a:pPr>
            <a:r>
              <a:rPr lang="en-US" sz="1905" spc="-67" kern="0" dirty="0">
                <a:solidFill>
                  <a:srgbClr val="17191E"/>
                </a:solidFill>
                <a:latin typeface="Albert Sans Medium" pitchFamily="34" charset="0"/>
                <a:ea typeface="Albert Sans Medium" pitchFamily="34" charset="-122"/>
                <a:cs typeface="Albert Sans Medium" pitchFamily="34" charset="-120"/>
              </a:rPr>
              <a:t>Public-interest fluency</a:t>
            </a:r>
            <a:endParaRPr lang="en-US" sz="1905" dirty="0"/>
          </a:p>
        </p:txBody>
      </p:sp>
      <p:sp>
        <p:nvSpPr>
          <p:cNvPr id="10" name="Editable text 8: Broadband, digital equity,"/>
          <p:cNvSpPr/>
          <p:nvPr/>
        </p:nvSpPr>
        <p:spPr>
          <a:xfrm>
            <a:off x="832247" y="4472588"/>
            <a:ext cx="2401362"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Broadband, digital equity,</a:t>
            </a:r>
            <a:endParaRPr lang="en-US" sz="1534" dirty="0"/>
          </a:p>
        </p:txBody>
      </p:sp>
      <p:sp>
        <p:nvSpPr>
          <p:cNvPr id="11" name="Editable text 9: policy, and service systems."/>
          <p:cNvSpPr/>
          <p:nvPr/>
        </p:nvSpPr>
        <p:spPr>
          <a:xfrm>
            <a:off x="832247" y="4748813"/>
            <a:ext cx="2599099"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policy, and service systems.</a:t>
            </a:r>
            <a:endParaRPr lang="en-US" sz="1534" dirty="0"/>
          </a:p>
        </p:txBody>
      </p:sp>
      <p:sp>
        <p:nvSpPr>
          <p:cNvPr id="12" name="Editable text 10: Product thinking"/>
          <p:cNvSpPr/>
          <p:nvPr/>
        </p:nvSpPr>
        <p:spPr>
          <a:xfrm>
            <a:off x="4243090" y="4075462"/>
            <a:ext cx="1849899" cy="338709"/>
          </a:xfrm>
          <a:prstGeom prst="rect">
            <a:avLst/>
          </a:prstGeom>
          <a:noFill/>
          <a:ln/>
        </p:spPr>
        <p:txBody>
          <a:bodyPr wrap="none" lIns="0" tIns="0" rIns="0" bIns="0" rtlCol="0" anchor="t"/>
          <a:lstStyle/>
          <a:p>
            <a:pPr algn="l" indent="0" marL="0">
              <a:buNone/>
            </a:pPr>
            <a:r>
              <a:rPr lang="en-US" sz="1905" spc="-67" kern="0" dirty="0">
                <a:solidFill>
                  <a:srgbClr val="17191E"/>
                </a:solidFill>
                <a:latin typeface="Albert Sans Medium" pitchFamily="34" charset="0"/>
                <a:ea typeface="Albert Sans Medium" pitchFamily="34" charset="-122"/>
                <a:cs typeface="Albert Sans Medium" pitchFamily="34" charset="-120"/>
              </a:rPr>
              <a:t>Product thinking</a:t>
            </a:r>
            <a:endParaRPr lang="en-US" sz="1905" dirty="0"/>
          </a:p>
        </p:txBody>
      </p:sp>
      <p:sp>
        <p:nvSpPr>
          <p:cNvPr id="13" name="Editable text 11: Decisions, workflows, and"/>
          <p:cNvSpPr/>
          <p:nvPr/>
        </p:nvSpPr>
        <p:spPr>
          <a:xfrm>
            <a:off x="4243090" y="4472588"/>
            <a:ext cx="2409178"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Decisions, workflows, and</a:t>
            </a:r>
            <a:endParaRPr lang="en-US" sz="1534" dirty="0"/>
          </a:p>
        </p:txBody>
      </p:sp>
      <p:sp>
        <p:nvSpPr>
          <p:cNvPr id="14" name="Editable text 12: user tasks."/>
          <p:cNvSpPr/>
          <p:nvPr/>
        </p:nvSpPr>
        <p:spPr>
          <a:xfrm>
            <a:off x="4243090" y="4748813"/>
            <a:ext cx="1046996"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user tasks.</a:t>
            </a:r>
            <a:endParaRPr lang="en-US" sz="1534" dirty="0"/>
          </a:p>
        </p:txBody>
      </p:sp>
      <p:sp>
        <p:nvSpPr>
          <p:cNvPr id="15" name="Editable text 13: Data design"/>
          <p:cNvSpPr/>
          <p:nvPr/>
        </p:nvSpPr>
        <p:spPr>
          <a:xfrm>
            <a:off x="7653933" y="4075462"/>
            <a:ext cx="1378585" cy="338709"/>
          </a:xfrm>
          <a:prstGeom prst="rect">
            <a:avLst/>
          </a:prstGeom>
          <a:noFill/>
          <a:ln/>
        </p:spPr>
        <p:txBody>
          <a:bodyPr wrap="none" lIns="0" tIns="0" rIns="0" bIns="0" rtlCol="0" anchor="t"/>
          <a:lstStyle/>
          <a:p>
            <a:pPr algn="l" indent="0" marL="0">
              <a:buNone/>
            </a:pPr>
            <a:r>
              <a:rPr lang="en-US" sz="1905" spc="-67" kern="0" dirty="0">
                <a:solidFill>
                  <a:srgbClr val="17191E"/>
                </a:solidFill>
                <a:latin typeface="Albert Sans Medium" pitchFamily="34" charset="0"/>
                <a:ea typeface="Albert Sans Medium" pitchFamily="34" charset="-122"/>
                <a:cs typeface="Albert Sans Medium" pitchFamily="34" charset="-120"/>
              </a:rPr>
              <a:t>Data design</a:t>
            </a:r>
            <a:endParaRPr lang="en-US" sz="1905" dirty="0"/>
          </a:p>
        </p:txBody>
      </p:sp>
      <p:sp>
        <p:nvSpPr>
          <p:cNvPr id="16" name="Editable text 14: Definitions, stewardship,"/>
          <p:cNvSpPr/>
          <p:nvPr/>
        </p:nvSpPr>
        <p:spPr>
          <a:xfrm>
            <a:off x="7653933" y="4472588"/>
            <a:ext cx="2286808"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Definitions, stewardship,</a:t>
            </a:r>
            <a:endParaRPr lang="en-US" sz="1534" dirty="0"/>
          </a:p>
        </p:txBody>
      </p:sp>
      <p:sp>
        <p:nvSpPr>
          <p:cNvPr id="17" name="Editable text 15: validation, and updates."/>
          <p:cNvSpPr/>
          <p:nvPr/>
        </p:nvSpPr>
        <p:spPr>
          <a:xfrm>
            <a:off x="7653933" y="4748813"/>
            <a:ext cx="2226224"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validation, and updates.</a:t>
            </a:r>
            <a:endParaRPr lang="en-US" sz="1534" dirty="0"/>
          </a:p>
        </p:txBody>
      </p:sp>
      <p:sp>
        <p:nvSpPr>
          <p:cNvPr id="18" name="Editable text 16: Technical delivery"/>
          <p:cNvSpPr/>
          <p:nvPr/>
        </p:nvSpPr>
        <p:spPr>
          <a:xfrm>
            <a:off x="11064776" y="4075462"/>
            <a:ext cx="1991652" cy="338709"/>
          </a:xfrm>
          <a:prstGeom prst="rect">
            <a:avLst/>
          </a:prstGeom>
          <a:noFill/>
          <a:ln/>
        </p:spPr>
        <p:txBody>
          <a:bodyPr wrap="none" lIns="0" tIns="0" rIns="0" bIns="0" rtlCol="0" anchor="t"/>
          <a:lstStyle/>
          <a:p>
            <a:pPr algn="l" indent="0" marL="0">
              <a:buNone/>
            </a:pPr>
            <a:r>
              <a:rPr lang="en-US" sz="1905" spc="-67" kern="0" dirty="0">
                <a:solidFill>
                  <a:srgbClr val="17191E"/>
                </a:solidFill>
                <a:latin typeface="Albert Sans Medium" pitchFamily="34" charset="0"/>
                <a:ea typeface="Albert Sans Medium" pitchFamily="34" charset="-122"/>
                <a:cs typeface="Albert Sans Medium" pitchFamily="34" charset="-120"/>
              </a:rPr>
              <a:t>Technical delivery</a:t>
            </a:r>
            <a:endParaRPr lang="en-US" sz="1905" dirty="0"/>
          </a:p>
        </p:txBody>
      </p:sp>
      <p:sp>
        <p:nvSpPr>
          <p:cNvPr id="19" name="Editable text 17: Modern frontend,"/>
          <p:cNvSpPr/>
          <p:nvPr/>
        </p:nvSpPr>
        <p:spPr>
          <a:xfrm>
            <a:off x="11064776" y="4472588"/>
            <a:ext cx="1666321"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Modern frontend,</a:t>
            </a:r>
            <a:endParaRPr lang="en-US" sz="1534" dirty="0"/>
          </a:p>
        </p:txBody>
      </p:sp>
      <p:sp>
        <p:nvSpPr>
          <p:cNvPr id="20" name="Editable text 18: accessibility, QA, and secure"/>
          <p:cNvSpPr/>
          <p:nvPr/>
        </p:nvSpPr>
        <p:spPr>
          <a:xfrm>
            <a:off x="11064776" y="4748813"/>
            <a:ext cx="2674127"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accessibility, QA, and secure</a:t>
            </a:r>
            <a:endParaRPr lang="en-US" sz="1534" dirty="0"/>
          </a:p>
        </p:txBody>
      </p:sp>
      <p:sp>
        <p:nvSpPr>
          <p:cNvPr id="21" name="Editable text 19: implementation."/>
          <p:cNvSpPr/>
          <p:nvPr/>
        </p:nvSpPr>
        <p:spPr>
          <a:xfrm>
            <a:off x="11064776" y="5015513"/>
            <a:ext cx="1559172"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implementation.</a:t>
            </a:r>
            <a:endParaRPr lang="en-US" sz="1534" dirty="0"/>
          </a:p>
        </p:txBody>
      </p:sp>
      <p:sp>
        <p:nvSpPr>
          <p:cNvPr id="22" name="Editable text 20: Working digital products for real-world use."/>
          <p:cNvSpPr/>
          <p:nvPr/>
        </p:nvSpPr>
        <p:spPr>
          <a:xfrm>
            <a:off x="5119688" y="6307503"/>
            <a:ext cx="5092182" cy="348044"/>
          </a:xfrm>
          <a:prstGeom prst="rect">
            <a:avLst/>
          </a:prstGeom>
          <a:noFill/>
          <a:ln/>
        </p:spPr>
        <p:txBody>
          <a:bodyPr wrap="none" lIns="0" tIns="0" rIns="0" bIns="0" rtlCol="0" anchor="t"/>
          <a:lstStyle/>
          <a:p>
            <a:pPr algn="l" indent="0" marL="0">
              <a:buNone/>
            </a:pPr>
            <a:r>
              <a:rPr lang="en-US" sz="1958" dirty="0">
                <a:solidFill>
                  <a:srgbClr val="3C4ED6"/>
                </a:solidFill>
                <a:latin typeface="Albert Sans" pitchFamily="34" charset="0"/>
                <a:ea typeface="Albert Sans" pitchFamily="34" charset="-122"/>
                <a:cs typeface="Albert Sans" pitchFamily="34" charset="-120"/>
              </a:rPr>
              <a:t>Working digital products for real-world use.</a:t>
            </a:r>
            <a:endParaRPr lang="en-US" sz="1958" dirty="0"/>
          </a:p>
        </p:txBody>
      </p:sp>
      <p:sp>
        <p:nvSpPr>
          <p:cNvPr id="23" name="Editable text 21: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24" name="Editable text 22: 03 / 10"/>
          <p:cNvSpPr/>
          <p:nvPr/>
        </p:nvSpPr>
        <p:spPr>
          <a:xfrm>
            <a:off x="13525202" y="7688980"/>
            <a:ext cx="603311"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03 / 10</a:t>
            </a:r>
            <a:endParaRPr lang="en-US" sz="1323" dirty="0"/>
          </a:p>
        </p:txBody>
      </p:sp>
      <p:sp>
        <p:nvSpPr>
          <p:cNvPr id="25" name="Editable text 23: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Our methodology"/>
          <p:cNvSpPr/>
          <p:nvPr/>
        </p:nvSpPr>
        <p:spPr>
          <a:xfrm>
            <a:off x="12682091" y="421405"/>
            <a:ext cx="1446425"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Our methodology</a:t>
            </a:r>
            <a:endParaRPr lang="en-US" sz="1323" dirty="0"/>
          </a:p>
        </p:txBody>
      </p:sp>
      <p:sp>
        <p:nvSpPr>
          <p:cNvPr id="6" name="Editable text 4: Our methodology"/>
          <p:cNvSpPr/>
          <p:nvPr/>
        </p:nvSpPr>
        <p:spPr>
          <a:xfrm>
            <a:off x="594271" y="970621"/>
            <a:ext cx="1566761"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Our methodology</a:t>
            </a:r>
            <a:endParaRPr lang="en-US" sz="1429" dirty="0"/>
          </a:p>
        </p:txBody>
      </p:sp>
      <p:sp>
        <p:nvSpPr>
          <p:cNvPr id="7" name="Editable text 5: Understand. Build. "/>
          <p:cNvSpPr/>
          <p:nvPr/>
        </p:nvSpPr>
        <p:spPr>
          <a:xfrm>
            <a:off x="594271" y="1320084"/>
            <a:ext cx="6337940" cy="1072534"/>
          </a:xfrm>
          <a:prstGeom prst="rect">
            <a:avLst/>
          </a:prstGeom>
          <a:noFill/>
          <a:ln/>
        </p:spPr>
        <p:txBody>
          <a:bodyPr wrap="none" lIns="0" tIns="0" rIns="0" bIns="0" rtlCol="0" anchor="t"/>
          <a:lstStyle/>
          <a:p>
            <a:pPr algn="l" indent="0" marL="0">
              <a:buNone/>
            </a:pPr>
            <a:r>
              <a:rPr lang="en-US" sz="6032" spc="-332" kern="0" dirty="0">
                <a:solidFill>
                  <a:srgbClr val="17191E"/>
                </a:solidFill>
                <a:latin typeface="Albert Sans Medium" pitchFamily="34" charset="0"/>
                <a:ea typeface="Albert Sans Medium" pitchFamily="34" charset="-122"/>
                <a:cs typeface="Albert Sans Medium" pitchFamily="34" charset="-120"/>
              </a:rPr>
              <a:t>Understand. Build. </a:t>
            </a:r>
            <a:endParaRPr lang="en-US" sz="6032" dirty="0"/>
          </a:p>
        </p:txBody>
      </p:sp>
      <p:sp>
        <p:nvSpPr>
          <p:cNvPr id="8" name="Editable text 6: Prove."/>
          <p:cNvSpPr/>
          <p:nvPr/>
        </p:nvSpPr>
        <p:spPr>
          <a:xfrm>
            <a:off x="6468814" y="1320084"/>
            <a:ext cx="2408204" cy="1072534"/>
          </a:xfrm>
          <a:prstGeom prst="rect">
            <a:avLst/>
          </a:prstGeom>
          <a:noFill/>
          <a:ln/>
        </p:spPr>
        <p:txBody>
          <a:bodyPr wrap="none" lIns="0" tIns="0" rIns="0" bIns="0" rtlCol="0" anchor="t"/>
          <a:lstStyle/>
          <a:p>
            <a:pPr algn="l" indent="0" marL="0">
              <a:buNone/>
            </a:pPr>
            <a:r>
              <a:rPr lang="en-US" sz="6032" spc="-332" kern="0" dirty="0">
                <a:solidFill>
                  <a:srgbClr val="3C4ED6"/>
                </a:solidFill>
                <a:latin typeface="Albert Sans Medium" pitchFamily="34" charset="0"/>
                <a:ea typeface="Albert Sans Medium" pitchFamily="34" charset="-122"/>
                <a:cs typeface="Albert Sans Medium" pitchFamily="34" charset="-120"/>
              </a:rPr>
              <a:t>Prove.</a:t>
            </a:r>
            <a:endParaRPr lang="en-US" sz="6032" dirty="0"/>
          </a:p>
        </p:txBody>
      </p:sp>
      <p:sp>
        <p:nvSpPr>
          <p:cNvPr id="9" name="Editable text 7: An expert-led delivery approach: agree the problem, bui"/>
          <p:cNvSpPr/>
          <p:nvPr/>
        </p:nvSpPr>
        <p:spPr>
          <a:xfrm>
            <a:off x="594271" y="2383245"/>
            <a:ext cx="11471968"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An expert-led delivery approach: agree the problem, build with domain experts, and validate before handoff.</a:t>
            </a:r>
            <a:endParaRPr lang="en-US" sz="1799" dirty="0"/>
          </a:p>
        </p:txBody>
      </p:sp>
      <p:sp>
        <p:nvSpPr>
          <p:cNvPr id="10" name="Editable text 8: Understand"/>
          <p:cNvSpPr/>
          <p:nvPr/>
        </p:nvSpPr>
        <p:spPr>
          <a:xfrm>
            <a:off x="863054" y="3820282"/>
            <a:ext cx="2613555" cy="658616"/>
          </a:xfrm>
          <a:prstGeom prst="rect">
            <a:avLst/>
          </a:prstGeom>
          <a:noFill/>
          <a:ln/>
        </p:spPr>
        <p:txBody>
          <a:bodyPr wrap="none" lIns="0" tIns="0" rIns="0" bIns="0" rtlCol="0" anchor="t"/>
          <a:lstStyle/>
          <a:p>
            <a:pPr algn="l" indent="0" marL="0">
              <a:buNone/>
            </a:pPr>
            <a:r>
              <a:rPr lang="en-US" sz="3704" spc="-130" kern="0" dirty="0">
                <a:solidFill>
                  <a:srgbClr val="17191E"/>
                </a:solidFill>
                <a:latin typeface="Albert Sans Medium" pitchFamily="34" charset="0"/>
                <a:ea typeface="Albert Sans Medium" pitchFamily="34" charset="-122"/>
                <a:cs typeface="Albert Sans Medium" pitchFamily="34" charset="-120"/>
              </a:rPr>
              <a:t>Understand</a:t>
            </a:r>
            <a:endParaRPr lang="en-US" sz="3704" dirty="0"/>
          </a:p>
        </p:txBody>
      </p:sp>
      <p:sp>
        <p:nvSpPr>
          <p:cNvPr id="11" name="Editable text 9: People + purpose"/>
          <p:cNvSpPr/>
          <p:nvPr/>
        </p:nvSpPr>
        <p:spPr>
          <a:xfrm>
            <a:off x="863054" y="4592869"/>
            <a:ext cx="2321765" cy="376314"/>
          </a:xfrm>
          <a:prstGeom prst="rect">
            <a:avLst/>
          </a:prstGeom>
          <a:noFill/>
          <a:ln/>
        </p:spPr>
        <p:txBody>
          <a:bodyPr wrap="none" lIns="0" tIns="0" rIns="0" bIns="0" rtlCol="0" anchor="t"/>
          <a:lstStyle/>
          <a:p>
            <a:pPr algn="l" indent="0" marL="0">
              <a:buNone/>
            </a:pPr>
            <a:r>
              <a:rPr lang="en-US" sz="2116" dirty="0">
                <a:solidFill>
                  <a:srgbClr val="17191E"/>
                </a:solidFill>
                <a:latin typeface="Albert Sans" pitchFamily="34" charset="0"/>
                <a:ea typeface="Albert Sans" pitchFamily="34" charset="-122"/>
                <a:cs typeface="Albert Sans" pitchFamily="34" charset="-120"/>
              </a:rPr>
              <a:t>People + purpose</a:t>
            </a:r>
            <a:endParaRPr lang="en-US" sz="2116" dirty="0"/>
          </a:p>
        </p:txBody>
      </p:sp>
      <p:sp>
        <p:nvSpPr>
          <p:cNvPr id="12" name="Editable text 10: Build"/>
          <p:cNvSpPr/>
          <p:nvPr/>
        </p:nvSpPr>
        <p:spPr>
          <a:xfrm>
            <a:off x="5419725" y="3820282"/>
            <a:ext cx="1291578" cy="658616"/>
          </a:xfrm>
          <a:prstGeom prst="rect">
            <a:avLst/>
          </a:prstGeom>
          <a:noFill/>
          <a:ln/>
        </p:spPr>
        <p:txBody>
          <a:bodyPr wrap="none" lIns="0" tIns="0" rIns="0" bIns="0" rtlCol="0" anchor="t"/>
          <a:lstStyle/>
          <a:p>
            <a:pPr algn="l" indent="0" marL="0">
              <a:buNone/>
            </a:pPr>
            <a:r>
              <a:rPr lang="en-US" sz="3704" spc="-130" kern="0" dirty="0">
                <a:solidFill>
                  <a:srgbClr val="17191E"/>
                </a:solidFill>
                <a:latin typeface="Albert Sans Medium" pitchFamily="34" charset="0"/>
                <a:ea typeface="Albert Sans Medium" pitchFamily="34" charset="-122"/>
                <a:cs typeface="Albert Sans Medium" pitchFamily="34" charset="-120"/>
              </a:rPr>
              <a:t>Build</a:t>
            </a:r>
            <a:endParaRPr lang="en-US" sz="3704" dirty="0"/>
          </a:p>
        </p:txBody>
      </p:sp>
      <p:sp>
        <p:nvSpPr>
          <p:cNvPr id="13" name="Editable text 11: Data + design"/>
          <p:cNvSpPr/>
          <p:nvPr/>
        </p:nvSpPr>
        <p:spPr>
          <a:xfrm>
            <a:off x="5419725" y="4592869"/>
            <a:ext cx="1869404" cy="376314"/>
          </a:xfrm>
          <a:prstGeom prst="rect">
            <a:avLst/>
          </a:prstGeom>
          <a:noFill/>
          <a:ln/>
        </p:spPr>
        <p:txBody>
          <a:bodyPr wrap="none" lIns="0" tIns="0" rIns="0" bIns="0" rtlCol="0" anchor="t"/>
          <a:lstStyle/>
          <a:p>
            <a:pPr algn="l" indent="0" marL="0">
              <a:buNone/>
            </a:pPr>
            <a:r>
              <a:rPr lang="en-US" sz="2116" dirty="0">
                <a:solidFill>
                  <a:srgbClr val="17191E"/>
                </a:solidFill>
                <a:latin typeface="Albert Sans" pitchFamily="34" charset="0"/>
                <a:ea typeface="Albert Sans" pitchFamily="34" charset="-122"/>
                <a:cs typeface="Albert Sans" pitchFamily="34" charset="-120"/>
              </a:rPr>
              <a:t>Data + design</a:t>
            </a:r>
            <a:endParaRPr lang="en-US" sz="2116" dirty="0"/>
          </a:p>
        </p:txBody>
      </p:sp>
      <p:sp>
        <p:nvSpPr>
          <p:cNvPr id="14" name="Editable text 12: Prove"/>
          <p:cNvSpPr/>
          <p:nvPr/>
        </p:nvSpPr>
        <p:spPr>
          <a:xfrm>
            <a:off x="9976545" y="3820282"/>
            <a:ext cx="1436890" cy="658616"/>
          </a:xfrm>
          <a:prstGeom prst="rect">
            <a:avLst/>
          </a:prstGeom>
          <a:noFill/>
          <a:ln/>
        </p:spPr>
        <p:txBody>
          <a:bodyPr wrap="none" lIns="0" tIns="0" rIns="0" bIns="0" rtlCol="0" anchor="t"/>
          <a:lstStyle/>
          <a:p>
            <a:pPr algn="l" indent="0" marL="0">
              <a:buNone/>
            </a:pPr>
            <a:r>
              <a:rPr lang="en-US" sz="3704" spc="-130" kern="0" dirty="0">
                <a:solidFill>
                  <a:srgbClr val="FFFFFF"/>
                </a:solidFill>
                <a:latin typeface="Albert Sans Medium" pitchFamily="34" charset="0"/>
                <a:ea typeface="Albert Sans Medium" pitchFamily="34" charset="-122"/>
                <a:cs typeface="Albert Sans Medium" pitchFamily="34" charset="-120"/>
              </a:rPr>
              <a:t>Prove</a:t>
            </a:r>
            <a:endParaRPr lang="en-US" sz="3704" dirty="0"/>
          </a:p>
        </p:txBody>
      </p:sp>
      <p:sp>
        <p:nvSpPr>
          <p:cNvPr id="15" name="Editable text 13: Experts + users"/>
          <p:cNvSpPr/>
          <p:nvPr/>
        </p:nvSpPr>
        <p:spPr>
          <a:xfrm>
            <a:off x="9976545" y="4592869"/>
            <a:ext cx="2053251" cy="376314"/>
          </a:xfrm>
          <a:prstGeom prst="rect">
            <a:avLst/>
          </a:prstGeom>
          <a:noFill/>
          <a:ln/>
        </p:spPr>
        <p:txBody>
          <a:bodyPr wrap="none" lIns="0" tIns="0" rIns="0" bIns="0" rtlCol="0" anchor="t"/>
          <a:lstStyle/>
          <a:p>
            <a:pPr algn="l" indent="0" marL="0">
              <a:buNone/>
            </a:pPr>
            <a:r>
              <a:rPr lang="en-US" sz="2116" dirty="0">
                <a:solidFill>
                  <a:srgbClr val="FFFFFF"/>
                </a:solidFill>
                <a:latin typeface="Albert Sans" pitchFamily="34" charset="0"/>
                <a:ea typeface="Albert Sans" pitchFamily="34" charset="-122"/>
                <a:cs typeface="Albert Sans" pitchFamily="34" charset="-120"/>
              </a:rPr>
              <a:t>Experts + users</a:t>
            </a:r>
            <a:endParaRPr lang="en-US" sz="2116" dirty="0"/>
          </a:p>
        </p:txBody>
      </p:sp>
      <p:sp>
        <p:nvSpPr>
          <p:cNvPr id="16" name="Editable text 14: Frontend"/>
          <p:cNvSpPr/>
          <p:nvPr/>
        </p:nvSpPr>
        <p:spPr>
          <a:xfrm>
            <a:off x="1024235" y="6584037"/>
            <a:ext cx="888865" cy="263366"/>
          </a:xfrm>
          <a:prstGeom prst="rect">
            <a:avLst/>
          </a:prstGeom>
          <a:noFill/>
          <a:ln/>
        </p:spPr>
        <p:txBody>
          <a:bodyPr wrap="none" lIns="0" tIns="0" rIns="0" bIns="0" rtlCol="0" anchor="t"/>
          <a:lstStyle/>
          <a:p>
            <a:pPr algn="l" indent="0" marL="0">
              <a:buNone/>
            </a:pPr>
            <a:r>
              <a:rPr lang="en-US" sz="1481" dirty="0">
                <a:solidFill>
                  <a:srgbClr val="17191E"/>
                </a:solidFill>
                <a:latin typeface="Albert Sans" pitchFamily="34" charset="0"/>
                <a:ea typeface="Albert Sans" pitchFamily="34" charset="-122"/>
                <a:cs typeface="Albert Sans" pitchFamily="34" charset="-120"/>
              </a:rPr>
              <a:t>Frontend</a:t>
            </a:r>
            <a:endParaRPr lang="en-US" sz="1481" dirty="0"/>
          </a:p>
        </p:txBody>
      </p:sp>
      <p:sp>
        <p:nvSpPr>
          <p:cNvPr id="17" name="Editable text 15: Data model"/>
          <p:cNvSpPr/>
          <p:nvPr/>
        </p:nvSpPr>
        <p:spPr>
          <a:xfrm>
            <a:off x="3511004" y="6584037"/>
            <a:ext cx="1100689" cy="263366"/>
          </a:xfrm>
          <a:prstGeom prst="rect">
            <a:avLst/>
          </a:prstGeom>
          <a:noFill/>
          <a:ln/>
        </p:spPr>
        <p:txBody>
          <a:bodyPr wrap="none" lIns="0" tIns="0" rIns="0" bIns="0" rtlCol="0" anchor="t"/>
          <a:lstStyle/>
          <a:p>
            <a:pPr algn="l" indent="0" marL="0">
              <a:buNone/>
            </a:pPr>
            <a:r>
              <a:rPr lang="en-US" sz="1481" dirty="0">
                <a:solidFill>
                  <a:srgbClr val="17191E"/>
                </a:solidFill>
                <a:latin typeface="Albert Sans" pitchFamily="34" charset="0"/>
                <a:ea typeface="Albert Sans" pitchFamily="34" charset="-122"/>
                <a:cs typeface="Albert Sans" pitchFamily="34" charset="-120"/>
              </a:rPr>
              <a:t>Data model</a:t>
            </a:r>
            <a:endParaRPr lang="en-US" sz="1481" dirty="0"/>
          </a:p>
        </p:txBody>
      </p:sp>
      <p:sp>
        <p:nvSpPr>
          <p:cNvPr id="18" name="Editable text 16: QA"/>
          <p:cNvSpPr/>
          <p:nvPr/>
        </p:nvSpPr>
        <p:spPr>
          <a:xfrm>
            <a:off x="6209556" y="6584037"/>
            <a:ext cx="376803" cy="263366"/>
          </a:xfrm>
          <a:prstGeom prst="rect">
            <a:avLst/>
          </a:prstGeom>
          <a:noFill/>
          <a:ln/>
        </p:spPr>
        <p:txBody>
          <a:bodyPr wrap="none" lIns="0" tIns="0" rIns="0" bIns="0" rtlCol="0" anchor="t"/>
          <a:lstStyle/>
          <a:p>
            <a:pPr algn="l" indent="0" marL="0">
              <a:buNone/>
            </a:pPr>
            <a:r>
              <a:rPr lang="en-US" sz="1481" dirty="0">
                <a:solidFill>
                  <a:srgbClr val="17191E"/>
                </a:solidFill>
                <a:latin typeface="Albert Sans" pitchFamily="34" charset="0"/>
                <a:ea typeface="Albert Sans" pitchFamily="34" charset="-122"/>
                <a:cs typeface="Albert Sans" pitchFamily="34" charset="-120"/>
              </a:rPr>
              <a:t>QA</a:t>
            </a:r>
            <a:endParaRPr lang="en-US" sz="1481" dirty="0"/>
          </a:p>
        </p:txBody>
      </p:sp>
      <p:sp>
        <p:nvSpPr>
          <p:cNvPr id="19" name="Editable text 17: Accessibility"/>
          <p:cNvSpPr/>
          <p:nvPr/>
        </p:nvSpPr>
        <p:spPr>
          <a:xfrm>
            <a:off x="8184059" y="6584037"/>
            <a:ext cx="1189104" cy="263366"/>
          </a:xfrm>
          <a:prstGeom prst="rect">
            <a:avLst/>
          </a:prstGeom>
          <a:noFill/>
          <a:ln/>
        </p:spPr>
        <p:txBody>
          <a:bodyPr wrap="none" lIns="0" tIns="0" rIns="0" bIns="0" rtlCol="0" anchor="t"/>
          <a:lstStyle/>
          <a:p>
            <a:pPr algn="l" indent="0" marL="0">
              <a:buNone/>
            </a:pPr>
            <a:r>
              <a:rPr lang="en-US" sz="1481" dirty="0">
                <a:solidFill>
                  <a:srgbClr val="17191E"/>
                </a:solidFill>
                <a:latin typeface="Albert Sans" pitchFamily="34" charset="0"/>
                <a:ea typeface="Albert Sans" pitchFamily="34" charset="-122"/>
                <a:cs typeface="Albert Sans" pitchFamily="34" charset="-120"/>
              </a:rPr>
              <a:t>Accessibility</a:t>
            </a:r>
            <a:endParaRPr lang="en-US" sz="1481" dirty="0"/>
          </a:p>
        </p:txBody>
      </p:sp>
      <p:sp>
        <p:nvSpPr>
          <p:cNvPr id="20" name="Editable text 18: Privacy"/>
          <p:cNvSpPr/>
          <p:nvPr/>
        </p:nvSpPr>
        <p:spPr>
          <a:xfrm>
            <a:off x="10971014" y="6584037"/>
            <a:ext cx="730656" cy="263366"/>
          </a:xfrm>
          <a:prstGeom prst="rect">
            <a:avLst/>
          </a:prstGeom>
          <a:noFill/>
          <a:ln/>
        </p:spPr>
        <p:txBody>
          <a:bodyPr wrap="none" lIns="0" tIns="0" rIns="0" bIns="0" rtlCol="0" anchor="t"/>
          <a:lstStyle/>
          <a:p>
            <a:pPr algn="l" indent="0" marL="0">
              <a:buNone/>
            </a:pPr>
            <a:r>
              <a:rPr lang="en-US" sz="1481" dirty="0">
                <a:solidFill>
                  <a:srgbClr val="17191E"/>
                </a:solidFill>
                <a:latin typeface="Albert Sans" pitchFamily="34" charset="0"/>
                <a:ea typeface="Albert Sans" pitchFamily="34" charset="-122"/>
                <a:cs typeface="Albert Sans" pitchFamily="34" charset="-120"/>
              </a:rPr>
              <a:t>Privacy</a:t>
            </a:r>
            <a:endParaRPr lang="en-US" sz="1481" dirty="0"/>
          </a:p>
        </p:txBody>
      </p:sp>
      <p:sp>
        <p:nvSpPr>
          <p:cNvPr id="21" name="Editable text 19: Usability"/>
          <p:cNvSpPr/>
          <p:nvPr/>
        </p:nvSpPr>
        <p:spPr>
          <a:xfrm>
            <a:off x="13299579" y="6584037"/>
            <a:ext cx="839955" cy="263366"/>
          </a:xfrm>
          <a:prstGeom prst="rect">
            <a:avLst/>
          </a:prstGeom>
          <a:noFill/>
          <a:ln/>
        </p:spPr>
        <p:txBody>
          <a:bodyPr wrap="none" lIns="0" tIns="0" rIns="0" bIns="0" rtlCol="0" anchor="t"/>
          <a:lstStyle/>
          <a:p>
            <a:pPr algn="l" indent="0" marL="0">
              <a:buNone/>
            </a:pPr>
            <a:r>
              <a:rPr lang="en-US" sz="1481" dirty="0">
                <a:solidFill>
                  <a:srgbClr val="17191E"/>
                </a:solidFill>
                <a:latin typeface="Albert Sans" pitchFamily="34" charset="0"/>
                <a:ea typeface="Albert Sans" pitchFamily="34" charset="-122"/>
                <a:cs typeface="Albert Sans" pitchFamily="34" charset="-120"/>
              </a:rPr>
              <a:t>Usability</a:t>
            </a:r>
            <a:endParaRPr lang="en-US" sz="1481" dirty="0"/>
          </a:p>
        </p:txBody>
      </p:sp>
      <p:sp>
        <p:nvSpPr>
          <p:cNvPr id="22" name="Editable text 20: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23" name="Editable text 21: 04 / 10"/>
          <p:cNvSpPr/>
          <p:nvPr/>
        </p:nvSpPr>
        <p:spPr>
          <a:xfrm>
            <a:off x="13515826" y="7688980"/>
            <a:ext cx="612687"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04 / 10</a:t>
            </a:r>
            <a:endParaRPr lang="en-US" sz="1323" dirty="0"/>
          </a:p>
        </p:txBody>
      </p:sp>
      <p:sp>
        <p:nvSpPr>
          <p:cNvPr id="24" name="Editable text 22: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
        <p:nvSpPr>
          <p:cNvPr id="25" name="Editable text 23: 01"/>
          <p:cNvSpPr/>
          <p:nvPr/>
        </p:nvSpPr>
        <p:spPr>
          <a:xfrm>
            <a:off x="863054" y="3310496"/>
            <a:ext cx="319307" cy="300971"/>
          </a:xfrm>
          <a:prstGeom prst="rect">
            <a:avLst/>
          </a:prstGeom>
          <a:noFill/>
          <a:ln/>
        </p:spPr>
        <p:txBody>
          <a:bodyPr wrap="none" lIns="0" tIns="0" rIns="0" bIns="0" rtlCol="0" anchor="t"/>
          <a:lstStyle/>
          <a:p>
            <a:pPr algn="l" indent="0" marL="0">
              <a:buNone/>
            </a:pPr>
            <a:r>
              <a:rPr lang="en-US" sz="1693" dirty="0">
                <a:solidFill>
                  <a:srgbClr val="17191E"/>
                </a:solidFill>
                <a:latin typeface="Albert Sans" pitchFamily="34" charset="0"/>
                <a:ea typeface="Albert Sans" pitchFamily="34" charset="-122"/>
                <a:cs typeface="Albert Sans" pitchFamily="34" charset="-120"/>
              </a:rPr>
              <a:t>01</a:t>
            </a:r>
            <a:endParaRPr lang="en-US" sz="1693" dirty="0"/>
          </a:p>
        </p:txBody>
      </p:sp>
      <p:sp>
        <p:nvSpPr>
          <p:cNvPr id="26" name="Editable text 24: Map user tasks, source data, and"/>
          <p:cNvSpPr/>
          <p:nvPr/>
        </p:nvSpPr>
        <p:spPr>
          <a:xfrm>
            <a:off x="863054" y="5113953"/>
            <a:ext cx="3142246"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Map user tasks, source data, and</a:t>
            </a:r>
            <a:endParaRPr lang="en-US" sz="1587" dirty="0"/>
          </a:p>
        </p:txBody>
      </p:sp>
      <p:sp>
        <p:nvSpPr>
          <p:cNvPr id="27" name="Editable text 25: constraints."/>
          <p:cNvSpPr/>
          <p:nvPr/>
        </p:nvSpPr>
        <p:spPr>
          <a:xfrm>
            <a:off x="863054" y="5418753"/>
            <a:ext cx="1180295"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constraints.</a:t>
            </a:r>
            <a:endParaRPr lang="en-US" sz="1587" dirty="0"/>
          </a:p>
        </p:txBody>
      </p:sp>
      <p:sp>
        <p:nvSpPr>
          <p:cNvPr id="28" name="Editable text 26: 02"/>
          <p:cNvSpPr/>
          <p:nvPr/>
        </p:nvSpPr>
        <p:spPr>
          <a:xfrm>
            <a:off x="5419725" y="3310496"/>
            <a:ext cx="382726" cy="300971"/>
          </a:xfrm>
          <a:prstGeom prst="rect">
            <a:avLst/>
          </a:prstGeom>
          <a:noFill/>
          <a:ln/>
        </p:spPr>
        <p:txBody>
          <a:bodyPr wrap="none" lIns="0" tIns="0" rIns="0" bIns="0" rtlCol="0" anchor="t"/>
          <a:lstStyle/>
          <a:p>
            <a:pPr algn="l" indent="0" marL="0">
              <a:buNone/>
            </a:pPr>
            <a:r>
              <a:rPr lang="en-US" sz="1693" dirty="0">
                <a:solidFill>
                  <a:srgbClr val="17191E"/>
                </a:solidFill>
                <a:latin typeface="Albert Sans" pitchFamily="34" charset="0"/>
                <a:ea typeface="Albert Sans" pitchFamily="34" charset="-122"/>
                <a:cs typeface="Albert Sans" pitchFamily="34" charset="-120"/>
              </a:rPr>
              <a:t>02</a:t>
            </a:r>
            <a:endParaRPr lang="en-US" sz="1693" dirty="0"/>
          </a:p>
        </p:txBody>
      </p:sp>
      <p:sp>
        <p:nvSpPr>
          <p:cNvPr id="29" name="Editable text 27: Prototype a workflow around your"/>
          <p:cNvSpPr/>
          <p:nvPr/>
        </p:nvSpPr>
        <p:spPr>
          <a:xfrm>
            <a:off x="5419725" y="5113953"/>
            <a:ext cx="3222033"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Prototype a workflow around your</a:t>
            </a:r>
            <a:endParaRPr lang="en-US" sz="1587" dirty="0"/>
          </a:p>
        </p:txBody>
      </p:sp>
      <p:sp>
        <p:nvSpPr>
          <p:cNvPr id="30" name="Editable text 28: program."/>
          <p:cNvSpPr/>
          <p:nvPr/>
        </p:nvSpPr>
        <p:spPr>
          <a:xfrm>
            <a:off x="5419725" y="5418753"/>
            <a:ext cx="951375"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program.</a:t>
            </a:r>
            <a:endParaRPr lang="en-US" sz="1587" dirty="0"/>
          </a:p>
        </p:txBody>
      </p:sp>
      <p:sp>
        <p:nvSpPr>
          <p:cNvPr id="31" name="Editable text 29: 03"/>
          <p:cNvSpPr/>
          <p:nvPr/>
        </p:nvSpPr>
        <p:spPr>
          <a:xfrm>
            <a:off x="9976545" y="3310496"/>
            <a:ext cx="382296" cy="300971"/>
          </a:xfrm>
          <a:prstGeom prst="rect">
            <a:avLst/>
          </a:prstGeom>
          <a:noFill/>
          <a:ln/>
        </p:spPr>
        <p:txBody>
          <a:bodyPr wrap="none" lIns="0" tIns="0" rIns="0" bIns="0" rtlCol="0" anchor="t"/>
          <a:lstStyle/>
          <a:p>
            <a:pPr algn="l" indent="0" marL="0">
              <a:buNone/>
            </a:pPr>
            <a:r>
              <a:rPr lang="en-US" sz="1693" dirty="0">
                <a:solidFill>
                  <a:srgbClr val="FFFFFF"/>
                </a:solidFill>
                <a:latin typeface="Albert Sans" pitchFamily="34" charset="0"/>
                <a:ea typeface="Albert Sans" pitchFamily="34" charset="-122"/>
                <a:cs typeface="Albert Sans" pitchFamily="34" charset="-120"/>
              </a:rPr>
              <a:t>03</a:t>
            </a:r>
            <a:endParaRPr lang="en-US" sz="1693" dirty="0"/>
          </a:p>
        </p:txBody>
      </p:sp>
      <p:sp>
        <p:nvSpPr>
          <p:cNvPr id="32" name="Editable text 30: Test priority tasks; assign update"/>
          <p:cNvSpPr/>
          <p:nvPr/>
        </p:nvSpPr>
        <p:spPr>
          <a:xfrm>
            <a:off x="9976545" y="5113953"/>
            <a:ext cx="3148490" cy="282169"/>
          </a:xfrm>
          <a:prstGeom prst="rect">
            <a:avLst/>
          </a:prstGeom>
          <a:noFill/>
          <a:ln/>
        </p:spPr>
        <p:txBody>
          <a:bodyPr wrap="none" lIns="0" tIns="0" rIns="0" bIns="0" rtlCol="0" anchor="t"/>
          <a:lstStyle/>
          <a:p>
            <a:pPr algn="l" indent="0" marL="0">
              <a:buNone/>
            </a:pPr>
            <a:r>
              <a:rPr lang="en-US" sz="1587" dirty="0">
                <a:solidFill>
                  <a:srgbClr val="FFFFFF"/>
                </a:solidFill>
                <a:latin typeface="Albert Sans" pitchFamily="34" charset="0"/>
                <a:ea typeface="Albert Sans" pitchFamily="34" charset="-122"/>
                <a:cs typeface="Albert Sans" pitchFamily="34" charset="-120"/>
              </a:rPr>
              <a:t>Test priority tasks; assign update</a:t>
            </a:r>
            <a:endParaRPr lang="en-US" sz="1587" dirty="0"/>
          </a:p>
        </p:txBody>
      </p:sp>
      <p:sp>
        <p:nvSpPr>
          <p:cNvPr id="33" name="Editable text 31: ownership."/>
          <p:cNvSpPr/>
          <p:nvPr/>
        </p:nvSpPr>
        <p:spPr>
          <a:xfrm>
            <a:off x="9976545" y="5418753"/>
            <a:ext cx="1104725" cy="282169"/>
          </a:xfrm>
          <a:prstGeom prst="rect">
            <a:avLst/>
          </a:prstGeom>
          <a:noFill/>
          <a:ln/>
        </p:spPr>
        <p:txBody>
          <a:bodyPr wrap="none" lIns="0" tIns="0" rIns="0" bIns="0" rtlCol="0" anchor="t"/>
          <a:lstStyle/>
          <a:p>
            <a:pPr algn="l" indent="0" marL="0">
              <a:buNone/>
            </a:pPr>
            <a:r>
              <a:rPr lang="en-US" sz="1587" dirty="0">
                <a:solidFill>
                  <a:srgbClr val="FFFFFF"/>
                </a:solidFill>
                <a:latin typeface="Albert Sans" pitchFamily="34" charset="0"/>
                <a:ea typeface="Albert Sans" pitchFamily="34" charset="-122"/>
                <a:cs typeface="Albert Sans" pitchFamily="34" charset="-120"/>
              </a:rPr>
              <a:t>ownership.</a:t>
            </a:r>
            <a:endParaRPr lang="en-US" sz="158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How we build"/>
          <p:cNvSpPr/>
          <p:nvPr/>
        </p:nvSpPr>
        <p:spPr>
          <a:xfrm>
            <a:off x="594271" y="2694646"/>
            <a:ext cx="1221721"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How we build</a:t>
            </a:r>
            <a:endParaRPr lang="en-US" sz="1429" dirty="0"/>
          </a:p>
        </p:txBody>
      </p:sp>
      <p:sp>
        <p:nvSpPr>
          <p:cNvPr id="6" name="Editable text 4: Quality is a"/>
          <p:cNvSpPr/>
          <p:nvPr/>
        </p:nvSpPr>
        <p:spPr>
          <a:xfrm>
            <a:off x="594271" y="3047962"/>
            <a:ext cx="3184656" cy="884377"/>
          </a:xfrm>
          <a:prstGeom prst="rect">
            <a:avLst/>
          </a:prstGeom>
          <a:noFill/>
          <a:ln/>
        </p:spPr>
        <p:txBody>
          <a:bodyPr wrap="none" lIns="0" tIns="0" rIns="0" bIns="0" rtlCol="0" anchor="t"/>
          <a:lstStyle/>
          <a:p>
            <a:pPr algn="l" indent="0" marL="0">
              <a:buNone/>
            </a:pPr>
            <a:r>
              <a:rPr lang="en-US" sz="4974" spc="-274" kern="0" dirty="0">
                <a:solidFill>
                  <a:srgbClr val="17191E"/>
                </a:solidFill>
                <a:latin typeface="Albert Sans Medium" pitchFamily="34" charset="0"/>
                <a:ea typeface="Albert Sans Medium" pitchFamily="34" charset="-122"/>
                <a:cs typeface="Albert Sans Medium" pitchFamily="34" charset="-120"/>
              </a:rPr>
              <a:t>Quality is a</a:t>
            </a:r>
            <a:endParaRPr lang="en-US" sz="4974" dirty="0"/>
          </a:p>
        </p:txBody>
      </p:sp>
      <p:sp>
        <p:nvSpPr>
          <p:cNvPr id="7" name="Editable text 5: design decision."/>
          <p:cNvSpPr/>
          <p:nvPr/>
        </p:nvSpPr>
        <p:spPr>
          <a:xfrm>
            <a:off x="594271" y="3695662"/>
            <a:ext cx="4559657" cy="884377"/>
          </a:xfrm>
          <a:prstGeom prst="rect">
            <a:avLst/>
          </a:prstGeom>
          <a:noFill/>
          <a:ln/>
        </p:spPr>
        <p:txBody>
          <a:bodyPr wrap="none" lIns="0" tIns="0" rIns="0" bIns="0" rtlCol="0" anchor="t"/>
          <a:lstStyle/>
          <a:p>
            <a:pPr algn="l" indent="0" marL="0">
              <a:buNone/>
            </a:pPr>
            <a:r>
              <a:rPr lang="en-US" sz="4974" spc="-274" kern="0" dirty="0">
                <a:solidFill>
                  <a:srgbClr val="3C4ED6"/>
                </a:solidFill>
                <a:latin typeface="Albert Sans Medium" pitchFamily="34" charset="0"/>
                <a:ea typeface="Albert Sans Medium" pitchFamily="34" charset="-122"/>
                <a:cs typeface="Albert Sans Medium" pitchFamily="34" charset="-120"/>
              </a:rPr>
              <a:t>design decision.</a:t>
            </a:r>
            <a:endParaRPr lang="en-US" sz="4974" dirty="0"/>
          </a:p>
        </p:txBody>
      </p:sp>
      <p:sp>
        <p:nvSpPr>
          <p:cNvPr id="8" name="Editable text 6: Useful tools depend on strong data design,"/>
          <p:cNvSpPr/>
          <p:nvPr/>
        </p:nvSpPr>
        <p:spPr>
          <a:xfrm>
            <a:off x="594271" y="4612095"/>
            <a:ext cx="4629160"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Useful tools depend on strong data design,</a:t>
            </a:r>
            <a:endParaRPr lang="en-US" sz="1799" dirty="0"/>
          </a:p>
        </p:txBody>
      </p:sp>
      <p:sp>
        <p:nvSpPr>
          <p:cNvPr id="9" name="Editable text 7: careful QA, and accessible, responsible"/>
          <p:cNvSpPr/>
          <p:nvPr/>
        </p:nvSpPr>
        <p:spPr>
          <a:xfrm>
            <a:off x="594271" y="4954995"/>
            <a:ext cx="4230754"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careful QA, and accessible, responsible</a:t>
            </a:r>
            <a:endParaRPr lang="en-US" sz="1799" dirty="0"/>
          </a:p>
        </p:txBody>
      </p:sp>
      <p:sp>
        <p:nvSpPr>
          <p:cNvPr id="10" name="Editable text 8: implementation."/>
          <p:cNvSpPr/>
          <p:nvPr/>
        </p:nvSpPr>
        <p:spPr>
          <a:xfrm>
            <a:off x="594271" y="5297895"/>
            <a:ext cx="1828341"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implementation.</a:t>
            </a:r>
            <a:endParaRPr lang="en-US" sz="1799" dirty="0"/>
          </a:p>
        </p:txBody>
      </p:sp>
      <p:sp>
        <p:nvSpPr>
          <p:cNvPr id="11" name="Editable text 9: The data foundation"/>
          <p:cNvSpPr/>
          <p:nvPr/>
        </p:nvSpPr>
        <p:spPr>
          <a:xfrm>
            <a:off x="6126212" y="957510"/>
            <a:ext cx="2524530" cy="385648"/>
          </a:xfrm>
          <a:prstGeom prst="rect">
            <a:avLst/>
          </a:prstGeom>
          <a:noFill/>
          <a:ln/>
        </p:spPr>
        <p:txBody>
          <a:bodyPr wrap="none" lIns="0" tIns="0" rIns="0" bIns="0" rtlCol="0" anchor="t"/>
          <a:lstStyle/>
          <a:p>
            <a:pPr algn="l" indent="0" marL="0">
              <a:buNone/>
            </a:pPr>
            <a:r>
              <a:rPr lang="en-US" sz="2169" spc="-76" kern="0" dirty="0">
                <a:solidFill>
                  <a:srgbClr val="17191E"/>
                </a:solidFill>
                <a:latin typeface="Albert Sans Medium" pitchFamily="34" charset="0"/>
                <a:ea typeface="Albert Sans Medium" pitchFamily="34" charset="-122"/>
                <a:cs typeface="Albert Sans Medium" pitchFamily="34" charset="-120"/>
              </a:rPr>
              <a:t>The data foundation</a:t>
            </a:r>
            <a:endParaRPr lang="en-US" sz="2169" dirty="0"/>
          </a:p>
        </p:txBody>
      </p:sp>
      <p:sp>
        <p:nvSpPr>
          <p:cNvPr id="12" name="Editable text 10: Records"/>
          <p:cNvSpPr/>
          <p:nvPr/>
        </p:nvSpPr>
        <p:spPr>
          <a:xfrm>
            <a:off x="6946106" y="1916520"/>
            <a:ext cx="940807" cy="319907"/>
          </a:xfrm>
          <a:prstGeom prst="rect">
            <a:avLst/>
          </a:prstGeom>
          <a:noFill/>
          <a:ln/>
        </p:spPr>
        <p:txBody>
          <a:bodyPr wrap="none" lIns="0" tIns="0" rIns="0" bIns="0" rtlCol="0" anchor="t"/>
          <a:lstStyle/>
          <a:p>
            <a:pPr algn="l" indent="0" marL="0">
              <a:buNone/>
            </a:pPr>
            <a:r>
              <a:rPr lang="en-US" sz="1799" spc="-63" kern="0" dirty="0">
                <a:solidFill>
                  <a:srgbClr val="17191E"/>
                </a:solidFill>
                <a:latin typeface="Albert Sans Medium" pitchFamily="34" charset="0"/>
                <a:ea typeface="Albert Sans Medium" pitchFamily="34" charset="-122"/>
                <a:cs typeface="Albert Sans Medium" pitchFamily="34" charset="-120"/>
              </a:rPr>
              <a:t>Records</a:t>
            </a:r>
            <a:endParaRPr lang="en-US" sz="1799" dirty="0"/>
          </a:p>
        </p:txBody>
      </p:sp>
      <p:sp>
        <p:nvSpPr>
          <p:cNvPr id="13" name="Editable text 11: source the right evidence"/>
          <p:cNvSpPr/>
          <p:nvPr/>
        </p:nvSpPr>
        <p:spPr>
          <a:xfrm>
            <a:off x="6946106" y="2256630"/>
            <a:ext cx="1983404" cy="225762"/>
          </a:xfrm>
          <a:prstGeom prst="rect">
            <a:avLst/>
          </a:prstGeom>
          <a:noFill/>
          <a:ln/>
        </p:spPr>
        <p:txBody>
          <a:bodyPr wrap="none" lIns="0" tIns="0" rIns="0" bIns="0" rtlCol="0" anchor="t"/>
          <a:lstStyle/>
          <a:p>
            <a:pPr algn="l" indent="0" marL="0">
              <a:buNone/>
            </a:pPr>
            <a:r>
              <a:rPr lang="en-US" sz="1270" dirty="0">
                <a:solidFill>
                  <a:srgbClr val="646973"/>
                </a:solidFill>
                <a:latin typeface="Albert Sans" pitchFamily="34" charset="0"/>
                <a:ea typeface="Albert Sans" pitchFamily="34" charset="-122"/>
                <a:cs typeface="Albert Sans" pitchFamily="34" charset="-120"/>
              </a:rPr>
              <a:t>source the right evidence</a:t>
            </a:r>
            <a:endParaRPr lang="en-US" sz="1270" dirty="0"/>
          </a:p>
        </p:txBody>
      </p:sp>
      <p:sp>
        <p:nvSpPr>
          <p:cNvPr id="14" name="Editable text 12: Definitions"/>
          <p:cNvSpPr/>
          <p:nvPr/>
        </p:nvSpPr>
        <p:spPr>
          <a:xfrm>
            <a:off x="6946106" y="3383370"/>
            <a:ext cx="1178160" cy="319907"/>
          </a:xfrm>
          <a:prstGeom prst="rect">
            <a:avLst/>
          </a:prstGeom>
          <a:noFill/>
          <a:ln/>
        </p:spPr>
        <p:txBody>
          <a:bodyPr wrap="none" lIns="0" tIns="0" rIns="0" bIns="0" rtlCol="0" anchor="t"/>
          <a:lstStyle/>
          <a:p>
            <a:pPr algn="l" indent="0" marL="0">
              <a:buNone/>
            </a:pPr>
            <a:r>
              <a:rPr lang="en-US" sz="1799" spc="-63" kern="0" dirty="0">
                <a:solidFill>
                  <a:srgbClr val="17191E"/>
                </a:solidFill>
                <a:latin typeface="Albert Sans Medium" pitchFamily="34" charset="0"/>
                <a:ea typeface="Albert Sans Medium" pitchFamily="34" charset="-122"/>
                <a:cs typeface="Albert Sans Medium" pitchFamily="34" charset="-120"/>
              </a:rPr>
              <a:t>Definitions</a:t>
            </a:r>
            <a:endParaRPr lang="en-US" sz="1799" dirty="0"/>
          </a:p>
        </p:txBody>
      </p:sp>
      <p:sp>
        <p:nvSpPr>
          <p:cNvPr id="15" name="Editable text 13: structure a usable model"/>
          <p:cNvSpPr/>
          <p:nvPr/>
        </p:nvSpPr>
        <p:spPr>
          <a:xfrm>
            <a:off x="6946106" y="3723480"/>
            <a:ext cx="1914553" cy="225762"/>
          </a:xfrm>
          <a:prstGeom prst="rect">
            <a:avLst/>
          </a:prstGeom>
          <a:noFill/>
          <a:ln/>
        </p:spPr>
        <p:txBody>
          <a:bodyPr wrap="none" lIns="0" tIns="0" rIns="0" bIns="0" rtlCol="0" anchor="t"/>
          <a:lstStyle/>
          <a:p>
            <a:pPr algn="l" indent="0" marL="0">
              <a:buNone/>
            </a:pPr>
            <a:r>
              <a:rPr lang="en-US" sz="1270" dirty="0">
                <a:solidFill>
                  <a:srgbClr val="646973"/>
                </a:solidFill>
                <a:latin typeface="Albert Sans" pitchFamily="34" charset="0"/>
                <a:ea typeface="Albert Sans" pitchFamily="34" charset="-122"/>
                <a:cs typeface="Albert Sans" pitchFamily="34" charset="-120"/>
              </a:rPr>
              <a:t>structure a usable model</a:t>
            </a:r>
            <a:endParaRPr lang="en-US" sz="1270" dirty="0"/>
          </a:p>
        </p:txBody>
      </p:sp>
      <p:sp>
        <p:nvSpPr>
          <p:cNvPr id="16" name="Editable text 14: Checks"/>
          <p:cNvSpPr/>
          <p:nvPr/>
        </p:nvSpPr>
        <p:spPr>
          <a:xfrm>
            <a:off x="6946106" y="4850220"/>
            <a:ext cx="876843" cy="319907"/>
          </a:xfrm>
          <a:prstGeom prst="rect">
            <a:avLst/>
          </a:prstGeom>
          <a:noFill/>
          <a:ln/>
        </p:spPr>
        <p:txBody>
          <a:bodyPr wrap="none" lIns="0" tIns="0" rIns="0" bIns="0" rtlCol="0" anchor="t"/>
          <a:lstStyle/>
          <a:p>
            <a:pPr algn="l" indent="0" marL="0">
              <a:buNone/>
            </a:pPr>
            <a:r>
              <a:rPr lang="en-US" sz="1799" spc="-63" kern="0" dirty="0">
                <a:solidFill>
                  <a:srgbClr val="17191E"/>
                </a:solidFill>
                <a:latin typeface="Albert Sans Medium" pitchFamily="34" charset="0"/>
                <a:ea typeface="Albert Sans Medium" pitchFamily="34" charset="-122"/>
                <a:cs typeface="Albert Sans Medium" pitchFamily="34" charset="-120"/>
              </a:rPr>
              <a:t>Checks</a:t>
            </a:r>
            <a:endParaRPr lang="en-US" sz="1799" dirty="0"/>
          </a:p>
        </p:txBody>
      </p:sp>
      <p:sp>
        <p:nvSpPr>
          <p:cNvPr id="17" name="Editable text 15: validate with expert judgment"/>
          <p:cNvSpPr/>
          <p:nvPr/>
        </p:nvSpPr>
        <p:spPr>
          <a:xfrm>
            <a:off x="6946106" y="5190330"/>
            <a:ext cx="2291885" cy="225762"/>
          </a:xfrm>
          <a:prstGeom prst="rect">
            <a:avLst/>
          </a:prstGeom>
          <a:noFill/>
          <a:ln/>
        </p:spPr>
        <p:txBody>
          <a:bodyPr wrap="none" lIns="0" tIns="0" rIns="0" bIns="0" rtlCol="0" anchor="t"/>
          <a:lstStyle/>
          <a:p>
            <a:pPr algn="l" indent="0" marL="0">
              <a:buNone/>
            </a:pPr>
            <a:r>
              <a:rPr lang="en-US" sz="1270" dirty="0">
                <a:solidFill>
                  <a:srgbClr val="646973"/>
                </a:solidFill>
                <a:latin typeface="Albert Sans" pitchFamily="34" charset="0"/>
                <a:ea typeface="Albert Sans" pitchFamily="34" charset="-122"/>
                <a:cs typeface="Albert Sans" pitchFamily="34" charset="-120"/>
              </a:rPr>
              <a:t>validate with expert judgment</a:t>
            </a:r>
            <a:endParaRPr lang="en-US" sz="1270" dirty="0"/>
          </a:p>
        </p:txBody>
      </p:sp>
      <p:sp>
        <p:nvSpPr>
          <p:cNvPr id="18" name="Editable text 16: Updates"/>
          <p:cNvSpPr/>
          <p:nvPr/>
        </p:nvSpPr>
        <p:spPr>
          <a:xfrm>
            <a:off x="6946106" y="6317070"/>
            <a:ext cx="954287" cy="319907"/>
          </a:xfrm>
          <a:prstGeom prst="rect">
            <a:avLst/>
          </a:prstGeom>
          <a:noFill/>
          <a:ln/>
        </p:spPr>
        <p:txBody>
          <a:bodyPr wrap="none" lIns="0" tIns="0" rIns="0" bIns="0" rtlCol="0" anchor="t"/>
          <a:lstStyle/>
          <a:p>
            <a:pPr algn="l" indent="0" marL="0">
              <a:buNone/>
            </a:pPr>
            <a:r>
              <a:rPr lang="en-US" sz="1799" spc="-63" kern="0" dirty="0">
                <a:solidFill>
                  <a:srgbClr val="17191E"/>
                </a:solidFill>
                <a:latin typeface="Albert Sans Medium" pitchFamily="34" charset="0"/>
                <a:ea typeface="Albert Sans Medium" pitchFamily="34" charset="-122"/>
                <a:cs typeface="Albert Sans Medium" pitchFamily="34" charset="-120"/>
              </a:rPr>
              <a:t>Updates</a:t>
            </a:r>
            <a:endParaRPr lang="en-US" sz="1799" dirty="0"/>
          </a:p>
        </p:txBody>
      </p:sp>
      <p:sp>
        <p:nvSpPr>
          <p:cNvPr id="19" name="Editable text 17: assign named ownership"/>
          <p:cNvSpPr/>
          <p:nvPr/>
        </p:nvSpPr>
        <p:spPr>
          <a:xfrm>
            <a:off x="6946106" y="6657180"/>
            <a:ext cx="1917968" cy="225762"/>
          </a:xfrm>
          <a:prstGeom prst="rect">
            <a:avLst/>
          </a:prstGeom>
          <a:noFill/>
          <a:ln/>
        </p:spPr>
        <p:txBody>
          <a:bodyPr wrap="none" lIns="0" tIns="0" rIns="0" bIns="0" rtlCol="0" anchor="t"/>
          <a:lstStyle/>
          <a:p>
            <a:pPr algn="l" indent="0" marL="0">
              <a:buNone/>
            </a:pPr>
            <a:r>
              <a:rPr lang="en-US" sz="1270" dirty="0">
                <a:solidFill>
                  <a:srgbClr val="646973"/>
                </a:solidFill>
                <a:latin typeface="Albert Sans" pitchFamily="34" charset="0"/>
                <a:ea typeface="Albert Sans" pitchFamily="34" charset="-122"/>
                <a:cs typeface="Albert Sans" pitchFamily="34" charset="-120"/>
              </a:rPr>
              <a:t>assign named ownership</a:t>
            </a:r>
            <a:endParaRPr lang="en-US" sz="1270" dirty="0"/>
          </a:p>
        </p:txBody>
      </p:sp>
      <p:sp>
        <p:nvSpPr>
          <p:cNvPr id="20" name="Editable text 18: The build standard"/>
          <p:cNvSpPr/>
          <p:nvPr/>
        </p:nvSpPr>
        <p:spPr>
          <a:xfrm>
            <a:off x="10234613" y="957510"/>
            <a:ext cx="2351911" cy="385648"/>
          </a:xfrm>
          <a:prstGeom prst="rect">
            <a:avLst/>
          </a:prstGeom>
          <a:noFill/>
          <a:ln/>
        </p:spPr>
        <p:txBody>
          <a:bodyPr wrap="none" lIns="0" tIns="0" rIns="0" bIns="0" rtlCol="0" anchor="t"/>
          <a:lstStyle/>
          <a:p>
            <a:pPr algn="l" indent="0" marL="0">
              <a:buNone/>
            </a:pPr>
            <a:r>
              <a:rPr lang="en-US" sz="2169" spc="-76" kern="0" dirty="0">
                <a:solidFill>
                  <a:srgbClr val="17191E"/>
                </a:solidFill>
                <a:latin typeface="Albert Sans Medium" pitchFamily="34" charset="0"/>
                <a:ea typeface="Albert Sans Medium" pitchFamily="34" charset="-122"/>
                <a:cs typeface="Albert Sans Medium" pitchFamily="34" charset="-120"/>
              </a:rPr>
              <a:t>The build standard</a:t>
            </a:r>
            <a:endParaRPr lang="en-US" sz="2169" dirty="0"/>
          </a:p>
        </p:txBody>
      </p:sp>
      <p:sp>
        <p:nvSpPr>
          <p:cNvPr id="21" name="Editable text 19: Accurate"/>
          <p:cNvSpPr/>
          <p:nvPr/>
        </p:nvSpPr>
        <p:spPr>
          <a:xfrm>
            <a:off x="10969823" y="1567463"/>
            <a:ext cx="871661"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Accurate</a:t>
            </a:r>
            <a:endParaRPr lang="en-US" sz="1534" dirty="0"/>
          </a:p>
        </p:txBody>
      </p:sp>
      <p:sp>
        <p:nvSpPr>
          <p:cNvPr id="22" name="Editable text 20: source checks and expert review"/>
          <p:cNvSpPr/>
          <p:nvPr/>
        </p:nvSpPr>
        <p:spPr>
          <a:xfrm>
            <a:off x="10969823" y="1878297"/>
            <a:ext cx="2158981" cy="193758"/>
          </a:xfrm>
          <a:prstGeom prst="rect">
            <a:avLst/>
          </a:prstGeom>
          <a:noFill/>
          <a:ln/>
        </p:spPr>
        <p:txBody>
          <a:bodyPr wrap="none" lIns="0" tIns="0" rIns="0" bIns="0" rtlCol="0" anchor="t"/>
          <a:lstStyle/>
          <a:p>
            <a:pPr algn="l" indent="0" marL="0">
              <a:buNone/>
            </a:pPr>
            <a:r>
              <a:rPr lang="en-US" sz="1090" dirty="0">
                <a:solidFill>
                  <a:srgbClr val="646973"/>
                </a:solidFill>
                <a:latin typeface="Albert Sans" pitchFamily="34" charset="0"/>
                <a:ea typeface="Albert Sans" pitchFamily="34" charset="-122"/>
                <a:cs typeface="Albert Sans" pitchFamily="34" charset="-120"/>
              </a:rPr>
              <a:t>source checks and expert review</a:t>
            </a:r>
            <a:endParaRPr lang="en-US" sz="1090" dirty="0"/>
          </a:p>
        </p:txBody>
      </p:sp>
      <p:sp>
        <p:nvSpPr>
          <p:cNvPr id="23" name="Editable text 21: Accessible"/>
          <p:cNvSpPr/>
          <p:nvPr/>
        </p:nvSpPr>
        <p:spPr>
          <a:xfrm>
            <a:off x="10969823" y="2348513"/>
            <a:ext cx="1017768"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Accessible</a:t>
            </a:r>
            <a:endParaRPr lang="en-US" sz="1534" dirty="0"/>
          </a:p>
        </p:txBody>
      </p:sp>
      <p:sp>
        <p:nvSpPr>
          <p:cNvPr id="24" name="Editable text 22: keyboard, screen reader, contrast"/>
          <p:cNvSpPr/>
          <p:nvPr/>
        </p:nvSpPr>
        <p:spPr>
          <a:xfrm>
            <a:off x="10969823" y="2649822"/>
            <a:ext cx="2209806" cy="193758"/>
          </a:xfrm>
          <a:prstGeom prst="rect">
            <a:avLst/>
          </a:prstGeom>
          <a:noFill/>
          <a:ln/>
        </p:spPr>
        <p:txBody>
          <a:bodyPr wrap="none" lIns="0" tIns="0" rIns="0" bIns="0" rtlCol="0" anchor="t"/>
          <a:lstStyle/>
          <a:p>
            <a:pPr algn="l" indent="0" marL="0">
              <a:buNone/>
            </a:pPr>
            <a:r>
              <a:rPr lang="en-US" sz="1090" dirty="0">
                <a:solidFill>
                  <a:srgbClr val="646973"/>
                </a:solidFill>
                <a:latin typeface="Albert Sans" pitchFamily="34" charset="0"/>
                <a:ea typeface="Albert Sans" pitchFamily="34" charset="-122"/>
                <a:cs typeface="Albert Sans" pitchFamily="34" charset="-120"/>
              </a:rPr>
              <a:t>keyboard, screen reader, contrast</a:t>
            </a:r>
            <a:endParaRPr lang="en-US" sz="1090" dirty="0"/>
          </a:p>
        </p:txBody>
      </p:sp>
      <p:sp>
        <p:nvSpPr>
          <p:cNvPr id="25" name="Editable text 23: Responsible"/>
          <p:cNvSpPr/>
          <p:nvPr/>
        </p:nvSpPr>
        <p:spPr>
          <a:xfrm>
            <a:off x="10969823" y="3120038"/>
            <a:ext cx="1126277"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Responsible</a:t>
            </a:r>
            <a:endParaRPr lang="en-US" sz="1534" dirty="0"/>
          </a:p>
        </p:txBody>
      </p:sp>
      <p:sp>
        <p:nvSpPr>
          <p:cNvPr id="26" name="Editable text 24: privacy, security, clear limits"/>
          <p:cNvSpPr/>
          <p:nvPr/>
        </p:nvSpPr>
        <p:spPr>
          <a:xfrm>
            <a:off x="10969823" y="3430872"/>
            <a:ext cx="1867897" cy="193758"/>
          </a:xfrm>
          <a:prstGeom prst="rect">
            <a:avLst/>
          </a:prstGeom>
          <a:noFill/>
          <a:ln/>
        </p:spPr>
        <p:txBody>
          <a:bodyPr wrap="none" lIns="0" tIns="0" rIns="0" bIns="0" rtlCol="0" anchor="t"/>
          <a:lstStyle/>
          <a:p>
            <a:pPr algn="l" indent="0" marL="0">
              <a:buNone/>
            </a:pPr>
            <a:r>
              <a:rPr lang="en-US" sz="1090" dirty="0">
                <a:solidFill>
                  <a:srgbClr val="646973"/>
                </a:solidFill>
                <a:latin typeface="Albert Sans" pitchFamily="34" charset="0"/>
                <a:ea typeface="Albert Sans" pitchFamily="34" charset="-122"/>
                <a:cs typeface="Albert Sans" pitchFamily="34" charset="-120"/>
              </a:rPr>
              <a:t>privacy, security, clear limits</a:t>
            </a:r>
            <a:endParaRPr lang="en-US" sz="1090" dirty="0"/>
          </a:p>
        </p:txBody>
      </p:sp>
      <p:sp>
        <p:nvSpPr>
          <p:cNvPr id="27" name="Editable text 25: Useful"/>
          <p:cNvSpPr/>
          <p:nvPr/>
        </p:nvSpPr>
        <p:spPr>
          <a:xfrm>
            <a:off x="10969823" y="3901088"/>
            <a:ext cx="631436"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Useful</a:t>
            </a:r>
            <a:endParaRPr lang="en-US" sz="1534" dirty="0"/>
          </a:p>
        </p:txBody>
      </p:sp>
      <p:sp>
        <p:nvSpPr>
          <p:cNvPr id="28" name="Editable text 26: real tasks and user testing"/>
          <p:cNvSpPr/>
          <p:nvPr/>
        </p:nvSpPr>
        <p:spPr>
          <a:xfrm>
            <a:off x="10969823" y="4202397"/>
            <a:ext cx="1730634" cy="193758"/>
          </a:xfrm>
          <a:prstGeom prst="rect">
            <a:avLst/>
          </a:prstGeom>
          <a:noFill/>
          <a:ln/>
        </p:spPr>
        <p:txBody>
          <a:bodyPr wrap="none" lIns="0" tIns="0" rIns="0" bIns="0" rtlCol="0" anchor="t"/>
          <a:lstStyle/>
          <a:p>
            <a:pPr algn="l" indent="0" marL="0">
              <a:buNone/>
            </a:pPr>
            <a:r>
              <a:rPr lang="en-US" sz="1090" dirty="0">
                <a:solidFill>
                  <a:srgbClr val="646973"/>
                </a:solidFill>
                <a:latin typeface="Albert Sans" pitchFamily="34" charset="0"/>
                <a:ea typeface="Albert Sans" pitchFamily="34" charset="-122"/>
                <a:cs typeface="Albert Sans" pitchFamily="34" charset="-120"/>
              </a:rPr>
              <a:t>real tasks and user testing</a:t>
            </a:r>
            <a:endParaRPr lang="en-US" sz="1090" dirty="0"/>
          </a:p>
        </p:txBody>
      </p:sp>
      <p:sp>
        <p:nvSpPr>
          <p:cNvPr id="29" name="Editable text 27: Responsive"/>
          <p:cNvSpPr/>
          <p:nvPr/>
        </p:nvSpPr>
        <p:spPr>
          <a:xfrm>
            <a:off x="10969823" y="4672613"/>
            <a:ext cx="1072899"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Responsive</a:t>
            </a:r>
            <a:endParaRPr lang="en-US" sz="1534" dirty="0"/>
          </a:p>
        </p:txBody>
      </p:sp>
      <p:sp>
        <p:nvSpPr>
          <p:cNvPr id="30" name="Editable text 28: works across desktop, tablet, and phone"/>
          <p:cNvSpPr/>
          <p:nvPr/>
        </p:nvSpPr>
        <p:spPr>
          <a:xfrm>
            <a:off x="10969823" y="4973922"/>
            <a:ext cx="2629461" cy="193758"/>
          </a:xfrm>
          <a:prstGeom prst="rect">
            <a:avLst/>
          </a:prstGeom>
          <a:noFill/>
          <a:ln/>
        </p:spPr>
        <p:txBody>
          <a:bodyPr wrap="none" lIns="0" tIns="0" rIns="0" bIns="0" rtlCol="0" anchor="t"/>
          <a:lstStyle/>
          <a:p>
            <a:pPr algn="l" indent="0" marL="0">
              <a:buNone/>
            </a:pPr>
            <a:r>
              <a:rPr lang="en-US" sz="1090" dirty="0">
                <a:solidFill>
                  <a:srgbClr val="646973"/>
                </a:solidFill>
                <a:latin typeface="Albert Sans" pitchFamily="34" charset="0"/>
                <a:ea typeface="Albert Sans" pitchFamily="34" charset="-122"/>
                <a:cs typeface="Albert Sans" pitchFamily="34" charset="-120"/>
              </a:rPr>
              <a:t>works across desktop, tablet, and phone</a:t>
            </a:r>
            <a:endParaRPr lang="en-US" sz="1090" dirty="0"/>
          </a:p>
        </p:txBody>
      </p:sp>
      <p:sp>
        <p:nvSpPr>
          <p:cNvPr id="31" name="Editable text 29: Maintainable"/>
          <p:cNvSpPr/>
          <p:nvPr/>
        </p:nvSpPr>
        <p:spPr>
          <a:xfrm>
            <a:off x="10969823" y="5453663"/>
            <a:ext cx="1175756" cy="272834"/>
          </a:xfrm>
          <a:prstGeom prst="rect">
            <a:avLst/>
          </a:prstGeom>
          <a:noFill/>
          <a:ln/>
        </p:spPr>
        <p:txBody>
          <a:bodyPr wrap="none" lIns="0" tIns="0" rIns="0" bIns="0" rtlCol="0" anchor="t"/>
          <a:lstStyle/>
          <a:p>
            <a:pPr algn="l" indent="0" marL="0">
              <a:buNone/>
            </a:pPr>
            <a:r>
              <a:rPr lang="en-US" sz="1534" spc="-54" kern="0" dirty="0">
                <a:solidFill>
                  <a:srgbClr val="17191E"/>
                </a:solidFill>
                <a:latin typeface="Albert Sans Medium" pitchFamily="34" charset="0"/>
                <a:ea typeface="Albert Sans Medium" pitchFamily="34" charset="-122"/>
                <a:cs typeface="Albert Sans Medium" pitchFamily="34" charset="-120"/>
              </a:rPr>
              <a:t>Maintainable</a:t>
            </a:r>
            <a:endParaRPr lang="en-US" sz="1534" dirty="0"/>
          </a:p>
        </p:txBody>
      </p:sp>
      <p:sp>
        <p:nvSpPr>
          <p:cNvPr id="32" name="Editable text 30: clear ownership and update paths"/>
          <p:cNvSpPr/>
          <p:nvPr/>
        </p:nvSpPr>
        <p:spPr>
          <a:xfrm>
            <a:off x="10969823" y="5754972"/>
            <a:ext cx="2222828" cy="193758"/>
          </a:xfrm>
          <a:prstGeom prst="rect">
            <a:avLst/>
          </a:prstGeom>
          <a:noFill/>
          <a:ln/>
        </p:spPr>
        <p:txBody>
          <a:bodyPr wrap="none" lIns="0" tIns="0" rIns="0" bIns="0" rtlCol="0" anchor="t"/>
          <a:lstStyle/>
          <a:p>
            <a:pPr algn="l" indent="0" marL="0">
              <a:buNone/>
            </a:pPr>
            <a:r>
              <a:rPr lang="en-US" sz="1090" dirty="0">
                <a:solidFill>
                  <a:srgbClr val="646973"/>
                </a:solidFill>
                <a:latin typeface="Albert Sans" pitchFamily="34" charset="0"/>
                <a:ea typeface="Albert Sans" pitchFamily="34" charset="-122"/>
                <a:cs typeface="Albert Sans" pitchFamily="34" charset="-120"/>
              </a:rPr>
              <a:t>clear ownership and update paths</a:t>
            </a:r>
            <a:endParaRPr lang="en-US" sz="1090" dirty="0"/>
          </a:p>
        </p:txBody>
      </p:sp>
      <p:sp>
        <p:nvSpPr>
          <p:cNvPr id="33" name="Editable text 31: Accessibility is tested, not assumed."/>
          <p:cNvSpPr/>
          <p:nvPr/>
        </p:nvSpPr>
        <p:spPr>
          <a:xfrm>
            <a:off x="10234613" y="6228688"/>
            <a:ext cx="2421036" cy="197491"/>
          </a:xfrm>
          <a:prstGeom prst="rect">
            <a:avLst/>
          </a:prstGeom>
          <a:noFill/>
          <a:ln/>
        </p:spPr>
        <p:txBody>
          <a:bodyPr wrap="none" lIns="0" tIns="0" rIns="0" bIns="0" rtlCol="0" anchor="t"/>
          <a:lstStyle/>
          <a:p>
            <a:pPr algn="l" indent="0" marL="0">
              <a:buNone/>
            </a:pPr>
            <a:r>
              <a:rPr lang="en-US" sz="1111" dirty="0">
                <a:solidFill>
                  <a:srgbClr val="646973"/>
                </a:solidFill>
                <a:latin typeface="Albert Sans" pitchFamily="34" charset="0"/>
                <a:ea typeface="Albert Sans" pitchFamily="34" charset="-122"/>
                <a:cs typeface="Albert Sans" pitchFamily="34" charset="-120"/>
              </a:rPr>
              <a:t>Accessibility is tested, not assumed.</a:t>
            </a:r>
            <a:endParaRPr lang="en-US" sz="1111" dirty="0"/>
          </a:p>
        </p:txBody>
      </p:sp>
      <p:sp>
        <p:nvSpPr>
          <p:cNvPr id="34" name="Editable text 32: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35" name="Editable text 33: 05 / 10"/>
          <p:cNvSpPr/>
          <p:nvPr/>
        </p:nvSpPr>
        <p:spPr>
          <a:xfrm>
            <a:off x="13521035" y="7688980"/>
            <a:ext cx="60747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05 / 10</a:t>
            </a:r>
            <a:endParaRPr lang="en-US" sz="1323" dirty="0"/>
          </a:p>
        </p:txBody>
      </p:sp>
      <p:sp>
        <p:nvSpPr>
          <p:cNvPr id="36" name="Editable text 34: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Our solutions"/>
          <p:cNvSpPr/>
          <p:nvPr/>
        </p:nvSpPr>
        <p:spPr>
          <a:xfrm>
            <a:off x="594271" y="970621"/>
            <a:ext cx="1208111"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Our solutions</a:t>
            </a:r>
            <a:endParaRPr lang="en-US" sz="1429" dirty="0"/>
          </a:p>
        </p:txBody>
      </p:sp>
      <p:sp>
        <p:nvSpPr>
          <p:cNvPr id="6" name="Editable text 4: Proven product patterns."/>
          <p:cNvSpPr/>
          <p:nvPr/>
        </p:nvSpPr>
        <p:spPr>
          <a:xfrm>
            <a:off x="594271" y="1320436"/>
            <a:ext cx="7345054" cy="959720"/>
          </a:xfrm>
          <a:prstGeom prst="rect">
            <a:avLst/>
          </a:prstGeom>
          <a:noFill/>
          <a:ln/>
        </p:spPr>
        <p:txBody>
          <a:bodyPr wrap="none" lIns="0" tIns="0" rIns="0" bIns="0" rtlCol="0" anchor="t"/>
          <a:lstStyle/>
          <a:p>
            <a:pPr algn="l" indent="0" marL="0">
              <a:buNone/>
            </a:pPr>
            <a:r>
              <a:rPr lang="en-US" sz="5398" spc="-297" kern="0" dirty="0">
                <a:solidFill>
                  <a:srgbClr val="17191E"/>
                </a:solidFill>
                <a:latin typeface="Albert Sans Medium" pitchFamily="34" charset="0"/>
                <a:ea typeface="Albert Sans Medium" pitchFamily="34" charset="-122"/>
                <a:cs typeface="Albert Sans Medium" pitchFamily="34" charset="-120"/>
              </a:rPr>
              <a:t>Proven product patterns.</a:t>
            </a:r>
            <a:endParaRPr lang="en-US" sz="5398" dirty="0"/>
          </a:p>
        </p:txBody>
      </p:sp>
      <p:sp>
        <p:nvSpPr>
          <p:cNvPr id="7" name="Editable text 5: Adapted to your context."/>
          <p:cNvSpPr/>
          <p:nvPr/>
        </p:nvSpPr>
        <p:spPr>
          <a:xfrm>
            <a:off x="594271" y="2025286"/>
            <a:ext cx="7371104" cy="959720"/>
          </a:xfrm>
          <a:prstGeom prst="rect">
            <a:avLst/>
          </a:prstGeom>
          <a:noFill/>
          <a:ln/>
        </p:spPr>
        <p:txBody>
          <a:bodyPr wrap="none" lIns="0" tIns="0" rIns="0" bIns="0" rtlCol="0" anchor="t"/>
          <a:lstStyle/>
          <a:p>
            <a:pPr algn="l" indent="0" marL="0">
              <a:buNone/>
            </a:pPr>
            <a:r>
              <a:rPr lang="en-US" sz="5398" spc="-297" kern="0" dirty="0">
                <a:solidFill>
                  <a:srgbClr val="3C4ED6"/>
                </a:solidFill>
                <a:latin typeface="Albert Sans Medium" pitchFamily="34" charset="0"/>
                <a:ea typeface="Albert Sans Medium" pitchFamily="34" charset="-122"/>
                <a:cs typeface="Albert Sans Medium" pitchFamily="34" charset="-120"/>
              </a:rPr>
              <a:t>Adapted to your context.</a:t>
            </a:r>
            <a:endParaRPr lang="en-US" sz="5398" dirty="0"/>
          </a:p>
        </p:txBody>
      </p:sp>
      <p:sp>
        <p:nvSpPr>
          <p:cNvPr id="8" name="Editable text 6: Guided service navigation"/>
          <p:cNvSpPr/>
          <p:nvPr/>
        </p:nvSpPr>
        <p:spPr>
          <a:xfrm>
            <a:off x="1490663" y="5612354"/>
            <a:ext cx="2446826"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Guided service navigation</a:t>
            </a:r>
            <a:endParaRPr lang="en-US" sz="1640" dirty="0"/>
          </a:p>
        </p:txBody>
      </p:sp>
      <p:sp>
        <p:nvSpPr>
          <p:cNvPr id="9" name="Editable text 7: Connect residents or staff to the right"/>
          <p:cNvSpPr/>
          <p:nvPr/>
        </p:nvSpPr>
        <p:spPr>
          <a:xfrm>
            <a:off x="1490663" y="5910996"/>
            <a:ext cx="3123438"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Connect residents or staff to the right</a:t>
            </a:r>
            <a:endParaRPr lang="en-US" sz="1376" dirty="0"/>
          </a:p>
        </p:txBody>
      </p:sp>
      <p:sp>
        <p:nvSpPr>
          <p:cNvPr id="10" name="Editable text 8: local resource."/>
          <p:cNvSpPr/>
          <p:nvPr/>
        </p:nvSpPr>
        <p:spPr>
          <a:xfrm>
            <a:off x="1490663" y="6158646"/>
            <a:ext cx="1252840"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local resource.</a:t>
            </a:r>
            <a:endParaRPr lang="en-US" sz="1376" dirty="0"/>
          </a:p>
        </p:txBody>
      </p:sp>
      <p:sp>
        <p:nvSpPr>
          <p:cNvPr id="11" name="Editable text 9: Ecosystem intelligence"/>
          <p:cNvSpPr/>
          <p:nvPr/>
        </p:nvSpPr>
        <p:spPr>
          <a:xfrm>
            <a:off x="6029474" y="5612354"/>
            <a:ext cx="2181438"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Ecosystem intelligence</a:t>
            </a:r>
            <a:endParaRPr lang="en-US" sz="1640" dirty="0"/>
          </a:p>
        </p:txBody>
      </p:sp>
      <p:sp>
        <p:nvSpPr>
          <p:cNvPr id="12" name="Editable text 10: Understand organizations, relationships,"/>
          <p:cNvSpPr/>
          <p:nvPr/>
        </p:nvSpPr>
        <p:spPr>
          <a:xfrm>
            <a:off x="6029474" y="5910996"/>
            <a:ext cx="3300624"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Understand organizations, relationships,</a:t>
            </a:r>
            <a:endParaRPr lang="en-US" sz="1376" dirty="0"/>
          </a:p>
        </p:txBody>
      </p:sp>
      <p:sp>
        <p:nvSpPr>
          <p:cNvPr id="13" name="Editable text 11: and service networks."/>
          <p:cNvSpPr/>
          <p:nvPr/>
        </p:nvSpPr>
        <p:spPr>
          <a:xfrm>
            <a:off x="6029474" y="6158646"/>
            <a:ext cx="1831736"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and service networks.</a:t>
            </a:r>
            <a:endParaRPr lang="en-US" sz="1376" dirty="0"/>
          </a:p>
        </p:txBody>
      </p:sp>
      <p:sp>
        <p:nvSpPr>
          <p:cNvPr id="14" name="Editable text 12: Decision-support dashboards"/>
          <p:cNvSpPr/>
          <p:nvPr/>
        </p:nvSpPr>
        <p:spPr>
          <a:xfrm>
            <a:off x="10568285" y="5612354"/>
            <a:ext cx="2777721"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Decision-support dashboards</a:t>
            </a:r>
            <a:endParaRPr lang="en-US" sz="1640" dirty="0"/>
          </a:p>
        </p:txBody>
      </p:sp>
      <p:sp>
        <p:nvSpPr>
          <p:cNvPr id="15" name="Editable text 13: Organize evidence for planning,"/>
          <p:cNvSpPr/>
          <p:nvPr/>
        </p:nvSpPr>
        <p:spPr>
          <a:xfrm>
            <a:off x="10568285" y="5920521"/>
            <a:ext cx="2645610"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Organize evidence for planning,</a:t>
            </a:r>
            <a:endParaRPr lang="en-US" sz="1376" dirty="0"/>
          </a:p>
        </p:txBody>
      </p:sp>
      <p:sp>
        <p:nvSpPr>
          <p:cNvPr id="16" name="Editable text 14: coordination, and action."/>
          <p:cNvSpPr/>
          <p:nvPr/>
        </p:nvSpPr>
        <p:spPr>
          <a:xfrm>
            <a:off x="10568285" y="6158646"/>
            <a:ext cx="2083995"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coordination, and action.</a:t>
            </a:r>
            <a:endParaRPr lang="en-US" sz="1376" dirty="0"/>
          </a:p>
        </p:txBody>
      </p:sp>
      <p:sp>
        <p:nvSpPr>
          <p:cNvPr id="17" name="Editable text 15: Not a template."/>
          <p:cNvSpPr/>
          <p:nvPr/>
        </p:nvSpPr>
        <p:spPr>
          <a:xfrm>
            <a:off x="594271" y="7057053"/>
            <a:ext cx="1537125"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SemiBold" pitchFamily="34" charset="0"/>
                <a:ea typeface="Albert Sans SemiBold" pitchFamily="34" charset="-122"/>
                <a:cs typeface="Albert Sans SemiBold" pitchFamily="34" charset="-120"/>
              </a:rPr>
              <a:t>Not a template.</a:t>
            </a:r>
            <a:endParaRPr lang="en-US" sz="1587" dirty="0"/>
          </a:p>
        </p:txBody>
      </p:sp>
      <p:sp>
        <p:nvSpPr>
          <p:cNvPr id="18" name="Editable text 16:  A starting pattern customized to your people, evidence"/>
          <p:cNvSpPr/>
          <p:nvPr/>
        </p:nvSpPr>
        <p:spPr>
          <a:xfrm>
            <a:off x="2020639" y="7057053"/>
            <a:ext cx="7350646" cy="282169"/>
          </a:xfrm>
          <a:prstGeom prst="rect">
            <a:avLst/>
          </a:prstGeom>
          <a:noFill/>
          <a:ln/>
        </p:spPr>
        <p:txBody>
          <a:bodyPr wrap="none" lIns="0" tIns="0" rIns="0" bIns="0" rtlCol="0" anchor="t"/>
          <a:lstStyle/>
          <a:p>
            <a:pPr algn="l" indent="0" marL="0">
              <a:buNone/>
            </a:pPr>
            <a:r>
              <a:rPr lang="en-US" sz="1587" dirty="0">
                <a:solidFill>
                  <a:srgbClr val="646973"/>
                </a:solidFill>
                <a:latin typeface="Albert Sans" pitchFamily="34" charset="0"/>
                <a:ea typeface="Albert Sans" pitchFamily="34" charset="-122"/>
                <a:cs typeface="Albert Sans" pitchFamily="34" charset="-120"/>
              </a:rPr>
              <a:t> A starting pattern customized to your people, evidence, and operating model.</a:t>
            </a:r>
            <a:endParaRPr lang="en-US" sz="1587" dirty="0"/>
          </a:p>
        </p:txBody>
      </p:sp>
      <p:sp>
        <p:nvSpPr>
          <p:cNvPr id="19" name="Editable text 17: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20" name="Editable text 18: 06 / 10"/>
          <p:cNvSpPr/>
          <p:nvPr/>
        </p:nvSpPr>
        <p:spPr>
          <a:xfrm>
            <a:off x="13525202" y="7688980"/>
            <a:ext cx="603311"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06 / 10</a:t>
            </a:r>
            <a:endParaRPr lang="en-US" sz="1323" dirty="0"/>
          </a:p>
        </p:txBody>
      </p:sp>
      <p:sp>
        <p:nvSpPr>
          <p:cNvPr id="21" name="Editable text 19: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Case study"/>
          <p:cNvSpPr/>
          <p:nvPr/>
        </p:nvSpPr>
        <p:spPr>
          <a:xfrm>
            <a:off x="594271" y="1008721"/>
            <a:ext cx="1033223"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Case study</a:t>
            </a:r>
            <a:endParaRPr lang="en-US" sz="1429" dirty="0"/>
          </a:p>
        </p:txBody>
      </p:sp>
      <p:sp>
        <p:nvSpPr>
          <p:cNvPr id="6" name="Editable text 4: A clearer"/>
          <p:cNvSpPr/>
          <p:nvPr/>
        </p:nvSpPr>
        <p:spPr>
          <a:xfrm>
            <a:off x="594271" y="1341482"/>
            <a:ext cx="3876099" cy="1279627"/>
          </a:xfrm>
          <a:prstGeom prst="rect">
            <a:avLst/>
          </a:prstGeom>
          <a:noFill/>
          <a:ln/>
        </p:spPr>
        <p:txBody>
          <a:bodyPr wrap="none" lIns="0" tIns="0" rIns="0" bIns="0" rtlCol="0" anchor="t"/>
          <a:lstStyle/>
          <a:p>
            <a:pPr algn="l" indent="0" marL="0">
              <a:buNone/>
            </a:pPr>
            <a:r>
              <a:rPr lang="en-US" sz="7197" spc="-396" kern="0" dirty="0">
                <a:solidFill>
                  <a:srgbClr val="17191E"/>
                </a:solidFill>
                <a:latin typeface="Albert Sans Medium" pitchFamily="34" charset="0"/>
                <a:ea typeface="Albert Sans Medium" pitchFamily="34" charset="-122"/>
                <a:cs typeface="Albert Sans Medium" pitchFamily="34" charset="-120"/>
              </a:rPr>
              <a:t>A clearer</a:t>
            </a:r>
            <a:endParaRPr lang="en-US" sz="7197" dirty="0"/>
          </a:p>
        </p:txBody>
      </p:sp>
      <p:sp>
        <p:nvSpPr>
          <p:cNvPr id="7" name="Editable text 5: way to"/>
          <p:cNvSpPr/>
          <p:nvPr/>
        </p:nvSpPr>
        <p:spPr>
          <a:xfrm>
            <a:off x="594271" y="2274932"/>
            <a:ext cx="3005759" cy="1279627"/>
          </a:xfrm>
          <a:prstGeom prst="rect">
            <a:avLst/>
          </a:prstGeom>
          <a:noFill/>
          <a:ln/>
        </p:spPr>
        <p:txBody>
          <a:bodyPr wrap="none" lIns="0" tIns="0" rIns="0" bIns="0" rtlCol="0" anchor="t"/>
          <a:lstStyle/>
          <a:p>
            <a:pPr algn="l" indent="0" marL="0">
              <a:buNone/>
            </a:pPr>
            <a:r>
              <a:rPr lang="en-US" sz="7197" spc="-396" kern="0" dirty="0">
                <a:solidFill>
                  <a:srgbClr val="17191E"/>
                </a:solidFill>
                <a:latin typeface="Albert Sans Medium" pitchFamily="34" charset="0"/>
                <a:ea typeface="Albert Sans Medium" pitchFamily="34" charset="-122"/>
                <a:cs typeface="Albert Sans Medium" pitchFamily="34" charset="-120"/>
              </a:rPr>
              <a:t>way to</a:t>
            </a:r>
            <a:endParaRPr lang="en-US" sz="7197" dirty="0"/>
          </a:p>
        </p:txBody>
      </p:sp>
      <p:sp>
        <p:nvSpPr>
          <p:cNvPr id="8" name="Editable text 6: connect."/>
          <p:cNvSpPr/>
          <p:nvPr/>
        </p:nvSpPr>
        <p:spPr>
          <a:xfrm>
            <a:off x="594271" y="3208382"/>
            <a:ext cx="3777288" cy="1279627"/>
          </a:xfrm>
          <a:prstGeom prst="rect">
            <a:avLst/>
          </a:prstGeom>
          <a:noFill/>
          <a:ln/>
        </p:spPr>
        <p:txBody>
          <a:bodyPr wrap="none" lIns="0" tIns="0" rIns="0" bIns="0" rtlCol="0" anchor="t"/>
          <a:lstStyle/>
          <a:p>
            <a:pPr algn="l" indent="0" marL="0">
              <a:buNone/>
            </a:pPr>
            <a:r>
              <a:rPr lang="en-US" sz="7197" spc="-396" kern="0" dirty="0">
                <a:solidFill>
                  <a:srgbClr val="3C4ED6"/>
                </a:solidFill>
                <a:latin typeface="Albert Sans Medium" pitchFamily="34" charset="0"/>
                <a:ea typeface="Albert Sans Medium" pitchFamily="34" charset="-122"/>
                <a:cs typeface="Albert Sans Medium" pitchFamily="34" charset="-120"/>
              </a:rPr>
              <a:t>connect.</a:t>
            </a:r>
            <a:endParaRPr lang="en-US" sz="7197" dirty="0"/>
          </a:p>
        </p:txBody>
      </p:sp>
      <p:sp>
        <p:nvSpPr>
          <p:cNvPr id="9" name="Editable text 7: Guided service navigation "/>
          <p:cNvSpPr/>
          <p:nvPr/>
        </p:nvSpPr>
        <p:spPr>
          <a:xfrm>
            <a:off x="594271" y="4444146"/>
            <a:ext cx="2238331" cy="244564"/>
          </a:xfrm>
          <a:prstGeom prst="rect">
            <a:avLst/>
          </a:prstGeom>
          <a:noFill/>
          <a:ln/>
        </p:spPr>
        <p:txBody>
          <a:bodyPr wrap="none" lIns="0" tIns="0" rIns="0" bIns="0" rtlCol="0" anchor="t"/>
          <a:lstStyle/>
          <a:p>
            <a:pPr algn="l" indent="0" marL="0">
              <a:buNone/>
            </a:pPr>
            <a:r>
              <a:rPr lang="en-US" sz="1376" dirty="0">
                <a:solidFill>
                  <a:srgbClr val="17191E"/>
                </a:solidFill>
                <a:latin typeface="Albert Sans" pitchFamily="34" charset="0"/>
                <a:ea typeface="Albert Sans" pitchFamily="34" charset="-122"/>
                <a:cs typeface="Albert Sans" pitchFamily="34" charset="-120"/>
              </a:rPr>
              <a:t>Guided service navigation </a:t>
            </a:r>
            <a:endParaRPr lang="en-US" sz="1376" dirty="0"/>
          </a:p>
        </p:txBody>
      </p:sp>
      <p:sp>
        <p:nvSpPr>
          <p:cNvPr id="10" name="Editable text 8: |"/>
          <p:cNvSpPr/>
          <p:nvPr/>
        </p:nvSpPr>
        <p:spPr>
          <a:xfrm>
            <a:off x="2788890" y="4444146"/>
            <a:ext cx="145690" cy="244564"/>
          </a:xfrm>
          <a:prstGeom prst="rect">
            <a:avLst/>
          </a:prstGeom>
          <a:noFill/>
          <a:ln/>
        </p:spPr>
        <p:txBody>
          <a:bodyPr wrap="none" lIns="0" tIns="0" rIns="0" bIns="0" rtlCol="0" anchor="t"/>
          <a:lstStyle/>
          <a:p>
            <a:pPr algn="l" indent="0" marL="0">
              <a:buNone/>
            </a:pPr>
            <a:r>
              <a:rPr lang="en-US" sz="1376" dirty="0">
                <a:solidFill>
                  <a:srgbClr val="3C4ED6"/>
                </a:solidFill>
                <a:latin typeface="Albert Sans" pitchFamily="34" charset="0"/>
                <a:ea typeface="Albert Sans" pitchFamily="34" charset="-122"/>
                <a:cs typeface="Albert Sans" pitchFamily="34" charset="-120"/>
              </a:rPr>
              <a:t>|</a:t>
            </a:r>
            <a:endParaRPr lang="en-US" sz="1376" dirty="0"/>
          </a:p>
        </p:txBody>
      </p:sp>
      <p:sp>
        <p:nvSpPr>
          <p:cNvPr id="11" name="Editable text 9:  Clark County Digital Equity Assistant"/>
          <p:cNvSpPr/>
          <p:nvPr/>
        </p:nvSpPr>
        <p:spPr>
          <a:xfrm>
            <a:off x="2890986" y="4444146"/>
            <a:ext cx="3090620" cy="244564"/>
          </a:xfrm>
          <a:prstGeom prst="rect">
            <a:avLst/>
          </a:prstGeom>
          <a:noFill/>
          <a:ln/>
        </p:spPr>
        <p:txBody>
          <a:bodyPr wrap="none" lIns="0" tIns="0" rIns="0" bIns="0" rtlCol="0" anchor="t"/>
          <a:lstStyle/>
          <a:p>
            <a:pPr algn="l" indent="0" marL="0">
              <a:buNone/>
            </a:pPr>
            <a:r>
              <a:rPr lang="en-US" sz="1376" dirty="0">
                <a:solidFill>
                  <a:srgbClr val="17191E"/>
                </a:solidFill>
                <a:latin typeface="Albert Sans" pitchFamily="34" charset="0"/>
                <a:ea typeface="Albert Sans" pitchFamily="34" charset="-122"/>
                <a:cs typeface="Albert Sans" pitchFamily="34" charset="-120"/>
              </a:rPr>
              <a:t> Clark County Digital Equity Assistant</a:t>
            </a:r>
            <a:endParaRPr lang="en-US" sz="1376" dirty="0"/>
          </a:p>
        </p:txBody>
      </p:sp>
      <p:sp>
        <p:nvSpPr>
          <p:cNvPr id="12" name="Editable text 10: The assistant helps county staff and partners find inte"/>
          <p:cNvSpPr/>
          <p:nvPr/>
        </p:nvSpPr>
        <p:spPr>
          <a:xfrm>
            <a:off x="594271" y="4920263"/>
            <a:ext cx="5289915"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The assistant helps county staff and partners find internet,</a:t>
            </a:r>
            <a:endParaRPr lang="en-US" sz="1534" dirty="0"/>
          </a:p>
        </p:txBody>
      </p:sp>
      <p:sp>
        <p:nvSpPr>
          <p:cNvPr id="13" name="Editable text 11: training, and device resources for residents."/>
          <p:cNvSpPr/>
          <p:nvPr/>
        </p:nvSpPr>
        <p:spPr>
          <a:xfrm>
            <a:off x="594271" y="5206013"/>
            <a:ext cx="4024186" cy="272834"/>
          </a:xfrm>
          <a:prstGeom prst="rect">
            <a:avLst/>
          </a:prstGeom>
          <a:noFill/>
          <a:ln/>
        </p:spPr>
        <p:txBody>
          <a:bodyPr wrap="none" lIns="0" tIns="0" rIns="0" bIns="0" rtlCol="0" anchor="t"/>
          <a:lstStyle/>
          <a:p>
            <a:pPr algn="l" indent="0" marL="0">
              <a:buNone/>
            </a:pPr>
            <a:r>
              <a:rPr lang="en-US" sz="1534" dirty="0">
                <a:solidFill>
                  <a:srgbClr val="646973"/>
                </a:solidFill>
                <a:latin typeface="Albert Sans" pitchFamily="34" charset="0"/>
                <a:ea typeface="Albert Sans" pitchFamily="34" charset="-122"/>
                <a:cs typeface="Albert Sans" pitchFamily="34" charset="-120"/>
              </a:rPr>
              <a:t>training, and device resources for residents.</a:t>
            </a:r>
            <a:endParaRPr lang="en-US" sz="1534" dirty="0"/>
          </a:p>
        </p:txBody>
      </p:sp>
      <p:sp>
        <p:nvSpPr>
          <p:cNvPr id="14" name="Editable text 12: Internet"/>
          <p:cNvSpPr/>
          <p:nvPr/>
        </p:nvSpPr>
        <p:spPr>
          <a:xfrm>
            <a:off x="594271" y="6418878"/>
            <a:ext cx="825835"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Internet</a:t>
            </a:r>
            <a:endParaRPr lang="en-US" sz="1587" dirty="0"/>
          </a:p>
        </p:txBody>
      </p:sp>
      <p:sp>
        <p:nvSpPr>
          <p:cNvPr id="15" name="Editable text 13: Skills"/>
          <p:cNvSpPr/>
          <p:nvPr/>
        </p:nvSpPr>
        <p:spPr>
          <a:xfrm>
            <a:off x="3041303" y="6418878"/>
            <a:ext cx="570522"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Skills</a:t>
            </a:r>
            <a:endParaRPr lang="en-US" sz="1587" dirty="0"/>
          </a:p>
        </p:txBody>
      </p:sp>
      <p:sp>
        <p:nvSpPr>
          <p:cNvPr id="16" name="Editable text 14: Devices"/>
          <p:cNvSpPr/>
          <p:nvPr/>
        </p:nvSpPr>
        <p:spPr>
          <a:xfrm>
            <a:off x="5232797" y="6418878"/>
            <a:ext cx="849013"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Devices</a:t>
            </a:r>
            <a:endParaRPr lang="en-US" sz="1587" dirty="0"/>
          </a:p>
        </p:txBody>
      </p:sp>
      <p:sp>
        <p:nvSpPr>
          <p:cNvPr id="17" name="Editable text 15: Responsive web product"/>
          <p:cNvSpPr/>
          <p:nvPr/>
        </p:nvSpPr>
        <p:spPr>
          <a:xfrm>
            <a:off x="1024235" y="7007543"/>
            <a:ext cx="1581925" cy="186690"/>
          </a:xfrm>
          <a:prstGeom prst="rect">
            <a:avLst/>
          </a:prstGeom>
          <a:noFill/>
          <a:ln/>
        </p:spPr>
        <p:txBody>
          <a:bodyPr wrap="none" lIns="0" tIns="0" rIns="0" bIns="0" rtlCol="0" anchor="t"/>
          <a:lstStyle/>
          <a:p>
            <a:pPr algn="l" indent="0" marL="0">
              <a:buNone/>
            </a:pPr>
            <a:r>
              <a:rPr lang="en-US" sz="1050" dirty="0">
                <a:solidFill>
                  <a:srgbClr val="646973"/>
                </a:solidFill>
                <a:latin typeface="Albert Sans" pitchFamily="34" charset="0"/>
                <a:ea typeface="Albert Sans" pitchFamily="34" charset="-122"/>
                <a:cs typeface="Albert Sans" pitchFamily="34" charset="-120"/>
              </a:rPr>
              <a:t>Responsive web product</a:t>
            </a:r>
            <a:endParaRPr lang="en-US" sz="1050" dirty="0"/>
          </a:p>
        </p:txBody>
      </p:sp>
      <p:sp>
        <p:nvSpPr>
          <p:cNvPr id="18" name="Editable text 16: English / Español interface"/>
          <p:cNvSpPr/>
          <p:nvPr/>
        </p:nvSpPr>
        <p:spPr>
          <a:xfrm>
            <a:off x="3231654" y="7007543"/>
            <a:ext cx="1691271" cy="186690"/>
          </a:xfrm>
          <a:prstGeom prst="rect">
            <a:avLst/>
          </a:prstGeom>
          <a:noFill/>
          <a:ln/>
        </p:spPr>
        <p:txBody>
          <a:bodyPr wrap="none" lIns="0" tIns="0" rIns="0" bIns="0" rtlCol="0" anchor="t"/>
          <a:lstStyle/>
          <a:p>
            <a:pPr algn="l" indent="0" marL="0">
              <a:buNone/>
            </a:pPr>
            <a:r>
              <a:rPr lang="en-US" sz="1050" dirty="0">
                <a:solidFill>
                  <a:srgbClr val="646973"/>
                </a:solidFill>
                <a:latin typeface="Albert Sans" pitchFamily="34" charset="0"/>
                <a:ea typeface="Albert Sans" pitchFamily="34" charset="-122"/>
                <a:cs typeface="Albert Sans" pitchFamily="34" charset="-120"/>
              </a:rPr>
              <a:t>English / Español interface</a:t>
            </a:r>
            <a:endParaRPr lang="en-US" sz="1050" dirty="0"/>
          </a:p>
        </p:txBody>
      </p:sp>
      <p:sp>
        <p:nvSpPr>
          <p:cNvPr id="19" name="Editable text 17: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20" name="Editable text 18: 07 / 10"/>
          <p:cNvSpPr/>
          <p:nvPr/>
        </p:nvSpPr>
        <p:spPr>
          <a:xfrm>
            <a:off x="13532495" y="7688980"/>
            <a:ext cx="59601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07 / 10</a:t>
            </a:r>
            <a:endParaRPr lang="en-US" sz="1323" dirty="0"/>
          </a:p>
        </p:txBody>
      </p:sp>
      <p:sp>
        <p:nvSpPr>
          <p:cNvPr id="21" name="Editable text 19: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Case study"/>
          <p:cNvSpPr/>
          <p:nvPr/>
        </p:nvSpPr>
        <p:spPr>
          <a:xfrm>
            <a:off x="594271" y="1218271"/>
            <a:ext cx="1033223"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Case study</a:t>
            </a:r>
            <a:endParaRPr lang="en-US" sz="1429" dirty="0"/>
          </a:p>
        </p:txBody>
      </p:sp>
      <p:sp>
        <p:nvSpPr>
          <p:cNvPr id="6" name="Editable text 4: See the network."/>
          <p:cNvSpPr/>
          <p:nvPr/>
        </p:nvSpPr>
        <p:spPr>
          <a:xfrm>
            <a:off x="594271" y="1571587"/>
            <a:ext cx="4687806" cy="884377"/>
          </a:xfrm>
          <a:prstGeom prst="rect">
            <a:avLst/>
          </a:prstGeom>
          <a:noFill/>
          <a:ln/>
        </p:spPr>
        <p:txBody>
          <a:bodyPr wrap="none" lIns="0" tIns="0" rIns="0" bIns="0" rtlCol="0" anchor="t"/>
          <a:lstStyle/>
          <a:p>
            <a:pPr algn="l" indent="0" marL="0">
              <a:buNone/>
            </a:pPr>
            <a:r>
              <a:rPr lang="en-US" sz="4974" spc="-274" kern="0" dirty="0">
                <a:solidFill>
                  <a:srgbClr val="17191E"/>
                </a:solidFill>
                <a:latin typeface="Albert Sans Medium" pitchFamily="34" charset="0"/>
                <a:ea typeface="Albert Sans Medium" pitchFamily="34" charset="-122"/>
                <a:cs typeface="Albert Sans Medium" pitchFamily="34" charset="-120"/>
              </a:rPr>
              <a:t>See the network.</a:t>
            </a:r>
            <a:endParaRPr lang="en-US" sz="4974" dirty="0"/>
          </a:p>
        </p:txBody>
      </p:sp>
      <p:sp>
        <p:nvSpPr>
          <p:cNvPr id="7" name="Editable text 5: See the opportunity."/>
          <p:cNvSpPr/>
          <p:nvPr/>
        </p:nvSpPr>
        <p:spPr>
          <a:xfrm>
            <a:off x="594271" y="2209762"/>
            <a:ext cx="5584193" cy="884377"/>
          </a:xfrm>
          <a:prstGeom prst="rect">
            <a:avLst/>
          </a:prstGeom>
          <a:noFill/>
          <a:ln/>
        </p:spPr>
        <p:txBody>
          <a:bodyPr wrap="none" lIns="0" tIns="0" rIns="0" bIns="0" rtlCol="0" anchor="t"/>
          <a:lstStyle/>
          <a:p>
            <a:pPr algn="l" indent="0" marL="0">
              <a:buNone/>
            </a:pPr>
            <a:r>
              <a:rPr lang="en-US" sz="4974" spc="-274" kern="0" dirty="0">
                <a:solidFill>
                  <a:srgbClr val="3C4ED6"/>
                </a:solidFill>
                <a:latin typeface="Albert Sans Medium" pitchFamily="34" charset="0"/>
                <a:ea typeface="Albert Sans Medium" pitchFamily="34" charset="-122"/>
                <a:cs typeface="Albert Sans Medium" pitchFamily="34" charset="-120"/>
              </a:rPr>
              <a:t>See the opportunity.</a:t>
            </a:r>
            <a:endParaRPr lang="en-US" sz="4974" dirty="0"/>
          </a:p>
        </p:txBody>
      </p:sp>
      <p:sp>
        <p:nvSpPr>
          <p:cNvPr id="8" name="Editable text 6: Ecosystem intelligence "/>
          <p:cNvSpPr/>
          <p:nvPr/>
        </p:nvSpPr>
        <p:spPr>
          <a:xfrm>
            <a:off x="594271" y="3139221"/>
            <a:ext cx="1997941" cy="244564"/>
          </a:xfrm>
          <a:prstGeom prst="rect">
            <a:avLst/>
          </a:prstGeom>
          <a:noFill/>
          <a:ln/>
        </p:spPr>
        <p:txBody>
          <a:bodyPr wrap="none" lIns="0" tIns="0" rIns="0" bIns="0" rtlCol="0" anchor="t"/>
          <a:lstStyle/>
          <a:p>
            <a:pPr algn="l" indent="0" marL="0">
              <a:buNone/>
            </a:pPr>
            <a:r>
              <a:rPr lang="en-US" sz="1376" dirty="0">
                <a:solidFill>
                  <a:srgbClr val="17191E"/>
                </a:solidFill>
                <a:latin typeface="Albert Sans" pitchFamily="34" charset="0"/>
                <a:ea typeface="Albert Sans" pitchFamily="34" charset="-122"/>
                <a:cs typeface="Albert Sans" pitchFamily="34" charset="-120"/>
              </a:rPr>
              <a:t>Ecosystem intelligence </a:t>
            </a:r>
            <a:endParaRPr lang="en-US" sz="1376" dirty="0"/>
          </a:p>
        </p:txBody>
      </p:sp>
      <p:sp>
        <p:nvSpPr>
          <p:cNvPr id="9" name="Editable text 7: |"/>
          <p:cNvSpPr/>
          <p:nvPr/>
        </p:nvSpPr>
        <p:spPr>
          <a:xfrm>
            <a:off x="2548533" y="3139221"/>
            <a:ext cx="145690" cy="244564"/>
          </a:xfrm>
          <a:prstGeom prst="rect">
            <a:avLst/>
          </a:prstGeom>
          <a:noFill/>
          <a:ln/>
        </p:spPr>
        <p:txBody>
          <a:bodyPr wrap="none" lIns="0" tIns="0" rIns="0" bIns="0" rtlCol="0" anchor="t"/>
          <a:lstStyle/>
          <a:p>
            <a:pPr algn="l" indent="0" marL="0">
              <a:buNone/>
            </a:pPr>
            <a:r>
              <a:rPr lang="en-US" sz="1376" dirty="0">
                <a:solidFill>
                  <a:srgbClr val="3C4ED6"/>
                </a:solidFill>
                <a:latin typeface="Albert Sans" pitchFamily="34" charset="0"/>
                <a:ea typeface="Albert Sans" pitchFamily="34" charset="-122"/>
                <a:cs typeface="Albert Sans" pitchFamily="34" charset="-120"/>
              </a:rPr>
              <a:t>|</a:t>
            </a:r>
            <a:endParaRPr lang="en-US" sz="1376" dirty="0"/>
          </a:p>
        </p:txBody>
      </p:sp>
      <p:sp>
        <p:nvSpPr>
          <p:cNvPr id="10" name="Editable text 8:  Regional grantee &amp;amp; organization network"/>
          <p:cNvSpPr/>
          <p:nvPr/>
        </p:nvSpPr>
        <p:spPr>
          <a:xfrm>
            <a:off x="2650629" y="3139221"/>
            <a:ext cx="3402428" cy="244564"/>
          </a:xfrm>
          <a:prstGeom prst="rect">
            <a:avLst/>
          </a:prstGeom>
          <a:noFill/>
          <a:ln/>
        </p:spPr>
        <p:txBody>
          <a:bodyPr wrap="none" lIns="0" tIns="0" rIns="0" bIns="0" rtlCol="0" anchor="t"/>
          <a:lstStyle/>
          <a:p>
            <a:pPr algn="l" indent="0" marL="0">
              <a:buNone/>
            </a:pPr>
            <a:r>
              <a:rPr lang="en-US" sz="1376" dirty="0">
                <a:solidFill>
                  <a:srgbClr val="17191E"/>
                </a:solidFill>
                <a:latin typeface="Albert Sans" pitchFamily="34" charset="0"/>
                <a:ea typeface="Albert Sans" pitchFamily="34" charset="-122"/>
                <a:cs typeface="Albert Sans" pitchFamily="34" charset="-120"/>
              </a:rPr>
              <a:t> Regional grantee &amp; organization network</a:t>
            </a:r>
            <a:endParaRPr lang="en-US" sz="1376" dirty="0"/>
          </a:p>
        </p:txBody>
      </p:sp>
      <p:sp>
        <p:nvSpPr>
          <p:cNvPr id="11" name="Editable text 9: An interactive network tool helps foundations,"/>
          <p:cNvSpPr/>
          <p:nvPr/>
        </p:nvSpPr>
        <p:spPr>
          <a:xfrm>
            <a:off x="594271" y="3621495"/>
            <a:ext cx="4928429"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An interactive network tool helps foundations,</a:t>
            </a:r>
            <a:endParaRPr lang="en-US" sz="1799" dirty="0"/>
          </a:p>
        </p:txBody>
      </p:sp>
      <p:sp>
        <p:nvSpPr>
          <p:cNvPr id="12" name="Editable text 10: intermediaries, and partners understand organizations,"/>
          <p:cNvSpPr/>
          <p:nvPr/>
        </p:nvSpPr>
        <p:spPr>
          <a:xfrm>
            <a:off x="594271" y="3964395"/>
            <a:ext cx="5854804"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intermediaries, and partners understand organizations,</a:t>
            </a:r>
            <a:endParaRPr lang="en-US" sz="1799" dirty="0"/>
          </a:p>
        </p:txBody>
      </p:sp>
      <p:sp>
        <p:nvSpPr>
          <p:cNvPr id="13" name="Editable text 11: relationships, and areas of service."/>
          <p:cNvSpPr/>
          <p:nvPr/>
        </p:nvSpPr>
        <p:spPr>
          <a:xfrm>
            <a:off x="594271" y="4307295"/>
            <a:ext cx="3726773"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relationships, and areas of service.</a:t>
            </a:r>
            <a:endParaRPr lang="en-US" sz="1799" dirty="0"/>
          </a:p>
        </p:txBody>
      </p:sp>
      <p:sp>
        <p:nvSpPr>
          <p:cNvPr id="14" name="Editable text 12: Explore organizations"/>
          <p:cNvSpPr/>
          <p:nvPr/>
        </p:nvSpPr>
        <p:spPr>
          <a:xfrm>
            <a:off x="1440954" y="5018703"/>
            <a:ext cx="2097392"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Explore organizations</a:t>
            </a:r>
            <a:endParaRPr lang="en-US" sz="1587" dirty="0"/>
          </a:p>
        </p:txBody>
      </p:sp>
      <p:sp>
        <p:nvSpPr>
          <p:cNvPr id="15" name="Editable text 13: Understand connections"/>
          <p:cNvSpPr/>
          <p:nvPr/>
        </p:nvSpPr>
        <p:spPr>
          <a:xfrm>
            <a:off x="1440954" y="5828328"/>
            <a:ext cx="2368629"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Understand connections</a:t>
            </a:r>
            <a:endParaRPr lang="en-US" sz="1587" dirty="0"/>
          </a:p>
        </p:txBody>
      </p:sp>
      <p:sp>
        <p:nvSpPr>
          <p:cNvPr id="16" name="Editable text 14: Inform coordination and investment"/>
          <p:cNvSpPr/>
          <p:nvPr/>
        </p:nvSpPr>
        <p:spPr>
          <a:xfrm>
            <a:off x="1440954" y="6628428"/>
            <a:ext cx="3417303"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Inform coordination and investment</a:t>
            </a:r>
            <a:endParaRPr lang="en-US" sz="1587" dirty="0"/>
          </a:p>
        </p:txBody>
      </p:sp>
      <p:sp>
        <p:nvSpPr>
          <p:cNvPr id="17" name="Editable text 15: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18" name="Editable text 16: 08 / 10"/>
          <p:cNvSpPr/>
          <p:nvPr/>
        </p:nvSpPr>
        <p:spPr>
          <a:xfrm>
            <a:off x="13519696" y="7688980"/>
            <a:ext cx="608817"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08 / 10</a:t>
            </a:r>
            <a:endParaRPr lang="en-US" sz="1323" dirty="0"/>
          </a:p>
        </p:txBody>
      </p:sp>
      <p:sp>
        <p:nvSpPr>
          <p:cNvPr id="19" name="Editable text 17: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Our offering"/>
          <p:cNvSpPr/>
          <p:nvPr/>
        </p:nvSpPr>
        <p:spPr>
          <a:xfrm>
            <a:off x="594271" y="970621"/>
            <a:ext cx="1110511"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Our offering</a:t>
            </a:r>
            <a:endParaRPr lang="en-US" sz="1429" dirty="0"/>
          </a:p>
        </p:txBody>
      </p:sp>
      <p:sp>
        <p:nvSpPr>
          <p:cNvPr id="6" name="Editable text 4: Your context."/>
          <p:cNvSpPr/>
          <p:nvPr/>
        </p:nvSpPr>
        <p:spPr>
          <a:xfrm>
            <a:off x="594271" y="1320084"/>
            <a:ext cx="4588652" cy="1072534"/>
          </a:xfrm>
          <a:prstGeom prst="rect">
            <a:avLst/>
          </a:prstGeom>
          <a:noFill/>
          <a:ln/>
        </p:spPr>
        <p:txBody>
          <a:bodyPr wrap="none" lIns="0" tIns="0" rIns="0" bIns="0" rtlCol="0" anchor="t"/>
          <a:lstStyle/>
          <a:p>
            <a:pPr algn="l" indent="0" marL="0">
              <a:buNone/>
            </a:pPr>
            <a:r>
              <a:rPr lang="en-US" sz="6032" spc="-332" kern="0" dirty="0">
                <a:solidFill>
                  <a:srgbClr val="17191E"/>
                </a:solidFill>
                <a:latin typeface="Albert Sans Medium" pitchFamily="34" charset="0"/>
                <a:ea typeface="Albert Sans Medium" pitchFamily="34" charset="-122"/>
                <a:cs typeface="Albert Sans Medium" pitchFamily="34" charset="-120"/>
              </a:rPr>
              <a:t>Your context.</a:t>
            </a:r>
            <a:endParaRPr lang="en-US" sz="6032" dirty="0"/>
          </a:p>
        </p:txBody>
      </p:sp>
      <p:sp>
        <p:nvSpPr>
          <p:cNvPr id="7" name="Editable text 5: Not a template."/>
          <p:cNvSpPr/>
          <p:nvPr/>
        </p:nvSpPr>
        <p:spPr>
          <a:xfrm>
            <a:off x="594271" y="2110659"/>
            <a:ext cx="5229287" cy="1072534"/>
          </a:xfrm>
          <a:prstGeom prst="rect">
            <a:avLst/>
          </a:prstGeom>
          <a:noFill/>
          <a:ln/>
        </p:spPr>
        <p:txBody>
          <a:bodyPr wrap="none" lIns="0" tIns="0" rIns="0" bIns="0" rtlCol="0" anchor="t"/>
          <a:lstStyle/>
          <a:p>
            <a:pPr algn="l" indent="0" marL="0">
              <a:buNone/>
            </a:pPr>
            <a:r>
              <a:rPr lang="en-US" sz="6032" spc="-332" kern="0" dirty="0">
                <a:solidFill>
                  <a:srgbClr val="3C4ED6"/>
                </a:solidFill>
                <a:latin typeface="Albert Sans Medium" pitchFamily="34" charset="0"/>
                <a:ea typeface="Albert Sans Medium" pitchFamily="34" charset="-122"/>
                <a:cs typeface="Albert Sans Medium" pitchFamily="34" charset="-120"/>
              </a:rPr>
              <a:t>Not a template.</a:t>
            </a:r>
            <a:endParaRPr lang="en-US" sz="6032" dirty="0"/>
          </a:p>
        </p:txBody>
      </p:sp>
      <p:sp>
        <p:nvSpPr>
          <p:cNvPr id="8" name="Editable text 6: We scope the data model, interface, and operating workf"/>
          <p:cNvSpPr/>
          <p:nvPr/>
        </p:nvSpPr>
        <p:spPr>
          <a:xfrm>
            <a:off x="594271" y="3164295"/>
            <a:ext cx="7771970"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We scope the data model, interface, and operating workflow around your</a:t>
            </a:r>
            <a:endParaRPr lang="en-US" sz="1799" dirty="0"/>
          </a:p>
        </p:txBody>
      </p:sp>
      <p:sp>
        <p:nvSpPr>
          <p:cNvPr id="9" name="Editable text 7: organization, rather than asking your team to adapt to "/>
          <p:cNvSpPr/>
          <p:nvPr/>
        </p:nvSpPr>
        <p:spPr>
          <a:xfrm>
            <a:off x="594271" y="3507195"/>
            <a:ext cx="7749807"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organization, rather than asking your team to adapt to a generic product.</a:t>
            </a:r>
            <a:endParaRPr lang="en-US" sz="1799" dirty="0"/>
          </a:p>
        </p:txBody>
      </p:sp>
      <p:sp>
        <p:nvSpPr>
          <p:cNvPr id="10" name="Editable text 8: Your people"/>
          <p:cNvSpPr/>
          <p:nvPr/>
        </p:nvSpPr>
        <p:spPr>
          <a:xfrm>
            <a:off x="1709886" y="4433735"/>
            <a:ext cx="1929647" cy="470459"/>
          </a:xfrm>
          <a:prstGeom prst="rect">
            <a:avLst/>
          </a:prstGeom>
          <a:noFill/>
          <a:ln/>
        </p:spPr>
        <p:txBody>
          <a:bodyPr wrap="none" lIns="0" tIns="0" rIns="0" bIns="0" rtlCol="0" anchor="t"/>
          <a:lstStyle/>
          <a:p>
            <a:pPr algn="l" indent="0" marL="0">
              <a:buNone/>
            </a:pPr>
            <a:r>
              <a:rPr lang="en-US" sz="2646" spc="-93" kern="0" dirty="0">
                <a:solidFill>
                  <a:srgbClr val="17191E"/>
                </a:solidFill>
                <a:latin typeface="Albert Sans Medium" pitchFamily="34" charset="0"/>
                <a:ea typeface="Albert Sans Medium" pitchFamily="34" charset="-122"/>
                <a:cs typeface="Albert Sans Medium" pitchFamily="34" charset="-120"/>
              </a:rPr>
              <a:t>Your people</a:t>
            </a:r>
            <a:endParaRPr lang="en-US" sz="2646" dirty="0"/>
          </a:p>
        </p:txBody>
      </p:sp>
      <p:sp>
        <p:nvSpPr>
          <p:cNvPr id="11" name="Editable text 9: Tasks · language · access"/>
          <p:cNvSpPr/>
          <p:nvPr/>
        </p:nvSpPr>
        <p:spPr>
          <a:xfrm>
            <a:off x="1709886" y="4910695"/>
            <a:ext cx="2570365" cy="300971"/>
          </a:xfrm>
          <a:prstGeom prst="rect">
            <a:avLst/>
          </a:prstGeom>
          <a:noFill/>
          <a:ln/>
        </p:spPr>
        <p:txBody>
          <a:bodyPr wrap="none" lIns="0" tIns="0" rIns="0" bIns="0" rtlCol="0" anchor="t"/>
          <a:lstStyle/>
          <a:p>
            <a:pPr algn="l" indent="0" marL="0">
              <a:buNone/>
            </a:pPr>
            <a:r>
              <a:rPr lang="en-US" sz="1693" dirty="0">
                <a:solidFill>
                  <a:srgbClr val="646973"/>
                </a:solidFill>
                <a:latin typeface="Albert Sans" pitchFamily="34" charset="0"/>
                <a:ea typeface="Albert Sans" pitchFamily="34" charset="-122"/>
                <a:cs typeface="Albert Sans" pitchFamily="34" charset="-120"/>
              </a:rPr>
              <a:t>Tasks · language · access</a:t>
            </a:r>
            <a:endParaRPr lang="en-US" sz="1693" dirty="0"/>
          </a:p>
        </p:txBody>
      </p:sp>
      <p:sp>
        <p:nvSpPr>
          <p:cNvPr id="12" name="Editable text 10: Your evidence"/>
          <p:cNvSpPr/>
          <p:nvPr/>
        </p:nvSpPr>
        <p:spPr>
          <a:xfrm>
            <a:off x="6647855" y="4433735"/>
            <a:ext cx="2256472" cy="470459"/>
          </a:xfrm>
          <a:prstGeom prst="rect">
            <a:avLst/>
          </a:prstGeom>
          <a:noFill/>
          <a:ln/>
        </p:spPr>
        <p:txBody>
          <a:bodyPr wrap="none" lIns="0" tIns="0" rIns="0" bIns="0" rtlCol="0" anchor="t"/>
          <a:lstStyle/>
          <a:p>
            <a:pPr algn="l" indent="0" marL="0">
              <a:buNone/>
            </a:pPr>
            <a:r>
              <a:rPr lang="en-US" sz="2646" spc="-93" kern="0" dirty="0">
                <a:solidFill>
                  <a:srgbClr val="17191E"/>
                </a:solidFill>
                <a:latin typeface="Albert Sans Medium" pitchFamily="34" charset="0"/>
                <a:ea typeface="Albert Sans Medium" pitchFamily="34" charset="-122"/>
                <a:cs typeface="Albert Sans Medium" pitchFamily="34" charset="-120"/>
              </a:rPr>
              <a:t>Your evidence</a:t>
            </a:r>
            <a:endParaRPr lang="en-US" sz="2646" dirty="0"/>
          </a:p>
        </p:txBody>
      </p:sp>
      <p:sp>
        <p:nvSpPr>
          <p:cNvPr id="13" name="Editable text 11: Data · geography · rules"/>
          <p:cNvSpPr/>
          <p:nvPr/>
        </p:nvSpPr>
        <p:spPr>
          <a:xfrm>
            <a:off x="6647855" y="4910695"/>
            <a:ext cx="2445296" cy="300971"/>
          </a:xfrm>
          <a:prstGeom prst="rect">
            <a:avLst/>
          </a:prstGeom>
          <a:noFill/>
          <a:ln/>
        </p:spPr>
        <p:txBody>
          <a:bodyPr wrap="none" lIns="0" tIns="0" rIns="0" bIns="0" rtlCol="0" anchor="t"/>
          <a:lstStyle/>
          <a:p>
            <a:pPr algn="l" indent="0" marL="0">
              <a:buNone/>
            </a:pPr>
            <a:r>
              <a:rPr lang="en-US" sz="1693" dirty="0">
                <a:solidFill>
                  <a:srgbClr val="646973"/>
                </a:solidFill>
                <a:latin typeface="Albert Sans" pitchFamily="34" charset="0"/>
                <a:ea typeface="Albert Sans" pitchFamily="34" charset="-122"/>
                <a:cs typeface="Albert Sans" pitchFamily="34" charset="-120"/>
              </a:rPr>
              <a:t>Data · geography · rules</a:t>
            </a:r>
            <a:endParaRPr lang="en-US" sz="1693" dirty="0"/>
          </a:p>
        </p:txBody>
      </p:sp>
      <p:sp>
        <p:nvSpPr>
          <p:cNvPr id="14" name="Editable text 12: Your operation"/>
          <p:cNvSpPr/>
          <p:nvPr/>
        </p:nvSpPr>
        <p:spPr>
          <a:xfrm>
            <a:off x="11240393" y="4281335"/>
            <a:ext cx="2317938" cy="470459"/>
          </a:xfrm>
          <a:prstGeom prst="rect">
            <a:avLst/>
          </a:prstGeom>
          <a:noFill/>
          <a:ln/>
        </p:spPr>
        <p:txBody>
          <a:bodyPr wrap="none" lIns="0" tIns="0" rIns="0" bIns="0" rtlCol="0" anchor="t"/>
          <a:lstStyle/>
          <a:p>
            <a:pPr algn="l" indent="0" marL="0">
              <a:buNone/>
            </a:pPr>
            <a:r>
              <a:rPr lang="en-US" sz="2646" spc="-93" kern="0" dirty="0">
                <a:solidFill>
                  <a:srgbClr val="17191E"/>
                </a:solidFill>
                <a:latin typeface="Albert Sans Medium" pitchFamily="34" charset="0"/>
                <a:ea typeface="Albert Sans Medium" pitchFamily="34" charset="-122"/>
                <a:cs typeface="Albert Sans Medium" pitchFamily="34" charset="-120"/>
              </a:rPr>
              <a:t>Your operation</a:t>
            </a:r>
            <a:endParaRPr lang="en-US" sz="2646" dirty="0"/>
          </a:p>
        </p:txBody>
      </p:sp>
      <p:sp>
        <p:nvSpPr>
          <p:cNvPr id="15" name="Editable text 13: Workflow · ownership ·"/>
          <p:cNvSpPr/>
          <p:nvPr/>
        </p:nvSpPr>
        <p:spPr>
          <a:xfrm>
            <a:off x="11240393" y="4758295"/>
            <a:ext cx="2330511" cy="300971"/>
          </a:xfrm>
          <a:prstGeom prst="rect">
            <a:avLst/>
          </a:prstGeom>
          <a:noFill/>
          <a:ln/>
        </p:spPr>
        <p:txBody>
          <a:bodyPr wrap="none" lIns="0" tIns="0" rIns="0" bIns="0" rtlCol="0" anchor="t"/>
          <a:lstStyle/>
          <a:p>
            <a:pPr algn="l" indent="0" marL="0">
              <a:buNone/>
            </a:pPr>
            <a:r>
              <a:rPr lang="en-US" sz="1693" dirty="0">
                <a:solidFill>
                  <a:srgbClr val="646973"/>
                </a:solidFill>
                <a:latin typeface="Albert Sans" pitchFamily="34" charset="0"/>
                <a:ea typeface="Albert Sans" pitchFamily="34" charset="-122"/>
                <a:cs typeface="Albert Sans" pitchFamily="34" charset="-120"/>
              </a:rPr>
              <a:t>Workflow · ownership ·</a:t>
            </a:r>
            <a:endParaRPr lang="en-US" sz="1693" dirty="0"/>
          </a:p>
        </p:txBody>
      </p:sp>
      <p:sp>
        <p:nvSpPr>
          <p:cNvPr id="16" name="Editable text 14: updates"/>
          <p:cNvSpPr/>
          <p:nvPr/>
        </p:nvSpPr>
        <p:spPr>
          <a:xfrm>
            <a:off x="11240393" y="5063095"/>
            <a:ext cx="911927" cy="300971"/>
          </a:xfrm>
          <a:prstGeom prst="rect">
            <a:avLst/>
          </a:prstGeom>
          <a:noFill/>
          <a:ln/>
        </p:spPr>
        <p:txBody>
          <a:bodyPr wrap="none" lIns="0" tIns="0" rIns="0" bIns="0" rtlCol="0" anchor="t"/>
          <a:lstStyle/>
          <a:p>
            <a:pPr algn="l" indent="0" marL="0">
              <a:buNone/>
            </a:pPr>
            <a:r>
              <a:rPr lang="en-US" sz="1693" dirty="0">
                <a:solidFill>
                  <a:srgbClr val="646973"/>
                </a:solidFill>
                <a:latin typeface="Albert Sans" pitchFamily="34" charset="0"/>
                <a:ea typeface="Albert Sans" pitchFamily="34" charset="-122"/>
                <a:cs typeface="Albert Sans" pitchFamily="34" charset="-120"/>
              </a:rPr>
              <a:t>updates</a:t>
            </a:r>
            <a:endParaRPr lang="en-US" sz="1693" dirty="0"/>
          </a:p>
        </p:txBody>
      </p:sp>
      <p:sp>
        <p:nvSpPr>
          <p:cNvPr id="17" name="Editable text 15: Customized by experts for public agencies, nonprofits, "/>
          <p:cNvSpPr/>
          <p:nvPr/>
        </p:nvSpPr>
        <p:spPr>
          <a:xfrm>
            <a:off x="594271" y="6053695"/>
            <a:ext cx="8479024" cy="300971"/>
          </a:xfrm>
          <a:prstGeom prst="rect">
            <a:avLst/>
          </a:prstGeom>
          <a:noFill/>
          <a:ln/>
        </p:spPr>
        <p:txBody>
          <a:bodyPr wrap="none" lIns="0" tIns="0" rIns="0" bIns="0" rtlCol="0" anchor="t"/>
          <a:lstStyle/>
          <a:p>
            <a:pPr algn="l" indent="0" marL="0">
              <a:buNone/>
            </a:pPr>
            <a:r>
              <a:rPr lang="en-US" sz="1693" dirty="0">
                <a:solidFill>
                  <a:srgbClr val="646973"/>
                </a:solidFill>
                <a:latin typeface="Albert Sans" pitchFamily="34" charset="0"/>
                <a:ea typeface="Albert Sans" pitchFamily="34" charset="-122"/>
                <a:cs typeface="Albert Sans" pitchFamily="34" charset="-120"/>
              </a:rPr>
              <a:t>Customized by experts for public agencies, nonprofits, and mission-driven networks.</a:t>
            </a:r>
            <a:endParaRPr lang="en-US" sz="1693" dirty="0"/>
          </a:p>
        </p:txBody>
      </p:sp>
      <p:sp>
        <p:nvSpPr>
          <p:cNvPr id="18" name="Editable text 16: Expertise × Customization × Quality"/>
          <p:cNvSpPr/>
          <p:nvPr/>
        </p:nvSpPr>
        <p:spPr>
          <a:xfrm>
            <a:off x="594271" y="7688980"/>
            <a:ext cx="284553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Expertise × Customization × Quality</a:t>
            </a:r>
            <a:endParaRPr lang="en-US" sz="1323" dirty="0"/>
          </a:p>
        </p:txBody>
      </p:sp>
      <p:sp>
        <p:nvSpPr>
          <p:cNvPr id="19" name="Editable text 17: 09 / 10"/>
          <p:cNvSpPr/>
          <p:nvPr/>
        </p:nvSpPr>
        <p:spPr>
          <a:xfrm>
            <a:off x="13525202" y="7688980"/>
            <a:ext cx="603311"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09 / 10</a:t>
            </a:r>
            <a:endParaRPr lang="en-US" sz="1323" dirty="0"/>
          </a:p>
        </p:txBody>
      </p:sp>
      <p:sp>
        <p:nvSpPr>
          <p:cNvPr id="20" name="Editable text 18: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Let’s build"/>
          <p:cNvSpPr/>
          <p:nvPr/>
        </p:nvSpPr>
        <p:spPr>
          <a:xfrm>
            <a:off x="594271" y="1303996"/>
            <a:ext cx="956464"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Let’s build</a:t>
            </a:r>
            <a:endParaRPr lang="en-US" sz="1429" dirty="0"/>
          </a:p>
        </p:txBody>
      </p:sp>
      <p:sp>
        <p:nvSpPr>
          <p:cNvPr id="6" name="Editable text 4: Custom"/>
          <p:cNvSpPr/>
          <p:nvPr/>
        </p:nvSpPr>
        <p:spPr>
          <a:xfrm>
            <a:off x="594271" y="1636757"/>
            <a:ext cx="3579114" cy="1279627"/>
          </a:xfrm>
          <a:prstGeom prst="rect">
            <a:avLst/>
          </a:prstGeom>
          <a:noFill/>
          <a:ln/>
        </p:spPr>
        <p:txBody>
          <a:bodyPr wrap="none" lIns="0" tIns="0" rIns="0" bIns="0" rtlCol="0" anchor="t"/>
          <a:lstStyle/>
          <a:p>
            <a:pPr algn="l" indent="0" marL="0">
              <a:buNone/>
            </a:pPr>
            <a:r>
              <a:rPr lang="en-US" sz="7197" spc="-396" kern="0" dirty="0">
                <a:solidFill>
                  <a:srgbClr val="17191E"/>
                </a:solidFill>
                <a:latin typeface="Albert Sans Medium" pitchFamily="34" charset="0"/>
                <a:ea typeface="Albert Sans Medium" pitchFamily="34" charset="-122"/>
                <a:cs typeface="Albert Sans Medium" pitchFamily="34" charset="-120"/>
              </a:rPr>
              <a:t>Custom</a:t>
            </a:r>
            <a:endParaRPr lang="en-US" sz="7197" dirty="0"/>
          </a:p>
        </p:txBody>
      </p:sp>
      <p:sp>
        <p:nvSpPr>
          <p:cNvPr id="7" name="Editable text 5: products."/>
          <p:cNvSpPr/>
          <p:nvPr/>
        </p:nvSpPr>
        <p:spPr>
          <a:xfrm>
            <a:off x="594271" y="2560682"/>
            <a:ext cx="4059694" cy="1279627"/>
          </a:xfrm>
          <a:prstGeom prst="rect">
            <a:avLst/>
          </a:prstGeom>
          <a:noFill/>
          <a:ln/>
        </p:spPr>
        <p:txBody>
          <a:bodyPr wrap="none" lIns="0" tIns="0" rIns="0" bIns="0" rtlCol="0" anchor="t"/>
          <a:lstStyle/>
          <a:p>
            <a:pPr algn="l" indent="0" marL="0">
              <a:buNone/>
            </a:pPr>
            <a:r>
              <a:rPr lang="en-US" sz="7197" spc="-396" kern="0" dirty="0">
                <a:solidFill>
                  <a:srgbClr val="17191E"/>
                </a:solidFill>
                <a:latin typeface="Albert Sans Medium" pitchFamily="34" charset="0"/>
                <a:ea typeface="Albert Sans Medium" pitchFamily="34" charset="-122"/>
                <a:cs typeface="Albert Sans Medium" pitchFamily="34" charset="-120"/>
              </a:rPr>
              <a:t>products.</a:t>
            </a:r>
            <a:endParaRPr lang="en-US" sz="7197" dirty="0"/>
          </a:p>
        </p:txBody>
      </p:sp>
      <p:sp>
        <p:nvSpPr>
          <p:cNvPr id="8" name="Editable text 6: Expertly built."/>
          <p:cNvSpPr/>
          <p:nvPr/>
        </p:nvSpPr>
        <p:spPr>
          <a:xfrm>
            <a:off x="594271" y="3494132"/>
            <a:ext cx="5573276" cy="1279627"/>
          </a:xfrm>
          <a:prstGeom prst="rect">
            <a:avLst/>
          </a:prstGeom>
          <a:noFill/>
          <a:ln/>
        </p:spPr>
        <p:txBody>
          <a:bodyPr wrap="none" lIns="0" tIns="0" rIns="0" bIns="0" rtlCol="0" anchor="t"/>
          <a:lstStyle/>
          <a:p>
            <a:pPr algn="l" indent="0" marL="0">
              <a:buNone/>
            </a:pPr>
            <a:r>
              <a:rPr lang="en-US" sz="7197" spc="-396" kern="0" dirty="0">
                <a:solidFill>
                  <a:srgbClr val="3C4ED6"/>
                </a:solidFill>
                <a:latin typeface="Albert Sans Medium" pitchFamily="34" charset="0"/>
                <a:ea typeface="Albert Sans Medium" pitchFamily="34" charset="-122"/>
                <a:cs typeface="Albert Sans Medium" pitchFamily="34" charset="-120"/>
              </a:rPr>
              <a:t>Expertly built.</a:t>
            </a:r>
            <a:endParaRPr lang="en-US" sz="7197" dirty="0"/>
          </a:p>
        </p:txBody>
      </p:sp>
      <p:sp>
        <p:nvSpPr>
          <p:cNvPr id="9" name="Editable text 7: What should your expertise"/>
          <p:cNvSpPr/>
          <p:nvPr/>
        </p:nvSpPr>
        <p:spPr>
          <a:xfrm>
            <a:off x="594271" y="4700083"/>
            <a:ext cx="5113338" cy="583273"/>
          </a:xfrm>
          <a:prstGeom prst="rect">
            <a:avLst/>
          </a:prstGeom>
          <a:noFill/>
          <a:ln/>
        </p:spPr>
        <p:txBody>
          <a:bodyPr wrap="none" lIns="0" tIns="0" rIns="0" bIns="0" rtlCol="0" anchor="t"/>
          <a:lstStyle/>
          <a:p>
            <a:pPr algn="l" indent="0" marL="0">
              <a:buNone/>
            </a:pPr>
            <a:r>
              <a:rPr lang="en-US" sz="3281" spc="-115" kern="0" dirty="0">
                <a:solidFill>
                  <a:srgbClr val="17191E"/>
                </a:solidFill>
                <a:latin typeface="Albert Sans Medium" pitchFamily="34" charset="0"/>
                <a:ea typeface="Albert Sans Medium" pitchFamily="34" charset="-122"/>
                <a:cs typeface="Albert Sans Medium" pitchFamily="34" charset="-120"/>
              </a:rPr>
              <a:t>What should your expertise</a:t>
            </a:r>
            <a:endParaRPr lang="en-US" sz="3281" dirty="0"/>
          </a:p>
        </p:txBody>
      </p:sp>
      <p:sp>
        <p:nvSpPr>
          <p:cNvPr id="10" name="Editable text 8: make possible?"/>
          <p:cNvSpPr/>
          <p:nvPr/>
        </p:nvSpPr>
        <p:spPr>
          <a:xfrm>
            <a:off x="594271" y="5185858"/>
            <a:ext cx="3014038" cy="583273"/>
          </a:xfrm>
          <a:prstGeom prst="rect">
            <a:avLst/>
          </a:prstGeom>
          <a:noFill/>
          <a:ln/>
        </p:spPr>
        <p:txBody>
          <a:bodyPr wrap="none" lIns="0" tIns="0" rIns="0" bIns="0" rtlCol="0" anchor="t"/>
          <a:lstStyle/>
          <a:p>
            <a:pPr algn="l" indent="0" marL="0">
              <a:buNone/>
            </a:pPr>
            <a:r>
              <a:rPr lang="en-US" sz="3281" spc="-115" kern="0" dirty="0">
                <a:solidFill>
                  <a:srgbClr val="17191E"/>
                </a:solidFill>
                <a:latin typeface="Albert Sans Medium" pitchFamily="34" charset="0"/>
                <a:ea typeface="Albert Sans Medium" pitchFamily="34" charset="-122"/>
                <a:cs typeface="Albert Sans Medium" pitchFamily="34" charset="-120"/>
              </a:rPr>
              <a:t>make possible?</a:t>
            </a:r>
            <a:endParaRPr lang="en-US" sz="3281" dirty="0"/>
          </a:p>
        </p:txBody>
      </p:sp>
      <p:sp>
        <p:nvSpPr>
          <p:cNvPr id="11" name="Editable text 9: Bring a user need and a decision. Together, we scope"/>
          <p:cNvSpPr/>
          <p:nvPr/>
        </p:nvSpPr>
        <p:spPr>
          <a:xfrm>
            <a:off x="594271" y="5904528"/>
            <a:ext cx="5056824" cy="282169"/>
          </a:xfrm>
          <a:prstGeom prst="rect">
            <a:avLst/>
          </a:prstGeom>
          <a:noFill/>
          <a:ln/>
        </p:spPr>
        <p:txBody>
          <a:bodyPr wrap="none" lIns="0" tIns="0" rIns="0" bIns="0" rtlCol="0" anchor="t"/>
          <a:lstStyle/>
          <a:p>
            <a:pPr algn="l" indent="0" marL="0">
              <a:buNone/>
            </a:pPr>
            <a:r>
              <a:rPr lang="en-US" sz="1587" dirty="0">
                <a:solidFill>
                  <a:srgbClr val="646973"/>
                </a:solidFill>
                <a:latin typeface="Albert Sans" pitchFamily="34" charset="0"/>
                <a:ea typeface="Albert Sans" pitchFamily="34" charset="-122"/>
                <a:cs typeface="Albert Sans" pitchFamily="34" charset="-120"/>
              </a:rPr>
              <a:t>Bring a user need and a decision. Together, we scope</a:t>
            </a:r>
            <a:endParaRPr lang="en-US" sz="1587" dirty="0"/>
          </a:p>
        </p:txBody>
      </p:sp>
      <p:sp>
        <p:nvSpPr>
          <p:cNvPr id="12" name="Editable text 10: the data, product, and quality criteria."/>
          <p:cNvSpPr/>
          <p:nvPr/>
        </p:nvSpPr>
        <p:spPr>
          <a:xfrm>
            <a:off x="594271" y="6209328"/>
            <a:ext cx="3585362" cy="282169"/>
          </a:xfrm>
          <a:prstGeom prst="rect">
            <a:avLst/>
          </a:prstGeom>
          <a:noFill/>
          <a:ln/>
        </p:spPr>
        <p:txBody>
          <a:bodyPr wrap="none" lIns="0" tIns="0" rIns="0" bIns="0" rtlCol="0" anchor="t"/>
          <a:lstStyle/>
          <a:p>
            <a:pPr algn="l" indent="0" marL="0">
              <a:buNone/>
            </a:pPr>
            <a:r>
              <a:rPr lang="en-US" sz="1587" dirty="0">
                <a:solidFill>
                  <a:srgbClr val="646973"/>
                </a:solidFill>
                <a:latin typeface="Albert Sans" pitchFamily="34" charset="0"/>
                <a:ea typeface="Albert Sans" pitchFamily="34" charset="-122"/>
                <a:cs typeface="Albert Sans" pitchFamily="34" charset="-120"/>
              </a:rPr>
              <a:t>the data, product, and quality criteria.</a:t>
            </a:r>
            <a:endParaRPr lang="en-US" sz="1587" dirty="0"/>
          </a:p>
        </p:txBody>
      </p:sp>
      <p:sp>
        <p:nvSpPr>
          <p:cNvPr id="13" name="Editable text 11: Get this customized by experts for your need."/>
          <p:cNvSpPr/>
          <p:nvPr/>
        </p:nvSpPr>
        <p:spPr>
          <a:xfrm>
            <a:off x="1104900" y="6720488"/>
            <a:ext cx="4184323" cy="272834"/>
          </a:xfrm>
          <a:prstGeom prst="rect">
            <a:avLst/>
          </a:prstGeom>
          <a:noFill/>
          <a:ln/>
        </p:spPr>
        <p:txBody>
          <a:bodyPr wrap="none" lIns="0" tIns="0" rIns="0" bIns="0" rtlCol="0" anchor="t"/>
          <a:lstStyle/>
          <a:p>
            <a:pPr algn="l" indent="0" marL="0">
              <a:buNone/>
            </a:pPr>
            <a:r>
              <a:rPr lang="en-US" sz="1534" dirty="0">
                <a:solidFill>
                  <a:srgbClr val="3C4ED6"/>
                </a:solidFill>
                <a:latin typeface="Albert Sans" pitchFamily="34" charset="0"/>
                <a:ea typeface="Albert Sans" pitchFamily="34" charset="-122"/>
                <a:cs typeface="Albert Sans" pitchFamily="34" charset="-120"/>
              </a:rPr>
              <a:t>Get this customized by experts for your need.</a:t>
            </a:r>
            <a:endParaRPr lang="en-US" sz="1534" dirty="0"/>
          </a:p>
        </p:txBody>
      </p:sp>
      <p:sp>
        <p:nvSpPr>
          <p:cNvPr id="14" name="Editable text 12: Explore the chatbot"/>
          <p:cNvSpPr/>
          <p:nvPr/>
        </p:nvSpPr>
        <p:spPr>
          <a:xfrm>
            <a:off x="594271" y="7688980"/>
            <a:ext cx="1605383"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Explore the chatbot</a:t>
            </a:r>
            <a:endParaRPr lang="en-US" sz="1323" dirty="0"/>
          </a:p>
        </p:txBody>
      </p:sp>
      <p:sp>
        <p:nvSpPr>
          <p:cNvPr id="15" name="Editable text 13: 10 / 10"/>
          <p:cNvSpPr/>
          <p:nvPr/>
        </p:nvSpPr>
        <p:spPr>
          <a:xfrm>
            <a:off x="13574464" y="7688980"/>
            <a:ext cx="55404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10 / 10</a:t>
            </a:r>
            <a:endParaRPr lang="en-US" sz="1323" dirty="0"/>
          </a:p>
        </p:txBody>
      </p:sp>
      <p:sp>
        <p:nvSpPr>
          <p:cNvPr id="16" name="Editable text 14: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bert Sans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ber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HR&amp;A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HR&amp;A Tech &amp; Society Studio</dc:title>
  <dc:subject>Editable text edition with original layout and embedded fonts</dc:subject>
  <dc:creator>HR&amp;A Tech &amp; Society Studio</dc:creator>
  <cp:lastModifiedBy>HR&amp;A Tech &amp; Society Studio</cp:lastModifiedBy>
  <cp:revision>2</cp:revision>
  <dcterms:created xsi:type="dcterms:W3CDTF">2026-09-21T19:33:22Z</dcterms:created>
  <dcterms:modified xsi:type="dcterms:W3CDTF">2026-09-21T19:33:22Z</dcterms:modified>
</cp:coreProperties>
</file>